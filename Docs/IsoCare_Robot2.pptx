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43167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idea in one sentence: IsoCare is a robot that does the routine rounds in an isolation ward. It measures vitals and hands out the doctor’s medication, so nurses only go in when they’re really needed.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time a nurse enters an isolation room, they have to put on and take off protective gear. Taking it off alone is reported to take 14 to 23 minutes, and it’s where most mistakes happen: one COVID-19 ward study found a 12.7% error rate. A 2024 survey found nurses think robots help most with measurements and deliveries. That’s IsoCare: a mobile medicine cabinet that drives to each bed, confirms the patient, measures heart rate, oxygen and temperature, and gives the doctor’s prescribed drugs only when it’s safe. It never prescribes and doesn’t replace nurses. Sources: Israel Journal of Health Policy Research 2021, doi 10.1186/s13584-021-00477-7; PubMed Central PMC7468685 (2020); Lee et al., Nursing Open 2024, doi 10.1002/nop2.2175.</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Quickly walk through one round: the nurse loads the drawers, the robot drives to the bed, confirms the patient, measures the vitals, checks the doctor’s rules, and then either dispenses or alerts the nurse. Then hand over: we present the robot bottom-up, starting with the hardware, then ROS 2, then the AI, and finally the software and the doctor’s app.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sensors and motors from our bill of materials. Vitals: the MAX30102 measures heart rate and oxygen in a dark finger chamber, the MLX90614 reads forehead temperature without touching, and the MAX30205 contact sensor cross-checks it. Navigation: two ultrasonic sensors at the front, two laser time-of-flight sensors for the sides and low obstacles, an IMU for heading, and the Hall encoders built into the motors for wheel speed. Other sensors: limit switches confirm each drawer was opened, the INA219 monitors the battery and spots a stalled motor from a current spike, and a USB webcam feeds the AI. Motors: two 12 V geared motors with encoders, each with its own DRV8871 driver, and four metal-gear MG90S servos for the three drawer locks and the finger-slot lid. We chose metal-gear servos because cheap plastic ones are too weak for locks. That is well beyond the course minimum of three sensors, motors, a microcontroller and a camera. If asked how the data is read: most sensors share the ESP32’s I2C bus; the two laser sensors start with the same address, so their XSHUT pins give each a new one at start-up; the ultrasonic sensors fire one at a time so they don’t hear each other; and the heart-rate signal is sampled at 100 Hz, filtered, and its peaks counted.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ROS 2 is the middleware that connects everything. Each job is a small program called a node, and nodes talk by publishing and subscribing to named topics with standard message types. That means each team member’s code is its own node, and they plug together through agreed topics. The Raspberry Pi runs ROS 2 Jazzy, the long-term-support release. The ESP32 is not a ROS node: it runs our own firmware, and a serial_bridge node on the Pi talks to it over USB using a framed serial protocol we defined. Walk through the table: the navigator sends speed commands to serial_bridge, which forwards them to the ESP32. The ESP32 sends back raw wheel ticks, gyro, distances and vitals, which serial_bridge publishes, and the odometry node turns the sensor data into a position. The decision engine calls a service to unlock a drawer. Safety point: the ESP32 protects itself. If speed commands stop arriving for half a second it stops the motors, and it slows at 40 centimetres and stops at 15 centimetres on its own, without the Pi.</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not use a full navigation stack. First, we draw the ward as a graph: each marker is a node, the distance between neighbouring markers is an edge, and we measure each marker’s position with a tape. Second, the Pi estimates where the robot is from the wheel ticks and the gyro; that estimate drifts, so every time the camera sees a marker we reset the position and heading. Third, Dijkstra’s shortest-path algorithm picks the list of markers to visit, and the navigator drives one leg at a time, steering on the marker when it can see it and dead reckoning when it cannot, at 0.3 metres per second or less, sending speed commands. Fourth, at the bed the robot lines up on the marker, YOLO confirms the bed or person, and the distance sensors set the stopping distance. The ESP32 handles obstacles itself. If the path is blocked, the robot waits, retries, then calls the nurse. If it loses every marker, it stops and alerts. Mention the data acquisition link: rosbag2 records every sensor topic with timestamps, which we use for testing and for the graphs in our report.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has two jobs: perception, on this slide, and decisions, on the next. YOLOv8n is the smallest YOLOv8 model, chosen so it runs on the Raspberry Pi. It comes pretrained on the COCO dataset, which already includes people, beds and chairs, and we fine-tune it on our own photos to add things like medicine carts. Bed markers are read with OpenCV’s ArUco module, which gives the bed number plus distance and angle. The patient check uses two factors: the wristband QR code and a face match. The voice model only listens for a few keywords and runs offline. Everything stays on the robot, and the results are published as ROS 2 topics for navigation and the decision engine.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of the project and the answer to “isn’t it dangerous for an AI to give drugs?”. The AI never chooses a drug. The doctor prescribes and sets the conditions, exactly like the as-needed orders hospitals already use. The robot measures the vitals and decides whether the condition is met, whether it’s safe, or whether to stop and call a human. NEWS2 is a real clinical early-warning score; we use a simplified version with the three vitals we measure, and compare each reading with that patient’s own previous readings to spot deterioration.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doctor’s app lets a doctor check on a patient without entering the isolation room. The doctor picks a bed, the robot drives there, and the doctor sees and talks to the patient through the robot’s camera, screen, mic and speaker. The app shows the latest vitals and their trend. When one of the doctor’s rules is met, like a fever above 38 °C, the robot asks for approval, and the doctor taps Approve or Hold, so a human stays in charge of every as-needed dose. Mention privacy: the robot announces the doctor and lights an LED whenever the camera is live, only logged-in doctors can connect, and calls are not recorded by default.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how data gets from the robot to people. The robot’s nodes publish vitals, decisions and alerts as ROS 2 topics. Our app_bridge node, written in Python, listens to those topics and syncs them to Firebase, which stores the data and sends push notifications to the doctor’s phone. The app is built in Flutter, so one code base runs on both Android and iPhone. Live video doesn’t go through Firebase; it uses WebRTC, straight from the robot to the phone. The other screens: the nurse uses a touchscreen page served by the Pi to set up each round, and the patient hears spoken guidance and sees their readings. Every visit is saved on the robot in a SQLite database and can be exported as CSV, which also gives us the data for our report.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wrap-up before questions. Our plan runs week by week from week 5, starting Monday October 19, to week 12. Week 5: we finish the design, order the parts and agree the ROS 2 topics. Weeks 6 to 8 we build: first the chassis, drive motors and vitals sensors, then the obstacle stop and the vision models, then the drawers, the decision engine and the app. Week 9 we link everything over ROS 2. Our key milestone is in week 10: one full bed visit with no human help. Week 11 is testing, and week 12 is the final demo and report. Testing: we compare our vitals with commercial devices and test navigation; the safety tests must pass every time. Product: hospitals already used robots in isolation wards during COVID-19, like the remotely driven SISTER robot in Nepal; IsoCare goes further by driving itself, measuring vitals and deciding safely.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one-sentence summary and open the floor. Likely questions: what happens if the robot gets it wrong (the doctor’s limits, the patient check and the alerts), how it handles doors (it stays inside one ward), and why not just use a camera for temperature (accuracy and cost).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E7EEE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61"/>
            <a:ext cx="10566400" cy="447040"/>
          </a:xfrm>
          <a:prstGeom prst="rect">
            <a:avLst/>
          </a:prstGeom>
          <a:noFill/>
          <a:ln/>
        </p:spPr>
        <p:txBody>
          <a:bodyPr wrap="square" lIns="0" tIns="0" rIns="0" bIns="0" rtlCol="0" anchor="t"/>
          <a:lstStyle>
            <a:lvl1pPr marL="0" indent="0" algn="l">
              <a:lnSpc>
                <a:spcPct val="115000"/>
              </a:lnSpc>
              <a:buNone/>
              <a:defRPr lang="en-US" sz="3200" dirty="0">
                <a:solidFill>
                  <a:srgbClr val="0E2A33"/>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79601"/>
            <a:ext cx="10566400" cy="4165599"/>
          </a:xfrm>
          <a:prstGeom prst="rect">
            <a:avLst/>
          </a:prstGeom>
          <a:noFill/>
          <a:ln/>
        </p:spPr>
        <p:txBody>
          <a:bodyPr wrap="square" lIns="0" tIns="0" rIns="0" bIns="0" rtlCol="0" anchor="t"/>
          <a:lstStyle>
            <a:lvl1pPr marL="0" indent="0" algn="l">
              <a:lnSpc>
                <a:spcPct val="140000"/>
              </a:lnSpc>
              <a:buNone/>
              <a:defRPr lang="en-US" sz="1600" dirty="0">
                <a:solidFill>
                  <a:srgbClr val="0E2A33"/>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7EEE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61"/>
            <a:ext cx="10566400" cy="447040"/>
          </a:xfrm>
          <a:prstGeom prst="rect">
            <a:avLst/>
          </a:prstGeom>
          <a:noFill/>
          <a:ln/>
        </p:spPr>
        <p:txBody>
          <a:bodyPr wrap="square" lIns="0" tIns="0" rIns="0" bIns="0" rtlCol="0" anchor="t"/>
          <a:lstStyle>
            <a:lvl1pPr marL="0" indent="0" algn="l">
              <a:lnSpc>
                <a:spcPct val="115000"/>
              </a:lnSpc>
              <a:buNone/>
              <a:defRPr lang="en-US" sz="3200" dirty="0">
                <a:solidFill>
                  <a:srgbClr val="0E2A33"/>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79601"/>
            <a:ext cx="10566400" cy="4165599"/>
          </a:xfrm>
          <a:prstGeom prst="rect">
            <a:avLst/>
          </a:prstGeom>
          <a:noFill/>
          <a:ln/>
        </p:spPr>
        <p:txBody>
          <a:bodyPr wrap="square" lIns="0" tIns="0" rIns="0" bIns="0" rtlCol="0" anchor="t"/>
          <a:lstStyle>
            <a:lvl1pPr marL="0" indent="0" algn="l">
              <a:lnSpc>
                <a:spcPct val="140000"/>
              </a:lnSpc>
              <a:buNone/>
              <a:defRPr lang="en-US" sz="1600" dirty="0">
                <a:solidFill>
                  <a:srgbClr val="0E2A33"/>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33"/>
        </a:solidFill>
        <a:effectLst/>
      </p:bgPr>
    </p:bg>
    <p:spTree>
      <p:nvGrpSpPr>
        <p:cNvPr id="1" name=""/>
        <p:cNvGrpSpPr/>
        <p:nvPr/>
      </p:nvGrpSpPr>
      <p:grpSpPr>
        <a:xfrm>
          <a:off x="0" y="0"/>
          <a:ext cx="0" cy="0"/>
          <a:chOff x="0" y="0"/>
          <a:chExt cx="0" cy="0"/>
        </a:xfrm>
      </p:grpSpPr>
      <p:sp>
        <p:nvSpPr>
          <p:cNvPr id="2" name="Text 0"/>
          <p:cNvSpPr/>
          <p:nvPr/>
        </p:nvSpPr>
        <p:spPr>
          <a:xfrm>
            <a:off x="812800" y="812800"/>
            <a:ext cx="7063740"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3FC1B0"/>
                </a:solidFill>
                <a:latin typeface="JetBrains Mono" pitchFamily="49" charset="0"/>
                <a:ea typeface="JetBrains Mono" pitchFamily="49" charset="-122"/>
                <a:cs typeface="JetBrains Mono" pitchFamily="49" charset="-120"/>
              </a:rPr>
              <a:t>DATA ACQUISITIONS · PROJECT PROPOSAL</a:t>
            </a:r>
            <a:endParaRPr lang="en-US" sz="1200" dirty="0"/>
          </a:p>
        </p:txBody>
      </p:sp>
      <p:sp>
        <p:nvSpPr>
          <p:cNvPr id="3" name="Text 1"/>
          <p:cNvSpPr>
            <a:spLocks noGrp="1"/>
          </p:cNvSpPr>
          <p:nvPr>
            <p:ph type="title"/>
          </p:nvPr>
        </p:nvSpPr>
        <p:spPr>
          <a:xfrm>
            <a:off x="812800" y="2452370"/>
            <a:ext cx="7063740" cy="772160"/>
          </a:xfrm>
          <a:prstGeom prst="rect">
            <a:avLst/>
          </a:prstGeom>
          <a:noFill/>
          <a:ln/>
        </p:spPr>
        <p:txBody>
          <a:bodyPr wrap="square" lIns="0" tIns="0" rIns="0" bIns="0" rtlCol="0" anchor="t">
            <a:normAutofit/>
          </a:bodyPr>
          <a:lstStyle/>
          <a:p>
            <a:pPr marL="0" indent="0" algn="l">
              <a:lnSpc>
                <a:spcPts val="5880"/>
              </a:lnSpc>
              <a:buNone/>
            </a:pPr>
            <a:r>
              <a:rPr lang="en-US" sz="5600" b="1" i="0" dirty="0">
                <a:solidFill>
                  <a:srgbClr val="F5F7F4"/>
                </a:solidFill>
                <a:latin typeface="Space Grotesk" pitchFamily="34" charset="0"/>
                <a:ea typeface="Space Grotesk" pitchFamily="34" charset="-122"/>
                <a:cs typeface="Space Grotesk" pitchFamily="34" charset="-120"/>
              </a:rPr>
              <a:t>IsoCare</a:t>
            </a:r>
            <a:endParaRPr lang="en-US" sz="5600" dirty="0"/>
          </a:p>
        </p:txBody>
      </p:sp>
      <p:sp>
        <p:nvSpPr>
          <p:cNvPr id="4" name="Text 2"/>
          <p:cNvSpPr/>
          <p:nvPr/>
        </p:nvSpPr>
        <p:spPr>
          <a:xfrm>
            <a:off x="812800" y="3402330"/>
            <a:ext cx="7063740" cy="6858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BFD6D2"/>
                </a:solidFill>
                <a:latin typeface="IBM Plex Sans" pitchFamily="34" charset="0"/>
                <a:ea typeface="IBM Plex Sans" pitchFamily="34" charset="-122"/>
                <a:cs typeface="IBM Plex Sans" pitchFamily="34" charset="-120"/>
              </a:rPr>
              <a:t>An autonomous medication and vitals robot for isolation wards</a:t>
            </a:r>
            <a:endParaRPr lang="en-US" sz="2000" dirty="0"/>
          </a:p>
        </p:txBody>
      </p:sp>
      <p:sp>
        <p:nvSpPr>
          <p:cNvPr id="5" name="Text 3"/>
          <p:cNvSpPr/>
          <p:nvPr/>
        </p:nvSpPr>
        <p:spPr>
          <a:xfrm>
            <a:off x="812800" y="5488940"/>
            <a:ext cx="706374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5F7F4"/>
                </a:solidFill>
                <a:latin typeface="IBM Plex Sans" pitchFamily="34" charset="0"/>
                <a:ea typeface="IBM Plex Sans" pitchFamily="34" charset="-122"/>
                <a:cs typeface="IBM Plex Sans" pitchFamily="34" charset="-120"/>
              </a:rPr>
              <a:t>Youssef Eslam · Ibrahim Tamer · Youssef Hesham · Belal Tamer</a:t>
            </a:r>
            <a:endParaRPr lang="en-US" sz="1500" dirty="0"/>
          </a:p>
        </p:txBody>
      </p:sp>
      <p:sp>
        <p:nvSpPr>
          <p:cNvPr id="6" name="Text 4"/>
          <p:cNvSpPr/>
          <p:nvPr/>
        </p:nvSpPr>
        <p:spPr>
          <a:xfrm>
            <a:off x="812800" y="5831840"/>
            <a:ext cx="70637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8B4"/>
                </a:solidFill>
                <a:latin typeface="IBM Plex Sans" pitchFamily="34" charset="0"/>
                <a:ea typeface="IBM Plex Sans" pitchFamily="34" charset="-122"/>
                <a:cs typeface="IBM Plex Sans" pitchFamily="34" charset="-120"/>
              </a:rPr>
              <a:t>Supervised by Dr. Essam Seddik · Monday, October 19, 2026</a:t>
            </a:r>
            <a:endParaRPr lang="en-US" sz="1200" dirty="0"/>
          </a:p>
        </p:txBody>
      </p:sp>
      <p:pic>
        <p:nvPicPr>
          <p:cNvPr id="7" name="Image 0" descr="Concept drawing of the IsoCare robot: a wheeled cabinet with three locked drawers, a sensor deck, a touchscreen and a camera mast"/>
          <p:cNvPicPr>
            <a:picLocks noChangeAspect="1"/>
          </p:cNvPicPr>
          <p:nvPr/>
        </p:nvPicPr>
        <p:blipFill>
          <a:blip r:embed="rId3"/>
          <a:srcRect/>
          <a:stretch/>
        </p:blipFill>
        <p:spPr>
          <a:xfrm>
            <a:off x="8077200" y="1336675"/>
            <a:ext cx="3302000" cy="41846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C6D67"/>
                </a:solidFill>
                <a:latin typeface="JetBrains Mono" pitchFamily="49" charset="0"/>
                <a:ea typeface="JetBrains Mono" pitchFamily="49" charset="-122"/>
                <a:cs typeface="JetBrains Mono" pitchFamily="49" charset="-120"/>
              </a:rPr>
              <a:t>INTRODUCTION</a:t>
            </a:r>
            <a:endParaRPr lang="en-US" sz="1200" dirty="0"/>
          </a:p>
        </p:txBody>
      </p:sp>
      <p:sp>
        <p:nvSpPr>
          <p:cNvPr id="3" name="Text 1"/>
          <p:cNvSpPr>
            <a:spLocks noGrp="1"/>
          </p:cNvSpPr>
          <p:nvPr>
            <p:ph type="title"/>
          </p:nvPr>
        </p:nvSpPr>
        <p:spPr>
          <a:xfrm>
            <a:off x="812800" y="112776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E2A33"/>
                </a:solidFill>
                <a:latin typeface="Space Grotesk" pitchFamily="34" charset="0"/>
                <a:ea typeface="Space Grotesk" pitchFamily="34" charset="-122"/>
                <a:cs typeface="Space Grotesk" pitchFamily="34" charset="-120"/>
              </a:rPr>
              <a:t>The problem and our solution</a:t>
            </a:r>
            <a:endParaRPr lang="en-US" sz="3200" dirty="0"/>
          </a:p>
        </p:txBody>
      </p:sp>
      <p:sp>
        <p:nvSpPr>
          <p:cNvPr id="4" name="Shape 2"/>
          <p:cNvSpPr/>
          <p:nvPr/>
        </p:nvSpPr>
        <p:spPr>
          <a:xfrm>
            <a:off x="815975" y="1882775"/>
            <a:ext cx="5180330" cy="3872230"/>
          </a:xfrm>
          <a:prstGeom prst="roundRect">
            <a:avLst>
              <a:gd name="adj" fmla="val 3198"/>
            </a:avLst>
          </a:prstGeom>
          <a:solidFill>
            <a:srgbClr val="FCFDFB"/>
          </a:solidFill>
          <a:ln w="6350">
            <a:solidFill>
              <a:srgbClr val="D3DDDA"/>
            </a:solidFill>
            <a:prstDash val="solid"/>
          </a:ln>
        </p:spPr>
        <p:txBody>
          <a:bodyPr/>
          <a:lstStyle/>
          <a:p>
            <a:endParaRPr lang="en-US"/>
          </a:p>
        </p:txBody>
      </p:sp>
      <p:sp>
        <p:nvSpPr>
          <p:cNvPr id="5" name="Text 3"/>
          <p:cNvSpPr/>
          <p:nvPr/>
        </p:nvSpPr>
        <p:spPr>
          <a:xfrm>
            <a:off x="1071880" y="2138680"/>
            <a:ext cx="4808576"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E12"/>
                </a:solidFill>
                <a:latin typeface="JetBrains Mono" pitchFamily="49" charset="0"/>
                <a:ea typeface="JetBrains Mono" pitchFamily="49" charset="-122"/>
                <a:cs typeface="JetBrains Mono" pitchFamily="49" charset="-120"/>
              </a:rPr>
              <a:t>THE PROBLEM</a:t>
            </a:r>
            <a:endParaRPr lang="en-US" sz="1200" dirty="0"/>
          </a:p>
        </p:txBody>
      </p:sp>
      <p:sp>
        <p:nvSpPr>
          <p:cNvPr id="6" name="Text 4"/>
          <p:cNvSpPr/>
          <p:nvPr/>
        </p:nvSpPr>
        <p:spPr>
          <a:xfrm>
            <a:off x="1071880" y="2504440"/>
            <a:ext cx="4808576"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0E2A33"/>
                </a:solidFill>
                <a:latin typeface="IBM Plex Sans" pitchFamily="34" charset="0"/>
                <a:ea typeface="IBM Plex Sans" pitchFamily="34" charset="-122"/>
                <a:cs typeface="IBM Plex Sans" pitchFamily="34" charset="-120"/>
              </a:rPr>
              <a:t>Every time a nurse enters an isolation room, they must put on and take off protective gear. It’s slow, tiring and risky.</a:t>
            </a:r>
            <a:endParaRPr lang="en-US" sz="1500" dirty="0"/>
          </a:p>
        </p:txBody>
      </p:sp>
      <p:sp>
        <p:nvSpPr>
          <p:cNvPr id="7" name="Shape 5"/>
          <p:cNvSpPr/>
          <p:nvPr/>
        </p:nvSpPr>
        <p:spPr>
          <a:xfrm>
            <a:off x="1071880" y="3456940"/>
            <a:ext cx="2283460" cy="1153160"/>
          </a:xfrm>
          <a:prstGeom prst="roundRect">
            <a:avLst>
              <a:gd name="adj" fmla="val 8811"/>
            </a:avLst>
          </a:prstGeom>
          <a:solidFill>
            <a:srgbClr val="E7EEEB"/>
          </a:solidFill>
          <a:ln/>
        </p:spPr>
        <p:txBody>
          <a:bodyPr/>
          <a:lstStyle/>
          <a:p>
            <a:endParaRPr lang="en-US"/>
          </a:p>
        </p:txBody>
      </p:sp>
      <p:sp>
        <p:nvSpPr>
          <p:cNvPr id="8" name="Text 6"/>
          <p:cNvSpPr/>
          <p:nvPr/>
        </p:nvSpPr>
        <p:spPr>
          <a:xfrm>
            <a:off x="1224280" y="3583940"/>
            <a:ext cx="2038020"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0C6D67"/>
                </a:solidFill>
                <a:latin typeface="Space Grotesk" pitchFamily="34" charset="0"/>
                <a:ea typeface="Space Grotesk" pitchFamily="34" charset="-122"/>
                <a:cs typeface="Space Grotesk" pitchFamily="34" charset="-120"/>
              </a:rPr>
              <a:t>14–23</a:t>
            </a:r>
            <a:endParaRPr lang="en-US" sz="3200" dirty="0"/>
          </a:p>
        </p:txBody>
      </p:sp>
      <p:sp>
        <p:nvSpPr>
          <p:cNvPr id="9" name="Text 7"/>
          <p:cNvSpPr/>
          <p:nvPr/>
        </p:nvSpPr>
        <p:spPr>
          <a:xfrm>
            <a:off x="1224280" y="4056380"/>
            <a:ext cx="203802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158"/>
                </a:solidFill>
                <a:latin typeface="IBM Plex Sans" pitchFamily="34" charset="0"/>
                <a:ea typeface="IBM Plex Sans" pitchFamily="34" charset="-122"/>
                <a:cs typeface="IBM Plex Sans" pitchFamily="34" charset="-120"/>
              </a:rPr>
              <a:t>minutes to take the gear off, each time</a:t>
            </a:r>
            <a:endParaRPr lang="en-US" sz="1200" dirty="0"/>
          </a:p>
        </p:txBody>
      </p:sp>
      <p:sp>
        <p:nvSpPr>
          <p:cNvPr id="10" name="Shape 8"/>
          <p:cNvSpPr/>
          <p:nvPr/>
        </p:nvSpPr>
        <p:spPr>
          <a:xfrm>
            <a:off x="3456940" y="3456940"/>
            <a:ext cx="2283460" cy="1153160"/>
          </a:xfrm>
          <a:prstGeom prst="roundRect">
            <a:avLst>
              <a:gd name="adj" fmla="val 8811"/>
            </a:avLst>
          </a:prstGeom>
          <a:solidFill>
            <a:srgbClr val="E7EEEB"/>
          </a:solidFill>
          <a:ln/>
        </p:spPr>
        <p:txBody>
          <a:bodyPr/>
          <a:lstStyle/>
          <a:p>
            <a:endParaRPr lang="en-US"/>
          </a:p>
        </p:txBody>
      </p:sp>
      <p:sp>
        <p:nvSpPr>
          <p:cNvPr id="11" name="Text 9"/>
          <p:cNvSpPr/>
          <p:nvPr/>
        </p:nvSpPr>
        <p:spPr>
          <a:xfrm>
            <a:off x="3609340" y="3583940"/>
            <a:ext cx="2038020"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A84E12"/>
                </a:solidFill>
                <a:latin typeface="Space Grotesk" pitchFamily="34" charset="0"/>
                <a:ea typeface="Space Grotesk" pitchFamily="34" charset="-122"/>
                <a:cs typeface="Space Grotesk" pitchFamily="34" charset="-120"/>
              </a:rPr>
              <a:t>12.7%</a:t>
            </a:r>
            <a:endParaRPr lang="en-US" sz="3200" dirty="0"/>
          </a:p>
        </p:txBody>
      </p:sp>
      <p:sp>
        <p:nvSpPr>
          <p:cNvPr id="12" name="Text 10"/>
          <p:cNvSpPr/>
          <p:nvPr/>
        </p:nvSpPr>
        <p:spPr>
          <a:xfrm>
            <a:off x="3609340" y="4056380"/>
            <a:ext cx="203802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158"/>
                </a:solidFill>
                <a:latin typeface="IBM Plex Sans" pitchFamily="34" charset="0"/>
                <a:ea typeface="IBM Plex Sans" pitchFamily="34" charset="-122"/>
                <a:cs typeface="IBM Plex Sans" pitchFamily="34" charset="-120"/>
              </a:rPr>
              <a:t>error rate when taking it off, in a COVID-19 ward</a:t>
            </a:r>
            <a:endParaRPr lang="en-US" sz="1200" dirty="0"/>
          </a:p>
        </p:txBody>
      </p:sp>
      <p:sp>
        <p:nvSpPr>
          <p:cNvPr id="13" name="Text 11"/>
          <p:cNvSpPr/>
          <p:nvPr/>
        </p:nvSpPr>
        <p:spPr>
          <a:xfrm>
            <a:off x="1071880" y="5072380"/>
            <a:ext cx="4808576"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158"/>
                </a:solidFill>
                <a:latin typeface="IBM Plex Sans" pitchFamily="34" charset="0"/>
                <a:ea typeface="IBM Plex Sans" pitchFamily="34" charset="-122"/>
                <a:cs typeface="IBM Plex Sans" pitchFamily="34" charset="-120"/>
              </a:rPr>
              <a:t>Nurses rate robots most useful for </a:t>
            </a:r>
            <a:r>
              <a:rPr lang="en-US" sz="1200" b="1" dirty="0">
                <a:solidFill>
                  <a:srgbClr val="3E5158"/>
                </a:solidFill>
                <a:latin typeface="IBM Plex Sans" pitchFamily="34" charset="0"/>
                <a:ea typeface="IBM Plex Sans" pitchFamily="34" charset="-122"/>
                <a:cs typeface="IBM Plex Sans" pitchFamily="34" charset="-120"/>
              </a:rPr>
              <a:t>measurements and deliveries</a:t>
            </a:r>
            <a:r>
              <a:rPr lang="en-US" sz="1200" dirty="0">
                <a:solidFill>
                  <a:srgbClr val="3E5158"/>
                </a:solidFill>
                <a:latin typeface="IBM Plex Sans" pitchFamily="34" charset="0"/>
                <a:ea typeface="IBM Plex Sans" pitchFamily="34" charset="-122"/>
                <a:cs typeface="IBM Plex Sans" pitchFamily="34" charset="-120"/>
              </a:rPr>
              <a:t>, exactly the routine work IsoCare takes over.</a:t>
            </a:r>
            <a:endParaRPr lang="en-US" sz="1200" dirty="0"/>
          </a:p>
        </p:txBody>
      </p:sp>
      <p:sp>
        <p:nvSpPr>
          <p:cNvPr id="14" name="Shape 12"/>
          <p:cNvSpPr/>
          <p:nvPr/>
        </p:nvSpPr>
        <p:spPr>
          <a:xfrm>
            <a:off x="6202680" y="1879600"/>
            <a:ext cx="5176520" cy="3878580"/>
          </a:xfrm>
          <a:prstGeom prst="roundRect">
            <a:avLst>
              <a:gd name="adj" fmla="val 3274"/>
            </a:avLst>
          </a:prstGeom>
          <a:solidFill>
            <a:srgbClr val="0E2A33"/>
          </a:solidFill>
          <a:ln/>
        </p:spPr>
        <p:txBody>
          <a:bodyPr/>
          <a:lstStyle/>
          <a:p>
            <a:endParaRPr lang="en-US"/>
          </a:p>
        </p:txBody>
      </p:sp>
      <p:sp>
        <p:nvSpPr>
          <p:cNvPr id="15" name="Text 13"/>
          <p:cNvSpPr/>
          <p:nvPr/>
        </p:nvSpPr>
        <p:spPr>
          <a:xfrm>
            <a:off x="6456680" y="2133600"/>
            <a:ext cx="4808576"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3FC1B0"/>
                </a:solidFill>
                <a:latin typeface="JetBrains Mono" pitchFamily="49" charset="0"/>
                <a:ea typeface="JetBrains Mono" pitchFamily="49" charset="-122"/>
                <a:cs typeface="JetBrains Mono" pitchFamily="49" charset="-120"/>
              </a:rPr>
              <a:t>OUR SOLUTION · ISOCARE</a:t>
            </a:r>
            <a:endParaRPr lang="en-US" sz="1200" dirty="0"/>
          </a:p>
        </p:txBody>
      </p:sp>
      <p:sp>
        <p:nvSpPr>
          <p:cNvPr id="16" name="Text 14"/>
          <p:cNvSpPr/>
          <p:nvPr/>
        </p:nvSpPr>
        <p:spPr>
          <a:xfrm>
            <a:off x="6456680" y="2473960"/>
            <a:ext cx="4808576"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5F7F4"/>
                </a:solidFill>
                <a:latin typeface="IBM Plex Sans" pitchFamily="34" charset="0"/>
                <a:ea typeface="IBM Plex Sans" pitchFamily="34" charset="-122"/>
                <a:cs typeface="IBM Plex Sans" pitchFamily="34" charset="-120"/>
              </a:rPr>
              <a:t>A mobile medicine cabinet that does the routine rounds by itself.</a:t>
            </a:r>
            <a:endParaRPr lang="en-US" sz="1500" dirty="0"/>
          </a:p>
        </p:txBody>
      </p:sp>
      <p:pic>
        <p:nvPicPr>
          <p:cNvPr id="17" name="Image 0" descr="CheckCircle"/>
          <p:cNvPicPr>
            <a:picLocks noChangeAspect="1"/>
          </p:cNvPicPr>
          <p:nvPr/>
        </p:nvPicPr>
        <p:blipFill>
          <a:blip r:embed="rId3"/>
          <a:srcRect/>
          <a:stretch/>
        </p:blipFill>
        <p:spPr>
          <a:xfrm>
            <a:off x="6456680" y="3186430"/>
            <a:ext cx="203200" cy="203200"/>
          </a:xfrm>
          <a:prstGeom prst="rect">
            <a:avLst/>
          </a:prstGeom>
        </p:spPr>
      </p:pic>
      <p:sp>
        <p:nvSpPr>
          <p:cNvPr id="18" name="Text 15"/>
          <p:cNvSpPr/>
          <p:nvPr/>
        </p:nvSpPr>
        <p:spPr>
          <a:xfrm>
            <a:off x="6761480" y="3186430"/>
            <a:ext cx="296415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5F7F4"/>
                </a:solidFill>
                <a:latin typeface="IBM Plex Sans" pitchFamily="34" charset="0"/>
                <a:ea typeface="IBM Plex Sans" pitchFamily="34" charset="-122"/>
                <a:cs typeface="IBM Plex Sans" pitchFamily="34" charset="-120"/>
              </a:rPr>
              <a:t>Drives itself to each bed</a:t>
            </a:r>
            <a:endParaRPr lang="en-US" sz="1200" dirty="0"/>
          </a:p>
        </p:txBody>
      </p:sp>
      <p:pic>
        <p:nvPicPr>
          <p:cNvPr id="19" name="Image 1" descr="CheckCircle"/>
          <p:cNvPicPr>
            <a:picLocks noChangeAspect="1"/>
          </p:cNvPicPr>
          <p:nvPr/>
        </p:nvPicPr>
        <p:blipFill>
          <a:blip r:embed="rId3"/>
          <a:srcRect/>
          <a:stretch/>
        </p:blipFill>
        <p:spPr>
          <a:xfrm>
            <a:off x="6456680" y="3501390"/>
            <a:ext cx="203200" cy="203200"/>
          </a:xfrm>
          <a:prstGeom prst="rect">
            <a:avLst/>
          </a:prstGeom>
        </p:spPr>
      </p:pic>
      <p:sp>
        <p:nvSpPr>
          <p:cNvPr id="20" name="Text 16"/>
          <p:cNvSpPr/>
          <p:nvPr/>
        </p:nvSpPr>
        <p:spPr>
          <a:xfrm>
            <a:off x="6761480" y="3501390"/>
            <a:ext cx="296415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5F7F4"/>
                </a:solidFill>
                <a:latin typeface="IBM Plex Sans" pitchFamily="34" charset="0"/>
                <a:ea typeface="IBM Plex Sans" pitchFamily="34" charset="-122"/>
                <a:cs typeface="IBM Plex Sans" pitchFamily="34" charset="-120"/>
              </a:rPr>
              <a:t>Confirms the patient’s identity</a:t>
            </a:r>
            <a:endParaRPr lang="en-US" sz="1200" dirty="0"/>
          </a:p>
        </p:txBody>
      </p:sp>
      <p:pic>
        <p:nvPicPr>
          <p:cNvPr id="21" name="Image 2" descr="CheckCircle"/>
          <p:cNvPicPr>
            <a:picLocks noChangeAspect="1"/>
          </p:cNvPicPr>
          <p:nvPr/>
        </p:nvPicPr>
        <p:blipFill>
          <a:blip r:embed="rId3"/>
          <a:srcRect/>
          <a:stretch/>
        </p:blipFill>
        <p:spPr>
          <a:xfrm>
            <a:off x="6456680" y="3816350"/>
            <a:ext cx="203200" cy="203200"/>
          </a:xfrm>
          <a:prstGeom prst="rect">
            <a:avLst/>
          </a:prstGeom>
        </p:spPr>
      </p:pic>
      <p:sp>
        <p:nvSpPr>
          <p:cNvPr id="22" name="Text 17"/>
          <p:cNvSpPr/>
          <p:nvPr/>
        </p:nvSpPr>
        <p:spPr>
          <a:xfrm>
            <a:off x="6761480" y="3816350"/>
            <a:ext cx="2964155"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5F7F4"/>
                </a:solidFill>
                <a:latin typeface="IBM Plex Sans" pitchFamily="34" charset="0"/>
                <a:ea typeface="IBM Plex Sans" pitchFamily="34" charset="-122"/>
                <a:cs typeface="IBM Plex Sans" pitchFamily="34" charset="-120"/>
              </a:rPr>
              <a:t>Measures heart rate, SpO2 and temperature</a:t>
            </a:r>
            <a:endParaRPr lang="en-US" sz="1200" dirty="0"/>
          </a:p>
        </p:txBody>
      </p:sp>
      <p:pic>
        <p:nvPicPr>
          <p:cNvPr id="23" name="Image 3" descr="CheckCircle"/>
          <p:cNvPicPr>
            <a:picLocks noChangeAspect="1"/>
          </p:cNvPicPr>
          <p:nvPr/>
        </p:nvPicPr>
        <p:blipFill>
          <a:blip r:embed="rId3"/>
          <a:srcRect/>
          <a:stretch/>
        </p:blipFill>
        <p:spPr>
          <a:xfrm>
            <a:off x="6456680" y="4344670"/>
            <a:ext cx="203200" cy="203200"/>
          </a:xfrm>
          <a:prstGeom prst="rect">
            <a:avLst/>
          </a:prstGeom>
        </p:spPr>
      </p:pic>
      <p:sp>
        <p:nvSpPr>
          <p:cNvPr id="24" name="Text 18"/>
          <p:cNvSpPr/>
          <p:nvPr/>
        </p:nvSpPr>
        <p:spPr>
          <a:xfrm>
            <a:off x="6761480" y="4344670"/>
            <a:ext cx="2964155"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5F7F4"/>
                </a:solidFill>
                <a:latin typeface="IBM Plex Sans" pitchFamily="34" charset="0"/>
                <a:ea typeface="IBM Plex Sans" pitchFamily="34" charset="-122"/>
                <a:cs typeface="IBM Plex Sans" pitchFamily="34" charset="-120"/>
              </a:rPr>
              <a:t>Gives the doctor’s drugs only when it’s safe</a:t>
            </a:r>
            <a:endParaRPr lang="en-US" sz="1200" dirty="0"/>
          </a:p>
        </p:txBody>
      </p:sp>
      <p:pic>
        <p:nvPicPr>
          <p:cNvPr id="25" name="Image 4" descr="Concept drawing of the IsoCare robot: a wheeled cabinet with three locked drawers, a sensor deck, a touchscreen and a camera mast"/>
          <p:cNvPicPr>
            <a:picLocks noChangeAspect="1"/>
          </p:cNvPicPr>
          <p:nvPr/>
        </p:nvPicPr>
        <p:blipFill>
          <a:blip r:embed="rId4"/>
          <a:srcRect/>
          <a:stretch/>
        </p:blipFill>
        <p:spPr>
          <a:xfrm>
            <a:off x="9791700" y="3134360"/>
            <a:ext cx="1333500" cy="1689100"/>
          </a:xfrm>
          <a:prstGeom prst="rect">
            <a:avLst/>
          </a:prstGeom>
        </p:spPr>
      </p:pic>
      <p:sp>
        <p:nvSpPr>
          <p:cNvPr id="26" name="Text 19"/>
          <p:cNvSpPr/>
          <p:nvPr/>
        </p:nvSpPr>
        <p:spPr>
          <a:xfrm>
            <a:off x="6456680" y="5077460"/>
            <a:ext cx="4808576"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D6D2"/>
                </a:solidFill>
                <a:latin typeface="IBM Plex Sans" pitchFamily="34" charset="0"/>
                <a:ea typeface="IBM Plex Sans" pitchFamily="34" charset="-122"/>
                <a:cs typeface="IBM Plex Sans" pitchFamily="34" charset="-120"/>
              </a:rPr>
              <a:t>It never prescribes and doesn’t replace nurses: doctors set the rules, nurses load the drawers.</a:t>
            </a:r>
            <a:endParaRPr lang="en-US" sz="1200" dirty="0"/>
          </a:p>
        </p:txBody>
      </p:sp>
      <p:sp>
        <p:nvSpPr>
          <p:cNvPr id="27" name="Text 20"/>
          <p:cNvSpPr/>
          <p:nvPr/>
        </p:nvSpPr>
        <p:spPr>
          <a:xfrm>
            <a:off x="812800" y="6238241"/>
            <a:ext cx="80371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76C"/>
                </a:solidFill>
                <a:latin typeface="IBM Plex Sans" pitchFamily="34" charset="0"/>
                <a:ea typeface="IBM Plex Sans" pitchFamily="34" charset="-122"/>
                <a:cs typeface="IBM Plex Sans" pitchFamily="34" charset="-120"/>
              </a:rPr>
              <a:t>Sources: Isr. J. Health Policy Res. 2021; COVID-19 isolation-ward study 2020; Nursing Open 2024</a:t>
            </a:r>
            <a:endParaRPr lang="en-US" sz="1200" dirty="0"/>
          </a:p>
        </p:txBody>
      </p:sp>
      <p:sp>
        <p:nvSpPr>
          <p:cNvPr id="28" name="Text 21"/>
          <p:cNvSpPr/>
          <p:nvPr/>
        </p:nvSpPr>
        <p:spPr>
          <a:xfrm>
            <a:off x="11196320" y="6238241"/>
            <a:ext cx="233680" cy="23876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55676C"/>
                </a:solidFill>
                <a:latin typeface="IBM Plex Sans" pitchFamily="34" charset="0"/>
                <a:ea typeface="IBM Plex Sans" pitchFamily="34" charset="-122"/>
                <a:cs typeface="IBM Plex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7EEE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C6D67"/>
                </a:solidFill>
                <a:latin typeface="JetBrains Mono" pitchFamily="49" charset="0"/>
                <a:ea typeface="JetBrains Mono" pitchFamily="49" charset="-122"/>
                <a:cs typeface="JetBrains Mono" pitchFamily="49" charset="-120"/>
              </a:rPr>
              <a:t>INTRODUCTION</a:t>
            </a:r>
            <a:endParaRPr lang="en-US" sz="1200" dirty="0"/>
          </a:p>
        </p:txBody>
      </p:sp>
      <p:sp>
        <p:nvSpPr>
          <p:cNvPr id="3" name="Text 1"/>
          <p:cNvSpPr>
            <a:spLocks noGrp="1"/>
          </p:cNvSpPr>
          <p:nvPr>
            <p:ph type="title"/>
          </p:nvPr>
        </p:nvSpPr>
        <p:spPr>
          <a:xfrm>
            <a:off x="812800" y="11277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E2A33"/>
                </a:solidFill>
                <a:latin typeface="Space Grotesk" pitchFamily="34" charset="0"/>
                <a:ea typeface="Space Grotesk" pitchFamily="34" charset="-122"/>
                <a:cs typeface="Space Grotesk" pitchFamily="34" charset="-120"/>
              </a:rPr>
              <a:t>One round, and who presents what</a:t>
            </a:r>
            <a:endParaRPr lang="en-US" sz="3200" dirty="0"/>
          </a:p>
        </p:txBody>
      </p:sp>
      <p:sp>
        <p:nvSpPr>
          <p:cNvPr id="4" name="Text 2"/>
          <p:cNvSpPr/>
          <p:nvPr/>
        </p:nvSpPr>
        <p:spPr>
          <a:xfrm>
            <a:off x="812800" y="1828800"/>
            <a:ext cx="10883392"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0C6D67"/>
                </a:solidFill>
                <a:latin typeface="Space Grotesk" pitchFamily="34" charset="0"/>
                <a:ea typeface="Space Grotesk" pitchFamily="34" charset="-122"/>
                <a:cs typeface="Space Grotesk" pitchFamily="34" charset="-120"/>
              </a:rPr>
              <a:t>One round at each bed</a:t>
            </a:r>
            <a:endParaRPr lang="en-US" sz="1500" dirty="0"/>
          </a:p>
        </p:txBody>
      </p:sp>
      <p:sp>
        <p:nvSpPr>
          <p:cNvPr id="5" name="Shape 3"/>
          <p:cNvSpPr/>
          <p:nvPr/>
        </p:nvSpPr>
        <p:spPr>
          <a:xfrm>
            <a:off x="812800" y="2152650"/>
            <a:ext cx="1697514" cy="1228090"/>
          </a:xfrm>
          <a:prstGeom prst="roundRect">
            <a:avLst>
              <a:gd name="adj" fmla="val 6205"/>
            </a:avLst>
          </a:prstGeom>
          <a:solidFill>
            <a:srgbClr val="FCFDFB"/>
          </a:solidFill>
          <a:ln/>
        </p:spPr>
        <p:txBody>
          <a:bodyPr/>
          <a:lstStyle/>
          <a:p>
            <a:endParaRPr lang="en-US"/>
          </a:p>
        </p:txBody>
      </p:sp>
      <p:sp>
        <p:nvSpPr>
          <p:cNvPr id="6" name="Shape 4"/>
          <p:cNvSpPr/>
          <p:nvPr/>
        </p:nvSpPr>
        <p:spPr>
          <a:xfrm>
            <a:off x="812800" y="2152650"/>
            <a:ext cx="1697514" cy="1228090"/>
          </a:xfrm>
          <a:custGeom>
            <a:avLst/>
            <a:gdLst/>
            <a:ahLst/>
            <a:cxnLst/>
            <a:rect l="l" t="t" r="r" b="b"/>
            <a:pathLst>
              <a:path w="1697514" h="1228090">
                <a:moveTo>
                  <a:pt x="0" y="76200"/>
                </a:moveTo>
                <a:lnTo>
                  <a:pt x="0" y="76200"/>
                </a:lnTo>
                <a:arcTo wR="76200" hR="76200" stAng="10800000" swAng="5400000"/>
                <a:lnTo>
                  <a:pt x="1621314" y="0"/>
                </a:lnTo>
                <a:arcTo wR="76200" hR="76200" stAng="16200000" swAng="5400000"/>
                <a:lnTo>
                  <a:pt x="1697514" y="76200"/>
                </a:lnTo>
                <a:arcTo wR="76200" hR="38100" stAng="0" swAng="-5400000"/>
                <a:lnTo>
                  <a:pt x="76200" y="38100"/>
                </a:lnTo>
                <a:arcTo wR="76200" hR="38100" stAng="16200000" swAng="-5400000"/>
                <a:close/>
              </a:path>
            </a:pathLst>
          </a:custGeom>
          <a:solidFill>
            <a:srgbClr val="0C6D67"/>
          </a:solidFill>
          <a:ln/>
        </p:spPr>
        <p:txBody>
          <a:bodyPr/>
          <a:lstStyle/>
          <a:p>
            <a:endParaRPr lang="en-US"/>
          </a:p>
        </p:txBody>
      </p:sp>
      <p:sp>
        <p:nvSpPr>
          <p:cNvPr id="7" name="Text 5"/>
          <p:cNvSpPr/>
          <p:nvPr/>
        </p:nvSpPr>
        <p:spPr>
          <a:xfrm>
            <a:off x="965200" y="2315211"/>
            <a:ext cx="144351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C6D67"/>
                </a:solidFill>
                <a:latin typeface="JetBrains Mono" pitchFamily="49" charset="0"/>
                <a:ea typeface="JetBrains Mono" pitchFamily="49" charset="-122"/>
                <a:cs typeface="JetBrains Mono" pitchFamily="49" charset="-120"/>
              </a:rPr>
              <a:t>01</a:t>
            </a:r>
            <a:endParaRPr lang="en-US" sz="1200" dirty="0"/>
          </a:p>
        </p:txBody>
      </p:sp>
      <p:sp>
        <p:nvSpPr>
          <p:cNvPr id="8" name="Text 6"/>
          <p:cNvSpPr/>
          <p:nvPr/>
        </p:nvSpPr>
        <p:spPr>
          <a:xfrm>
            <a:off x="965200" y="2553970"/>
            <a:ext cx="1443514"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0E2A33"/>
                </a:solidFill>
                <a:latin typeface="Space Grotesk" pitchFamily="34" charset="0"/>
                <a:ea typeface="Space Grotesk" pitchFamily="34" charset="-122"/>
                <a:cs typeface="Space Grotesk" pitchFamily="34" charset="-120"/>
              </a:rPr>
              <a:t>Load</a:t>
            </a:r>
            <a:endParaRPr lang="en-US" sz="1500" dirty="0"/>
          </a:p>
        </p:txBody>
      </p:sp>
      <p:sp>
        <p:nvSpPr>
          <p:cNvPr id="9" name="Text 7"/>
          <p:cNvSpPr/>
          <p:nvPr/>
        </p:nvSpPr>
        <p:spPr>
          <a:xfrm>
            <a:off x="965200" y="2827020"/>
            <a:ext cx="1443514"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158"/>
                </a:solidFill>
                <a:latin typeface="IBM Plex Sans" pitchFamily="34" charset="0"/>
                <a:ea typeface="IBM Plex Sans" pitchFamily="34" charset="-122"/>
                <a:cs typeface="IBM Plex Sans" pitchFamily="34" charset="-120"/>
              </a:rPr>
              <a:t>Nurse fills the drawers</a:t>
            </a:r>
            <a:endParaRPr lang="en-US" sz="1200" dirty="0"/>
          </a:p>
        </p:txBody>
      </p:sp>
      <p:sp>
        <p:nvSpPr>
          <p:cNvPr id="10" name="Shape 8"/>
          <p:cNvSpPr/>
          <p:nvPr/>
        </p:nvSpPr>
        <p:spPr>
          <a:xfrm>
            <a:off x="2586514" y="2152650"/>
            <a:ext cx="1697593" cy="1228090"/>
          </a:xfrm>
          <a:prstGeom prst="roundRect">
            <a:avLst>
              <a:gd name="adj" fmla="val 6205"/>
            </a:avLst>
          </a:prstGeom>
          <a:solidFill>
            <a:srgbClr val="FCFDFB"/>
          </a:solidFill>
          <a:ln/>
        </p:spPr>
        <p:txBody>
          <a:bodyPr/>
          <a:lstStyle/>
          <a:p>
            <a:endParaRPr lang="en-US"/>
          </a:p>
        </p:txBody>
      </p:sp>
      <p:sp>
        <p:nvSpPr>
          <p:cNvPr id="11" name="Shape 9"/>
          <p:cNvSpPr/>
          <p:nvPr/>
        </p:nvSpPr>
        <p:spPr>
          <a:xfrm>
            <a:off x="2586514" y="2152650"/>
            <a:ext cx="1697593" cy="1228090"/>
          </a:xfrm>
          <a:custGeom>
            <a:avLst/>
            <a:gdLst/>
            <a:ahLst/>
            <a:cxnLst/>
            <a:rect l="l" t="t" r="r" b="b"/>
            <a:pathLst>
              <a:path w="1697593" h="1228090">
                <a:moveTo>
                  <a:pt x="0" y="76200"/>
                </a:moveTo>
                <a:lnTo>
                  <a:pt x="0" y="76200"/>
                </a:lnTo>
                <a:arcTo wR="76200" hR="76200" stAng="10800000" swAng="5400000"/>
                <a:lnTo>
                  <a:pt x="1621393" y="0"/>
                </a:lnTo>
                <a:arcTo wR="76200" hR="76200" stAng="16200000" swAng="5400000"/>
                <a:lnTo>
                  <a:pt x="1697593" y="76200"/>
                </a:lnTo>
                <a:arcTo wR="76200" hR="38100" stAng="0" swAng="-5400000"/>
                <a:lnTo>
                  <a:pt x="76200" y="38100"/>
                </a:lnTo>
                <a:arcTo wR="76200" hR="38100" stAng="16200000" swAng="-5400000"/>
                <a:close/>
              </a:path>
            </a:pathLst>
          </a:custGeom>
          <a:solidFill>
            <a:srgbClr val="0C6D67"/>
          </a:solidFill>
          <a:ln/>
        </p:spPr>
        <p:txBody>
          <a:bodyPr/>
          <a:lstStyle/>
          <a:p>
            <a:endParaRPr lang="en-US"/>
          </a:p>
        </p:txBody>
      </p:sp>
      <p:sp>
        <p:nvSpPr>
          <p:cNvPr id="12" name="Text 10"/>
          <p:cNvSpPr/>
          <p:nvPr/>
        </p:nvSpPr>
        <p:spPr>
          <a:xfrm>
            <a:off x="2738914" y="2315211"/>
            <a:ext cx="1443593"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C6D67"/>
                </a:solidFill>
                <a:latin typeface="JetBrains Mono" pitchFamily="49" charset="0"/>
                <a:ea typeface="JetBrains Mono" pitchFamily="49" charset="-122"/>
                <a:cs typeface="JetBrains Mono" pitchFamily="49" charset="-120"/>
              </a:rPr>
              <a:t>02</a:t>
            </a:r>
            <a:endParaRPr lang="en-US" sz="1200" dirty="0"/>
          </a:p>
        </p:txBody>
      </p:sp>
      <p:sp>
        <p:nvSpPr>
          <p:cNvPr id="13" name="Text 11"/>
          <p:cNvSpPr/>
          <p:nvPr/>
        </p:nvSpPr>
        <p:spPr>
          <a:xfrm>
            <a:off x="2738914" y="2553970"/>
            <a:ext cx="1443593"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0E2A33"/>
                </a:solidFill>
                <a:latin typeface="Space Grotesk" pitchFamily="34" charset="0"/>
                <a:ea typeface="Space Grotesk" pitchFamily="34" charset="-122"/>
                <a:cs typeface="Space Grotesk" pitchFamily="34" charset="-120"/>
              </a:rPr>
              <a:t>Navigate</a:t>
            </a:r>
            <a:endParaRPr lang="en-US" sz="1500" dirty="0"/>
          </a:p>
        </p:txBody>
      </p:sp>
      <p:sp>
        <p:nvSpPr>
          <p:cNvPr id="14" name="Text 12"/>
          <p:cNvSpPr/>
          <p:nvPr/>
        </p:nvSpPr>
        <p:spPr>
          <a:xfrm>
            <a:off x="2738914" y="2827020"/>
            <a:ext cx="144359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158"/>
                </a:solidFill>
                <a:latin typeface="IBM Plex Sans" pitchFamily="34" charset="0"/>
                <a:ea typeface="IBM Plex Sans" pitchFamily="34" charset="-122"/>
                <a:cs typeface="IBM Plex Sans" pitchFamily="34" charset="-120"/>
              </a:rPr>
              <a:t>Drives to the bed</a:t>
            </a:r>
            <a:endParaRPr lang="en-US" sz="1200" dirty="0"/>
          </a:p>
        </p:txBody>
      </p:sp>
      <p:sp>
        <p:nvSpPr>
          <p:cNvPr id="15" name="Shape 13"/>
          <p:cNvSpPr/>
          <p:nvPr/>
        </p:nvSpPr>
        <p:spPr>
          <a:xfrm>
            <a:off x="4360307" y="2152650"/>
            <a:ext cx="1697514" cy="1228090"/>
          </a:xfrm>
          <a:prstGeom prst="roundRect">
            <a:avLst>
              <a:gd name="adj" fmla="val 6205"/>
            </a:avLst>
          </a:prstGeom>
          <a:solidFill>
            <a:srgbClr val="FCFDFB"/>
          </a:solidFill>
          <a:ln/>
        </p:spPr>
        <p:txBody>
          <a:bodyPr/>
          <a:lstStyle/>
          <a:p>
            <a:endParaRPr lang="en-US"/>
          </a:p>
        </p:txBody>
      </p:sp>
      <p:sp>
        <p:nvSpPr>
          <p:cNvPr id="16" name="Shape 14"/>
          <p:cNvSpPr/>
          <p:nvPr/>
        </p:nvSpPr>
        <p:spPr>
          <a:xfrm>
            <a:off x="4360307" y="2152650"/>
            <a:ext cx="1697514" cy="1228090"/>
          </a:xfrm>
          <a:custGeom>
            <a:avLst/>
            <a:gdLst/>
            <a:ahLst/>
            <a:cxnLst/>
            <a:rect l="l" t="t" r="r" b="b"/>
            <a:pathLst>
              <a:path w="1697514" h="1228090">
                <a:moveTo>
                  <a:pt x="0" y="76200"/>
                </a:moveTo>
                <a:lnTo>
                  <a:pt x="0" y="76200"/>
                </a:lnTo>
                <a:arcTo wR="76200" hR="76200" stAng="10800000" swAng="5400000"/>
                <a:lnTo>
                  <a:pt x="1621314" y="0"/>
                </a:lnTo>
                <a:arcTo wR="76200" hR="76200" stAng="16200000" swAng="5400000"/>
                <a:lnTo>
                  <a:pt x="1697514" y="76200"/>
                </a:lnTo>
                <a:arcTo wR="76200" hR="38100" stAng="0" swAng="-5400000"/>
                <a:lnTo>
                  <a:pt x="76200" y="38100"/>
                </a:lnTo>
                <a:arcTo wR="76200" hR="38100" stAng="16200000" swAng="-5400000"/>
                <a:close/>
              </a:path>
            </a:pathLst>
          </a:custGeom>
          <a:solidFill>
            <a:srgbClr val="0C6D67"/>
          </a:solidFill>
          <a:ln/>
        </p:spPr>
        <p:txBody>
          <a:bodyPr/>
          <a:lstStyle/>
          <a:p>
            <a:endParaRPr lang="en-US"/>
          </a:p>
        </p:txBody>
      </p:sp>
      <p:sp>
        <p:nvSpPr>
          <p:cNvPr id="17" name="Text 15"/>
          <p:cNvSpPr/>
          <p:nvPr/>
        </p:nvSpPr>
        <p:spPr>
          <a:xfrm>
            <a:off x="4512707" y="2315211"/>
            <a:ext cx="144351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C6D67"/>
                </a:solidFill>
                <a:latin typeface="JetBrains Mono" pitchFamily="49" charset="0"/>
                <a:ea typeface="JetBrains Mono" pitchFamily="49" charset="-122"/>
                <a:cs typeface="JetBrains Mono" pitchFamily="49" charset="-120"/>
              </a:rPr>
              <a:t>03</a:t>
            </a:r>
            <a:endParaRPr lang="en-US" sz="1200" dirty="0"/>
          </a:p>
        </p:txBody>
      </p:sp>
      <p:sp>
        <p:nvSpPr>
          <p:cNvPr id="18" name="Text 16"/>
          <p:cNvSpPr/>
          <p:nvPr/>
        </p:nvSpPr>
        <p:spPr>
          <a:xfrm>
            <a:off x="4512707" y="2553970"/>
            <a:ext cx="1443514"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0E2A33"/>
                </a:solidFill>
                <a:latin typeface="Space Grotesk" pitchFamily="34" charset="0"/>
                <a:ea typeface="Space Grotesk" pitchFamily="34" charset="-122"/>
                <a:cs typeface="Space Grotesk" pitchFamily="34" charset="-120"/>
              </a:rPr>
              <a:t>Identify</a:t>
            </a:r>
            <a:endParaRPr lang="en-US" sz="1500" dirty="0"/>
          </a:p>
        </p:txBody>
      </p:sp>
      <p:sp>
        <p:nvSpPr>
          <p:cNvPr id="19" name="Text 17"/>
          <p:cNvSpPr/>
          <p:nvPr/>
        </p:nvSpPr>
        <p:spPr>
          <a:xfrm>
            <a:off x="4512707" y="2827020"/>
            <a:ext cx="144351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158"/>
                </a:solidFill>
                <a:latin typeface="IBM Plex Sans" pitchFamily="34" charset="0"/>
                <a:ea typeface="IBM Plex Sans" pitchFamily="34" charset="-122"/>
                <a:cs typeface="IBM Plex Sans" pitchFamily="34" charset="-120"/>
              </a:rPr>
              <a:t>Wristband and face</a:t>
            </a:r>
            <a:endParaRPr lang="en-US" sz="1200" dirty="0"/>
          </a:p>
        </p:txBody>
      </p:sp>
      <p:sp>
        <p:nvSpPr>
          <p:cNvPr id="20" name="Shape 18"/>
          <p:cNvSpPr/>
          <p:nvPr/>
        </p:nvSpPr>
        <p:spPr>
          <a:xfrm>
            <a:off x="6134021" y="2152650"/>
            <a:ext cx="1697593" cy="1228090"/>
          </a:xfrm>
          <a:prstGeom prst="roundRect">
            <a:avLst>
              <a:gd name="adj" fmla="val 6205"/>
            </a:avLst>
          </a:prstGeom>
          <a:solidFill>
            <a:srgbClr val="FCFDFB"/>
          </a:solidFill>
          <a:ln/>
        </p:spPr>
        <p:txBody>
          <a:bodyPr/>
          <a:lstStyle/>
          <a:p>
            <a:endParaRPr lang="en-US"/>
          </a:p>
        </p:txBody>
      </p:sp>
      <p:sp>
        <p:nvSpPr>
          <p:cNvPr id="21" name="Shape 19"/>
          <p:cNvSpPr/>
          <p:nvPr/>
        </p:nvSpPr>
        <p:spPr>
          <a:xfrm>
            <a:off x="6134021" y="2152650"/>
            <a:ext cx="1697593" cy="1228090"/>
          </a:xfrm>
          <a:custGeom>
            <a:avLst/>
            <a:gdLst/>
            <a:ahLst/>
            <a:cxnLst/>
            <a:rect l="l" t="t" r="r" b="b"/>
            <a:pathLst>
              <a:path w="1697593" h="1228090">
                <a:moveTo>
                  <a:pt x="0" y="76200"/>
                </a:moveTo>
                <a:lnTo>
                  <a:pt x="0" y="76200"/>
                </a:lnTo>
                <a:arcTo wR="76200" hR="76200" stAng="10800000" swAng="5400000"/>
                <a:lnTo>
                  <a:pt x="1621393" y="0"/>
                </a:lnTo>
                <a:arcTo wR="76200" hR="76200" stAng="16200000" swAng="5400000"/>
                <a:lnTo>
                  <a:pt x="1697593" y="76200"/>
                </a:lnTo>
                <a:arcTo wR="76200" hR="38100" stAng="0" swAng="-5400000"/>
                <a:lnTo>
                  <a:pt x="76200" y="38100"/>
                </a:lnTo>
                <a:arcTo wR="76200" hR="38100" stAng="16200000" swAng="-5400000"/>
                <a:close/>
              </a:path>
            </a:pathLst>
          </a:custGeom>
          <a:solidFill>
            <a:srgbClr val="0C6D67"/>
          </a:solidFill>
          <a:ln/>
        </p:spPr>
        <p:txBody>
          <a:bodyPr/>
          <a:lstStyle/>
          <a:p>
            <a:endParaRPr lang="en-US"/>
          </a:p>
        </p:txBody>
      </p:sp>
      <p:sp>
        <p:nvSpPr>
          <p:cNvPr id="22" name="Text 20"/>
          <p:cNvSpPr/>
          <p:nvPr/>
        </p:nvSpPr>
        <p:spPr>
          <a:xfrm>
            <a:off x="6286421" y="2315211"/>
            <a:ext cx="1443593"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C6D67"/>
                </a:solidFill>
                <a:latin typeface="JetBrains Mono" pitchFamily="49" charset="0"/>
                <a:ea typeface="JetBrains Mono" pitchFamily="49" charset="-122"/>
                <a:cs typeface="JetBrains Mono" pitchFamily="49" charset="-120"/>
              </a:rPr>
              <a:t>04</a:t>
            </a:r>
            <a:endParaRPr lang="en-US" sz="1200" dirty="0"/>
          </a:p>
        </p:txBody>
      </p:sp>
      <p:sp>
        <p:nvSpPr>
          <p:cNvPr id="23" name="Text 21"/>
          <p:cNvSpPr/>
          <p:nvPr/>
        </p:nvSpPr>
        <p:spPr>
          <a:xfrm>
            <a:off x="6286421" y="2553970"/>
            <a:ext cx="1443593"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0E2A33"/>
                </a:solidFill>
                <a:latin typeface="Space Grotesk" pitchFamily="34" charset="0"/>
                <a:ea typeface="Space Grotesk" pitchFamily="34" charset="-122"/>
                <a:cs typeface="Space Grotesk" pitchFamily="34" charset="-120"/>
              </a:rPr>
              <a:t>Measure</a:t>
            </a:r>
            <a:endParaRPr lang="en-US" sz="1500" dirty="0"/>
          </a:p>
        </p:txBody>
      </p:sp>
      <p:sp>
        <p:nvSpPr>
          <p:cNvPr id="24" name="Text 22"/>
          <p:cNvSpPr/>
          <p:nvPr/>
        </p:nvSpPr>
        <p:spPr>
          <a:xfrm>
            <a:off x="6286421" y="2827020"/>
            <a:ext cx="144359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158"/>
                </a:solidFill>
                <a:latin typeface="IBM Plex Sans" pitchFamily="34" charset="0"/>
                <a:ea typeface="IBM Plex Sans" pitchFamily="34" charset="-122"/>
                <a:cs typeface="IBM Plex Sans" pitchFamily="34" charset="-120"/>
              </a:rPr>
              <a:t>HR, SpO2, temp</a:t>
            </a:r>
            <a:endParaRPr lang="en-US" sz="1200" dirty="0"/>
          </a:p>
        </p:txBody>
      </p:sp>
      <p:sp>
        <p:nvSpPr>
          <p:cNvPr id="25" name="Shape 23"/>
          <p:cNvSpPr/>
          <p:nvPr/>
        </p:nvSpPr>
        <p:spPr>
          <a:xfrm>
            <a:off x="7907814" y="2152650"/>
            <a:ext cx="1697593" cy="1228090"/>
          </a:xfrm>
          <a:prstGeom prst="roundRect">
            <a:avLst>
              <a:gd name="adj" fmla="val 6205"/>
            </a:avLst>
          </a:prstGeom>
          <a:solidFill>
            <a:srgbClr val="FCFDFB"/>
          </a:solidFill>
          <a:ln/>
        </p:spPr>
        <p:txBody>
          <a:bodyPr/>
          <a:lstStyle/>
          <a:p>
            <a:endParaRPr lang="en-US"/>
          </a:p>
        </p:txBody>
      </p:sp>
      <p:sp>
        <p:nvSpPr>
          <p:cNvPr id="26" name="Shape 24"/>
          <p:cNvSpPr/>
          <p:nvPr/>
        </p:nvSpPr>
        <p:spPr>
          <a:xfrm>
            <a:off x="7907814" y="2152650"/>
            <a:ext cx="1697593" cy="1228090"/>
          </a:xfrm>
          <a:custGeom>
            <a:avLst/>
            <a:gdLst/>
            <a:ahLst/>
            <a:cxnLst/>
            <a:rect l="l" t="t" r="r" b="b"/>
            <a:pathLst>
              <a:path w="1697593" h="1228090">
                <a:moveTo>
                  <a:pt x="0" y="76200"/>
                </a:moveTo>
                <a:lnTo>
                  <a:pt x="0" y="76200"/>
                </a:lnTo>
                <a:arcTo wR="76200" hR="76200" stAng="10800000" swAng="5400000"/>
                <a:lnTo>
                  <a:pt x="1621393" y="0"/>
                </a:lnTo>
                <a:arcTo wR="76200" hR="76200" stAng="16200000" swAng="5400000"/>
                <a:lnTo>
                  <a:pt x="1697593" y="76200"/>
                </a:lnTo>
                <a:arcTo wR="76200" hR="38100" stAng="0" swAng="-5400000"/>
                <a:lnTo>
                  <a:pt x="76200" y="38100"/>
                </a:lnTo>
                <a:arcTo wR="76200" hR="38100" stAng="16200000" swAng="-5400000"/>
                <a:close/>
              </a:path>
            </a:pathLst>
          </a:custGeom>
          <a:solidFill>
            <a:srgbClr val="0C6D67"/>
          </a:solidFill>
          <a:ln/>
        </p:spPr>
        <p:txBody>
          <a:bodyPr/>
          <a:lstStyle/>
          <a:p>
            <a:endParaRPr lang="en-US"/>
          </a:p>
        </p:txBody>
      </p:sp>
      <p:sp>
        <p:nvSpPr>
          <p:cNvPr id="27" name="Text 25"/>
          <p:cNvSpPr/>
          <p:nvPr/>
        </p:nvSpPr>
        <p:spPr>
          <a:xfrm>
            <a:off x="8060214" y="2315211"/>
            <a:ext cx="1443593"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C6D67"/>
                </a:solidFill>
                <a:latin typeface="JetBrains Mono" pitchFamily="49" charset="0"/>
                <a:ea typeface="JetBrains Mono" pitchFamily="49" charset="-122"/>
                <a:cs typeface="JetBrains Mono" pitchFamily="49" charset="-120"/>
              </a:rPr>
              <a:t>05</a:t>
            </a:r>
            <a:endParaRPr lang="en-US" sz="1200" dirty="0"/>
          </a:p>
        </p:txBody>
      </p:sp>
      <p:sp>
        <p:nvSpPr>
          <p:cNvPr id="28" name="Text 26"/>
          <p:cNvSpPr/>
          <p:nvPr/>
        </p:nvSpPr>
        <p:spPr>
          <a:xfrm>
            <a:off x="8060214" y="2553970"/>
            <a:ext cx="1443593"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0E2A33"/>
                </a:solidFill>
                <a:latin typeface="Space Grotesk" pitchFamily="34" charset="0"/>
                <a:ea typeface="Space Grotesk" pitchFamily="34" charset="-122"/>
                <a:cs typeface="Space Grotesk" pitchFamily="34" charset="-120"/>
              </a:rPr>
              <a:t>Decide</a:t>
            </a:r>
            <a:endParaRPr lang="en-US" sz="1500" dirty="0"/>
          </a:p>
        </p:txBody>
      </p:sp>
      <p:sp>
        <p:nvSpPr>
          <p:cNvPr id="29" name="Text 27"/>
          <p:cNvSpPr/>
          <p:nvPr/>
        </p:nvSpPr>
        <p:spPr>
          <a:xfrm>
            <a:off x="8060214" y="2827020"/>
            <a:ext cx="1443593"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158"/>
                </a:solidFill>
                <a:latin typeface="IBM Plex Sans" pitchFamily="34" charset="0"/>
                <a:ea typeface="IBM Plex Sans" pitchFamily="34" charset="-122"/>
                <a:cs typeface="IBM Plex Sans" pitchFamily="34" charset="-120"/>
              </a:rPr>
              <a:t>Checks the doctor’s rules</a:t>
            </a:r>
            <a:endParaRPr lang="en-US" sz="1200" dirty="0"/>
          </a:p>
        </p:txBody>
      </p:sp>
      <p:sp>
        <p:nvSpPr>
          <p:cNvPr id="30" name="Shape 28"/>
          <p:cNvSpPr/>
          <p:nvPr/>
        </p:nvSpPr>
        <p:spPr>
          <a:xfrm>
            <a:off x="9681607" y="2152650"/>
            <a:ext cx="1697593" cy="1228090"/>
          </a:xfrm>
          <a:prstGeom prst="roundRect">
            <a:avLst>
              <a:gd name="adj" fmla="val 6205"/>
            </a:avLst>
          </a:prstGeom>
          <a:solidFill>
            <a:srgbClr val="FCFDFB"/>
          </a:solidFill>
          <a:ln/>
        </p:spPr>
        <p:txBody>
          <a:bodyPr/>
          <a:lstStyle/>
          <a:p>
            <a:endParaRPr lang="en-US"/>
          </a:p>
        </p:txBody>
      </p:sp>
      <p:sp>
        <p:nvSpPr>
          <p:cNvPr id="31" name="Shape 29"/>
          <p:cNvSpPr/>
          <p:nvPr/>
        </p:nvSpPr>
        <p:spPr>
          <a:xfrm>
            <a:off x="9681607" y="2152650"/>
            <a:ext cx="1697593" cy="1228090"/>
          </a:xfrm>
          <a:custGeom>
            <a:avLst/>
            <a:gdLst/>
            <a:ahLst/>
            <a:cxnLst/>
            <a:rect l="l" t="t" r="r" b="b"/>
            <a:pathLst>
              <a:path w="1697593" h="1228090">
                <a:moveTo>
                  <a:pt x="0" y="76200"/>
                </a:moveTo>
                <a:lnTo>
                  <a:pt x="0" y="76200"/>
                </a:lnTo>
                <a:arcTo wR="76200" hR="76200" stAng="10800000" swAng="5400000"/>
                <a:lnTo>
                  <a:pt x="1621393" y="0"/>
                </a:lnTo>
                <a:arcTo wR="76200" hR="76200" stAng="16200000" swAng="5400000"/>
                <a:lnTo>
                  <a:pt x="1697593" y="76200"/>
                </a:lnTo>
                <a:arcTo wR="76200" hR="38100" stAng="0" swAng="-5400000"/>
                <a:lnTo>
                  <a:pt x="76200" y="38100"/>
                </a:lnTo>
                <a:arcTo wR="76200" hR="38100" stAng="16200000" swAng="-5400000"/>
                <a:close/>
              </a:path>
            </a:pathLst>
          </a:custGeom>
          <a:solidFill>
            <a:srgbClr val="A84E12"/>
          </a:solidFill>
          <a:ln/>
        </p:spPr>
        <p:txBody>
          <a:bodyPr/>
          <a:lstStyle/>
          <a:p>
            <a:endParaRPr lang="en-US"/>
          </a:p>
        </p:txBody>
      </p:sp>
      <p:sp>
        <p:nvSpPr>
          <p:cNvPr id="32" name="Text 30"/>
          <p:cNvSpPr/>
          <p:nvPr/>
        </p:nvSpPr>
        <p:spPr>
          <a:xfrm>
            <a:off x="9834007" y="2315211"/>
            <a:ext cx="1443593"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84E12"/>
                </a:solidFill>
                <a:latin typeface="JetBrains Mono" pitchFamily="49" charset="0"/>
                <a:ea typeface="JetBrains Mono" pitchFamily="49" charset="-122"/>
                <a:cs typeface="JetBrains Mono" pitchFamily="49" charset="-120"/>
              </a:rPr>
              <a:t>06</a:t>
            </a:r>
            <a:endParaRPr lang="en-US" sz="1200" dirty="0"/>
          </a:p>
        </p:txBody>
      </p:sp>
      <p:sp>
        <p:nvSpPr>
          <p:cNvPr id="33" name="Text 31"/>
          <p:cNvSpPr/>
          <p:nvPr/>
        </p:nvSpPr>
        <p:spPr>
          <a:xfrm>
            <a:off x="9834007" y="2553970"/>
            <a:ext cx="1443593"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0E2A33"/>
                </a:solidFill>
                <a:latin typeface="Space Grotesk" pitchFamily="34" charset="0"/>
                <a:ea typeface="Space Grotesk" pitchFamily="34" charset="-122"/>
                <a:cs typeface="Space Grotesk" pitchFamily="34" charset="-120"/>
              </a:rPr>
              <a:t>Act</a:t>
            </a:r>
            <a:endParaRPr lang="en-US" sz="1500" dirty="0"/>
          </a:p>
        </p:txBody>
      </p:sp>
      <p:sp>
        <p:nvSpPr>
          <p:cNvPr id="34" name="Text 32"/>
          <p:cNvSpPr/>
          <p:nvPr/>
        </p:nvSpPr>
        <p:spPr>
          <a:xfrm>
            <a:off x="9834007" y="2827020"/>
            <a:ext cx="1443593"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158"/>
                </a:solidFill>
                <a:latin typeface="IBM Plex Sans" pitchFamily="34" charset="0"/>
                <a:ea typeface="IBM Plex Sans" pitchFamily="34" charset="-122"/>
                <a:cs typeface="IBM Plex Sans" pitchFamily="34" charset="-120"/>
              </a:rPr>
              <a:t>Dispense, or alert the nurse</a:t>
            </a:r>
            <a:endParaRPr lang="en-US" sz="1200" dirty="0"/>
          </a:p>
        </p:txBody>
      </p:sp>
      <p:sp>
        <p:nvSpPr>
          <p:cNvPr id="35" name="Text 33"/>
          <p:cNvSpPr/>
          <p:nvPr/>
        </p:nvSpPr>
        <p:spPr>
          <a:xfrm>
            <a:off x="812800" y="3634741"/>
            <a:ext cx="10883392"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0C6D67"/>
                </a:solidFill>
                <a:latin typeface="Space Grotesk" pitchFamily="34" charset="0"/>
                <a:ea typeface="Space Grotesk" pitchFamily="34" charset="-122"/>
                <a:cs typeface="Space Grotesk" pitchFamily="34" charset="-120"/>
              </a:rPr>
              <a:t>Four parts, four presenters</a:t>
            </a:r>
            <a:endParaRPr lang="en-US" sz="1500" dirty="0"/>
          </a:p>
        </p:txBody>
      </p:sp>
      <p:sp>
        <p:nvSpPr>
          <p:cNvPr id="36" name="Shape 34"/>
          <p:cNvSpPr/>
          <p:nvPr/>
        </p:nvSpPr>
        <p:spPr>
          <a:xfrm>
            <a:off x="812800" y="3958591"/>
            <a:ext cx="2527300" cy="1344930"/>
          </a:xfrm>
          <a:prstGeom prst="roundRect">
            <a:avLst>
              <a:gd name="adj" fmla="val 9443"/>
            </a:avLst>
          </a:prstGeom>
          <a:solidFill>
            <a:srgbClr val="0E2A33"/>
          </a:solidFill>
          <a:ln/>
        </p:spPr>
        <p:txBody>
          <a:bodyPr/>
          <a:lstStyle/>
          <a:p>
            <a:endParaRPr lang="en-US"/>
          </a:p>
        </p:txBody>
      </p:sp>
      <p:sp>
        <p:nvSpPr>
          <p:cNvPr id="37" name="Text 35"/>
          <p:cNvSpPr/>
          <p:nvPr/>
        </p:nvSpPr>
        <p:spPr>
          <a:xfrm>
            <a:off x="1016000" y="4136391"/>
            <a:ext cx="2184527"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FC1B0"/>
                </a:solidFill>
                <a:latin typeface="JetBrains Mono" pitchFamily="49" charset="0"/>
                <a:ea typeface="JetBrains Mono" pitchFamily="49" charset="-122"/>
                <a:cs typeface="JetBrains Mono" pitchFamily="49" charset="-120"/>
              </a:rPr>
              <a:t>1 · Hardware</a:t>
            </a:r>
            <a:endParaRPr lang="en-US" sz="1200" dirty="0"/>
          </a:p>
        </p:txBody>
      </p:sp>
      <p:sp>
        <p:nvSpPr>
          <p:cNvPr id="38" name="Text 36"/>
          <p:cNvSpPr/>
          <p:nvPr/>
        </p:nvSpPr>
        <p:spPr>
          <a:xfrm>
            <a:off x="1016000" y="4400550"/>
            <a:ext cx="2184527"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F5F7F4"/>
                </a:solidFill>
                <a:latin typeface="Space Grotesk" pitchFamily="34" charset="0"/>
                <a:ea typeface="Space Grotesk" pitchFamily="34" charset="-122"/>
                <a:cs typeface="Space Grotesk" pitchFamily="34" charset="-120"/>
              </a:rPr>
              <a:t>Belal Tamer</a:t>
            </a:r>
            <a:endParaRPr lang="en-US" sz="1500" dirty="0"/>
          </a:p>
        </p:txBody>
      </p:sp>
      <p:sp>
        <p:nvSpPr>
          <p:cNvPr id="39" name="Text 37"/>
          <p:cNvSpPr/>
          <p:nvPr/>
        </p:nvSpPr>
        <p:spPr>
          <a:xfrm>
            <a:off x="1016000" y="4699000"/>
            <a:ext cx="2184527"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D6D2"/>
                </a:solidFill>
                <a:latin typeface="IBM Plex Sans" pitchFamily="34" charset="0"/>
                <a:ea typeface="IBM Plex Sans" pitchFamily="34" charset="-122"/>
                <a:cs typeface="IBM Plex Sans" pitchFamily="34" charset="-120"/>
              </a:rPr>
              <a:t>Sensors, motors, power and data acquisition</a:t>
            </a:r>
            <a:endParaRPr lang="en-US" sz="1200" dirty="0"/>
          </a:p>
        </p:txBody>
      </p:sp>
      <p:sp>
        <p:nvSpPr>
          <p:cNvPr id="40" name="Shape 38"/>
          <p:cNvSpPr/>
          <p:nvPr/>
        </p:nvSpPr>
        <p:spPr>
          <a:xfrm>
            <a:off x="3492500" y="3958591"/>
            <a:ext cx="2527300" cy="1344930"/>
          </a:xfrm>
          <a:prstGeom prst="roundRect">
            <a:avLst>
              <a:gd name="adj" fmla="val 9443"/>
            </a:avLst>
          </a:prstGeom>
          <a:solidFill>
            <a:srgbClr val="0E2A33"/>
          </a:solidFill>
          <a:ln/>
        </p:spPr>
        <p:txBody>
          <a:bodyPr/>
          <a:lstStyle/>
          <a:p>
            <a:endParaRPr lang="en-US"/>
          </a:p>
        </p:txBody>
      </p:sp>
      <p:sp>
        <p:nvSpPr>
          <p:cNvPr id="41" name="Text 39"/>
          <p:cNvSpPr/>
          <p:nvPr/>
        </p:nvSpPr>
        <p:spPr>
          <a:xfrm>
            <a:off x="3695700" y="4136391"/>
            <a:ext cx="2184527"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FC1B0"/>
                </a:solidFill>
                <a:latin typeface="JetBrains Mono" pitchFamily="49" charset="0"/>
                <a:ea typeface="JetBrains Mono" pitchFamily="49" charset="-122"/>
                <a:cs typeface="JetBrains Mono" pitchFamily="49" charset="-120"/>
              </a:rPr>
              <a:t>2 · ROS 2</a:t>
            </a:r>
            <a:endParaRPr lang="en-US" sz="1200" dirty="0"/>
          </a:p>
        </p:txBody>
      </p:sp>
      <p:sp>
        <p:nvSpPr>
          <p:cNvPr id="42" name="Text 40"/>
          <p:cNvSpPr/>
          <p:nvPr/>
        </p:nvSpPr>
        <p:spPr>
          <a:xfrm>
            <a:off x="3695700" y="4400550"/>
            <a:ext cx="2184527"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F5F7F4"/>
                </a:solidFill>
                <a:latin typeface="Space Grotesk" pitchFamily="34" charset="0"/>
                <a:ea typeface="Space Grotesk" pitchFamily="34" charset="-122"/>
                <a:cs typeface="Space Grotesk" pitchFamily="34" charset="-120"/>
              </a:rPr>
              <a:t>Ibrahim Tamer</a:t>
            </a:r>
            <a:endParaRPr lang="en-US" sz="1500" dirty="0"/>
          </a:p>
        </p:txBody>
      </p:sp>
      <p:sp>
        <p:nvSpPr>
          <p:cNvPr id="43" name="Text 41"/>
          <p:cNvSpPr/>
          <p:nvPr/>
        </p:nvSpPr>
        <p:spPr>
          <a:xfrm>
            <a:off x="3695700" y="4699000"/>
            <a:ext cx="2184527"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D6D2"/>
                </a:solidFill>
                <a:latin typeface="IBM Plex Sans" pitchFamily="34" charset="0"/>
                <a:ea typeface="IBM Plex Sans" pitchFamily="34" charset="-122"/>
                <a:cs typeface="IBM Plex Sans" pitchFamily="34" charset="-120"/>
              </a:rPr>
              <a:t>How the parts talk, and navigation</a:t>
            </a:r>
            <a:endParaRPr lang="en-US" sz="1200" dirty="0"/>
          </a:p>
        </p:txBody>
      </p:sp>
      <p:sp>
        <p:nvSpPr>
          <p:cNvPr id="44" name="Shape 42"/>
          <p:cNvSpPr/>
          <p:nvPr/>
        </p:nvSpPr>
        <p:spPr>
          <a:xfrm>
            <a:off x="6172200" y="3958591"/>
            <a:ext cx="2527300" cy="1344930"/>
          </a:xfrm>
          <a:prstGeom prst="roundRect">
            <a:avLst>
              <a:gd name="adj" fmla="val 9443"/>
            </a:avLst>
          </a:prstGeom>
          <a:solidFill>
            <a:srgbClr val="0E2A33"/>
          </a:solidFill>
          <a:ln/>
        </p:spPr>
        <p:txBody>
          <a:bodyPr/>
          <a:lstStyle/>
          <a:p>
            <a:endParaRPr lang="en-US"/>
          </a:p>
        </p:txBody>
      </p:sp>
      <p:sp>
        <p:nvSpPr>
          <p:cNvPr id="45" name="Text 43"/>
          <p:cNvSpPr/>
          <p:nvPr/>
        </p:nvSpPr>
        <p:spPr>
          <a:xfrm>
            <a:off x="6375400" y="4136391"/>
            <a:ext cx="2184527"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FC1B0"/>
                </a:solidFill>
                <a:latin typeface="JetBrains Mono" pitchFamily="49" charset="0"/>
                <a:ea typeface="JetBrains Mono" pitchFamily="49" charset="-122"/>
                <a:cs typeface="JetBrains Mono" pitchFamily="49" charset="-120"/>
              </a:rPr>
              <a:t>3 · AI</a:t>
            </a:r>
            <a:endParaRPr lang="en-US" sz="1200" dirty="0"/>
          </a:p>
        </p:txBody>
      </p:sp>
      <p:sp>
        <p:nvSpPr>
          <p:cNvPr id="46" name="Text 44"/>
          <p:cNvSpPr/>
          <p:nvPr/>
        </p:nvSpPr>
        <p:spPr>
          <a:xfrm>
            <a:off x="6375400" y="4400550"/>
            <a:ext cx="2184527"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F5F7F4"/>
                </a:solidFill>
                <a:latin typeface="Space Grotesk" pitchFamily="34" charset="0"/>
                <a:ea typeface="Space Grotesk" pitchFamily="34" charset="-122"/>
                <a:cs typeface="Space Grotesk" pitchFamily="34" charset="-120"/>
              </a:rPr>
              <a:t>Youssef Hesham</a:t>
            </a:r>
            <a:endParaRPr lang="en-US" sz="1500" dirty="0"/>
          </a:p>
        </p:txBody>
      </p:sp>
      <p:sp>
        <p:nvSpPr>
          <p:cNvPr id="47" name="Text 45"/>
          <p:cNvSpPr/>
          <p:nvPr/>
        </p:nvSpPr>
        <p:spPr>
          <a:xfrm>
            <a:off x="6375400" y="4699000"/>
            <a:ext cx="2184527"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D6D2"/>
                </a:solidFill>
                <a:latin typeface="IBM Plex Sans" pitchFamily="34" charset="0"/>
                <a:ea typeface="IBM Plex Sans" pitchFamily="34" charset="-122"/>
                <a:cs typeface="IBM Plex Sans" pitchFamily="34" charset="-120"/>
              </a:rPr>
              <a:t>What it sees and hears, and dose decisions</a:t>
            </a:r>
            <a:endParaRPr lang="en-US" sz="1200" dirty="0"/>
          </a:p>
        </p:txBody>
      </p:sp>
      <p:sp>
        <p:nvSpPr>
          <p:cNvPr id="48" name="Shape 46"/>
          <p:cNvSpPr/>
          <p:nvPr/>
        </p:nvSpPr>
        <p:spPr>
          <a:xfrm>
            <a:off x="8851900" y="3958591"/>
            <a:ext cx="2527300" cy="1344930"/>
          </a:xfrm>
          <a:prstGeom prst="roundRect">
            <a:avLst>
              <a:gd name="adj" fmla="val 9443"/>
            </a:avLst>
          </a:prstGeom>
          <a:solidFill>
            <a:srgbClr val="0E2A33"/>
          </a:solidFill>
          <a:ln/>
        </p:spPr>
        <p:txBody>
          <a:bodyPr/>
          <a:lstStyle/>
          <a:p>
            <a:endParaRPr lang="en-US"/>
          </a:p>
        </p:txBody>
      </p:sp>
      <p:sp>
        <p:nvSpPr>
          <p:cNvPr id="49" name="Text 47"/>
          <p:cNvSpPr/>
          <p:nvPr/>
        </p:nvSpPr>
        <p:spPr>
          <a:xfrm>
            <a:off x="9055100" y="4136391"/>
            <a:ext cx="2184527"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FC1B0"/>
                </a:solidFill>
                <a:latin typeface="JetBrains Mono" pitchFamily="49" charset="0"/>
                <a:ea typeface="JetBrains Mono" pitchFamily="49" charset="-122"/>
                <a:cs typeface="JetBrains Mono" pitchFamily="49" charset="-120"/>
              </a:rPr>
              <a:t>4 · Software</a:t>
            </a:r>
            <a:endParaRPr lang="en-US" sz="1200" dirty="0"/>
          </a:p>
        </p:txBody>
      </p:sp>
      <p:sp>
        <p:nvSpPr>
          <p:cNvPr id="50" name="Text 48"/>
          <p:cNvSpPr/>
          <p:nvPr/>
        </p:nvSpPr>
        <p:spPr>
          <a:xfrm>
            <a:off x="9055100" y="4400550"/>
            <a:ext cx="2184527"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F5F7F4"/>
                </a:solidFill>
                <a:latin typeface="Space Grotesk" pitchFamily="34" charset="0"/>
                <a:ea typeface="Space Grotesk" pitchFamily="34" charset="-122"/>
                <a:cs typeface="Space Grotesk" pitchFamily="34" charset="-120"/>
              </a:rPr>
              <a:t>Youssef Eslam</a:t>
            </a:r>
            <a:endParaRPr lang="en-US" sz="1500" dirty="0"/>
          </a:p>
        </p:txBody>
      </p:sp>
      <p:sp>
        <p:nvSpPr>
          <p:cNvPr id="51" name="Text 49"/>
          <p:cNvSpPr/>
          <p:nvPr/>
        </p:nvSpPr>
        <p:spPr>
          <a:xfrm>
            <a:off x="9055100" y="4699000"/>
            <a:ext cx="2184527"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D6D2"/>
                </a:solidFill>
                <a:latin typeface="IBM Plex Sans" pitchFamily="34" charset="0"/>
                <a:ea typeface="IBM Plex Sans" pitchFamily="34" charset="-122"/>
                <a:cs typeface="IBM Plex Sans" pitchFamily="34" charset="-120"/>
              </a:rPr>
              <a:t>Doctor app, touchscreen, data and alerts</a:t>
            </a:r>
            <a:endParaRPr lang="en-US" sz="1200" dirty="0"/>
          </a:p>
        </p:txBody>
      </p:sp>
      <p:sp>
        <p:nvSpPr>
          <p:cNvPr id="52" name="Text 50"/>
          <p:cNvSpPr/>
          <p:nvPr/>
        </p:nvSpPr>
        <p:spPr>
          <a:xfrm>
            <a:off x="812800" y="6238241"/>
            <a:ext cx="470115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76C"/>
                </a:solidFill>
                <a:latin typeface="IBM Plex Sans" pitchFamily="34" charset="0"/>
                <a:ea typeface="IBM Plex Sans" pitchFamily="34" charset="-122"/>
                <a:cs typeface="IBM Plex Sans" pitchFamily="34" charset="-120"/>
              </a:rPr>
              <a:t>We go bottom-up: from the sensors to the doctor’s phone</a:t>
            </a:r>
            <a:endParaRPr lang="en-US" sz="1200" dirty="0"/>
          </a:p>
        </p:txBody>
      </p:sp>
      <p:sp>
        <p:nvSpPr>
          <p:cNvPr id="53" name="Text 51"/>
          <p:cNvSpPr/>
          <p:nvPr/>
        </p:nvSpPr>
        <p:spPr>
          <a:xfrm>
            <a:off x="11196320" y="6238241"/>
            <a:ext cx="233680" cy="23876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55676C"/>
                </a:solidFill>
                <a:latin typeface="IBM Plex Sans" pitchFamily="34" charset="0"/>
                <a:ea typeface="IBM Plex Sans" pitchFamily="34" charset="-122"/>
                <a:cs typeface="IBM Plex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7EEE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C6D67"/>
                </a:solidFill>
                <a:latin typeface="JetBrains Mono" pitchFamily="49" charset="0"/>
                <a:ea typeface="JetBrains Mono" pitchFamily="49" charset="-122"/>
                <a:cs typeface="JetBrains Mono" pitchFamily="49" charset="-120"/>
              </a:rPr>
              <a:t>PART 1 · HARDWARE · BELAL TAMER</a:t>
            </a:r>
            <a:endParaRPr lang="en-US" sz="1200" dirty="0"/>
          </a:p>
        </p:txBody>
      </p:sp>
      <p:sp>
        <p:nvSpPr>
          <p:cNvPr id="3" name="Text 1"/>
          <p:cNvSpPr>
            <a:spLocks noGrp="1"/>
          </p:cNvSpPr>
          <p:nvPr>
            <p:ph type="title"/>
          </p:nvPr>
        </p:nvSpPr>
        <p:spPr>
          <a:xfrm>
            <a:off x="812800" y="11277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E2A33"/>
                </a:solidFill>
                <a:latin typeface="Space Grotesk" pitchFamily="34" charset="0"/>
                <a:ea typeface="Space Grotesk" pitchFamily="34" charset="-122"/>
                <a:cs typeface="Space Grotesk" pitchFamily="34" charset="-120"/>
              </a:rPr>
              <a:t>Sensors and motors</a:t>
            </a:r>
            <a:endParaRPr lang="en-US" sz="3200" dirty="0"/>
          </a:p>
        </p:txBody>
      </p:sp>
      <p:sp>
        <p:nvSpPr>
          <p:cNvPr id="4" name="Shape 2"/>
          <p:cNvSpPr/>
          <p:nvPr/>
        </p:nvSpPr>
        <p:spPr>
          <a:xfrm>
            <a:off x="815975" y="1882775"/>
            <a:ext cx="2523490" cy="3690620"/>
          </a:xfrm>
          <a:prstGeom prst="roundRect">
            <a:avLst>
              <a:gd name="adj" fmla="val 4907"/>
            </a:avLst>
          </a:prstGeom>
          <a:solidFill>
            <a:srgbClr val="FCFDFB"/>
          </a:solidFill>
          <a:ln w="6350">
            <a:solidFill>
              <a:srgbClr val="D3DDDA"/>
            </a:solidFill>
            <a:prstDash val="solid"/>
          </a:ln>
        </p:spPr>
        <p:txBody>
          <a:bodyPr/>
          <a:lstStyle/>
          <a:p>
            <a:endParaRPr lang="en-US"/>
          </a:p>
        </p:txBody>
      </p:sp>
      <p:sp>
        <p:nvSpPr>
          <p:cNvPr id="5" name="Text 3"/>
          <p:cNvSpPr/>
          <p:nvPr/>
        </p:nvSpPr>
        <p:spPr>
          <a:xfrm>
            <a:off x="1021080" y="2087880"/>
            <a:ext cx="2176679"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0C6D67"/>
                </a:solidFill>
                <a:latin typeface="Space Grotesk" pitchFamily="34" charset="0"/>
                <a:ea typeface="Space Grotesk" pitchFamily="34" charset="-122"/>
                <a:cs typeface="Space Grotesk" pitchFamily="34" charset="-120"/>
              </a:rPr>
              <a:t>Vitals</a:t>
            </a:r>
            <a:endParaRPr lang="en-US" sz="1500" dirty="0"/>
          </a:p>
        </p:txBody>
      </p:sp>
      <p:sp>
        <p:nvSpPr>
          <p:cNvPr id="6" name="Text 4"/>
          <p:cNvSpPr/>
          <p:nvPr/>
        </p:nvSpPr>
        <p:spPr>
          <a:xfrm>
            <a:off x="1021080" y="2462530"/>
            <a:ext cx="2176679"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E2A33"/>
                </a:solidFill>
                <a:latin typeface="JetBrains Mono" pitchFamily="49" charset="0"/>
                <a:ea typeface="JetBrains Mono" pitchFamily="49" charset="-122"/>
                <a:cs typeface="JetBrains Mono" pitchFamily="49" charset="-120"/>
              </a:rPr>
              <a:t>MAX30102</a:t>
            </a:r>
            <a:endParaRPr lang="en-US" sz="1200" dirty="0"/>
          </a:p>
        </p:txBody>
      </p:sp>
      <p:sp>
        <p:nvSpPr>
          <p:cNvPr id="7" name="Text 5"/>
          <p:cNvSpPr/>
          <p:nvPr/>
        </p:nvSpPr>
        <p:spPr>
          <a:xfrm>
            <a:off x="1021080" y="2688591"/>
            <a:ext cx="2176679"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158"/>
                </a:solidFill>
                <a:latin typeface="IBM Plex Sans" pitchFamily="34" charset="0"/>
                <a:ea typeface="IBM Plex Sans" pitchFamily="34" charset="-122"/>
                <a:cs typeface="IBM Plex Sans" pitchFamily="34" charset="-120"/>
              </a:rPr>
              <a:t>Heart rate and SpO2, in a dark finger chamber</a:t>
            </a:r>
            <a:endParaRPr lang="en-US" sz="1200" dirty="0"/>
          </a:p>
        </p:txBody>
      </p:sp>
      <p:sp>
        <p:nvSpPr>
          <p:cNvPr id="8" name="Text 6"/>
          <p:cNvSpPr/>
          <p:nvPr/>
        </p:nvSpPr>
        <p:spPr>
          <a:xfrm>
            <a:off x="1021080" y="3216911"/>
            <a:ext cx="2176679"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E2A33"/>
                </a:solidFill>
                <a:latin typeface="JetBrains Mono" pitchFamily="49" charset="0"/>
                <a:ea typeface="JetBrains Mono" pitchFamily="49" charset="-122"/>
                <a:cs typeface="JetBrains Mono" pitchFamily="49" charset="-120"/>
              </a:rPr>
              <a:t>MLX90614</a:t>
            </a:r>
            <a:endParaRPr lang="en-US" sz="1200" dirty="0"/>
          </a:p>
        </p:txBody>
      </p:sp>
      <p:sp>
        <p:nvSpPr>
          <p:cNvPr id="9" name="Text 7"/>
          <p:cNvSpPr/>
          <p:nvPr/>
        </p:nvSpPr>
        <p:spPr>
          <a:xfrm>
            <a:off x="1021080" y="3442970"/>
            <a:ext cx="2176679"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158"/>
                </a:solidFill>
                <a:latin typeface="IBM Plex Sans" pitchFamily="34" charset="0"/>
                <a:ea typeface="IBM Plex Sans" pitchFamily="34" charset="-122"/>
                <a:cs typeface="IBM Plex Sans" pitchFamily="34" charset="-120"/>
              </a:rPr>
              <a:t>Forehead temperature, no touching</a:t>
            </a:r>
            <a:endParaRPr lang="en-US" sz="1200" dirty="0"/>
          </a:p>
        </p:txBody>
      </p:sp>
      <p:sp>
        <p:nvSpPr>
          <p:cNvPr id="10" name="Text 8"/>
          <p:cNvSpPr/>
          <p:nvPr/>
        </p:nvSpPr>
        <p:spPr>
          <a:xfrm>
            <a:off x="1021080" y="3971291"/>
            <a:ext cx="2176679"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E2A33"/>
                </a:solidFill>
                <a:latin typeface="JetBrains Mono" pitchFamily="49" charset="0"/>
                <a:ea typeface="JetBrains Mono" pitchFamily="49" charset="-122"/>
                <a:cs typeface="JetBrains Mono" pitchFamily="49" charset="-120"/>
              </a:rPr>
              <a:t>MAX30205</a:t>
            </a:r>
            <a:endParaRPr lang="en-US" sz="1200" dirty="0"/>
          </a:p>
        </p:txBody>
      </p:sp>
      <p:sp>
        <p:nvSpPr>
          <p:cNvPr id="11" name="Text 9"/>
          <p:cNvSpPr/>
          <p:nvPr/>
        </p:nvSpPr>
        <p:spPr>
          <a:xfrm>
            <a:off x="1021080" y="4197350"/>
            <a:ext cx="2176679"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158"/>
                </a:solidFill>
                <a:latin typeface="IBM Plex Sans" pitchFamily="34" charset="0"/>
                <a:ea typeface="IBM Plex Sans" pitchFamily="34" charset="-122"/>
                <a:cs typeface="IBM Plex Sans" pitchFamily="34" charset="-120"/>
              </a:rPr>
              <a:t>Contact temperature to cross-check the IR</a:t>
            </a:r>
            <a:endParaRPr lang="en-US" sz="1200" dirty="0"/>
          </a:p>
        </p:txBody>
      </p:sp>
      <p:sp>
        <p:nvSpPr>
          <p:cNvPr id="12" name="Shape 10"/>
          <p:cNvSpPr/>
          <p:nvPr/>
        </p:nvSpPr>
        <p:spPr>
          <a:xfrm>
            <a:off x="3498215" y="1882775"/>
            <a:ext cx="2523490" cy="3690620"/>
          </a:xfrm>
          <a:prstGeom prst="roundRect">
            <a:avLst>
              <a:gd name="adj" fmla="val 4907"/>
            </a:avLst>
          </a:prstGeom>
          <a:solidFill>
            <a:srgbClr val="FCFDFB"/>
          </a:solidFill>
          <a:ln w="6350">
            <a:solidFill>
              <a:srgbClr val="D3DDDA"/>
            </a:solidFill>
            <a:prstDash val="solid"/>
          </a:ln>
        </p:spPr>
        <p:txBody>
          <a:bodyPr/>
          <a:lstStyle/>
          <a:p>
            <a:endParaRPr lang="en-US"/>
          </a:p>
        </p:txBody>
      </p:sp>
      <p:sp>
        <p:nvSpPr>
          <p:cNvPr id="13" name="Text 11"/>
          <p:cNvSpPr/>
          <p:nvPr/>
        </p:nvSpPr>
        <p:spPr>
          <a:xfrm>
            <a:off x="3703320" y="2087880"/>
            <a:ext cx="2176679"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0C6D67"/>
                </a:solidFill>
                <a:latin typeface="Space Grotesk" pitchFamily="34" charset="0"/>
                <a:ea typeface="Space Grotesk" pitchFamily="34" charset="-122"/>
                <a:cs typeface="Space Grotesk" pitchFamily="34" charset="-120"/>
              </a:rPr>
              <a:t>Navigation</a:t>
            </a:r>
            <a:endParaRPr lang="en-US" sz="1500" dirty="0"/>
          </a:p>
        </p:txBody>
      </p:sp>
      <p:sp>
        <p:nvSpPr>
          <p:cNvPr id="14" name="Text 12"/>
          <p:cNvSpPr/>
          <p:nvPr/>
        </p:nvSpPr>
        <p:spPr>
          <a:xfrm>
            <a:off x="3703320" y="2462530"/>
            <a:ext cx="2176679"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E2A33"/>
                </a:solidFill>
                <a:latin typeface="JetBrains Mono" pitchFamily="49" charset="0"/>
                <a:ea typeface="JetBrains Mono" pitchFamily="49" charset="-122"/>
                <a:cs typeface="JetBrains Mono" pitchFamily="49" charset="-120"/>
              </a:rPr>
              <a:t>HC-SR04 ×2</a:t>
            </a:r>
            <a:endParaRPr lang="en-US" sz="1200" dirty="0"/>
          </a:p>
        </p:txBody>
      </p:sp>
      <p:sp>
        <p:nvSpPr>
          <p:cNvPr id="15" name="Text 13"/>
          <p:cNvSpPr/>
          <p:nvPr/>
        </p:nvSpPr>
        <p:spPr>
          <a:xfrm>
            <a:off x="3703320" y="2688591"/>
            <a:ext cx="2176679"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158"/>
                </a:solidFill>
                <a:latin typeface="IBM Plex Sans" pitchFamily="34" charset="0"/>
                <a:ea typeface="IBM Plex Sans" pitchFamily="34" charset="-122"/>
                <a:cs typeface="IBM Plex Sans" pitchFamily="34" charset="-120"/>
              </a:rPr>
              <a:t>Ultrasonic, front-left and front-right</a:t>
            </a:r>
            <a:endParaRPr lang="en-US" sz="1200" dirty="0"/>
          </a:p>
        </p:txBody>
      </p:sp>
      <p:sp>
        <p:nvSpPr>
          <p:cNvPr id="16" name="Text 14"/>
          <p:cNvSpPr/>
          <p:nvPr/>
        </p:nvSpPr>
        <p:spPr>
          <a:xfrm>
            <a:off x="3703320" y="3216911"/>
            <a:ext cx="2176679"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E2A33"/>
                </a:solidFill>
                <a:latin typeface="JetBrains Mono" pitchFamily="49" charset="0"/>
                <a:ea typeface="JetBrains Mono" pitchFamily="49" charset="-122"/>
                <a:cs typeface="JetBrains Mono" pitchFamily="49" charset="-120"/>
              </a:rPr>
              <a:t>VL53L0X ×2</a:t>
            </a:r>
            <a:endParaRPr lang="en-US" sz="1200" dirty="0"/>
          </a:p>
        </p:txBody>
      </p:sp>
      <p:sp>
        <p:nvSpPr>
          <p:cNvPr id="17" name="Text 15"/>
          <p:cNvSpPr/>
          <p:nvPr/>
        </p:nvSpPr>
        <p:spPr>
          <a:xfrm>
            <a:off x="3703320" y="3442970"/>
            <a:ext cx="2176679"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158"/>
                </a:solidFill>
                <a:latin typeface="IBM Plex Sans" pitchFamily="34" charset="0"/>
                <a:ea typeface="IBM Plex Sans" pitchFamily="34" charset="-122"/>
                <a:cs typeface="IBM Plex Sans" pitchFamily="34" charset="-120"/>
              </a:rPr>
              <a:t>Laser distance, side and low obstacles</a:t>
            </a:r>
            <a:endParaRPr lang="en-US" sz="1200" dirty="0"/>
          </a:p>
        </p:txBody>
      </p:sp>
      <p:sp>
        <p:nvSpPr>
          <p:cNvPr id="18" name="Text 16"/>
          <p:cNvSpPr/>
          <p:nvPr/>
        </p:nvSpPr>
        <p:spPr>
          <a:xfrm>
            <a:off x="3703320" y="3971291"/>
            <a:ext cx="2176679"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E2A33"/>
                </a:solidFill>
                <a:latin typeface="JetBrains Mono" pitchFamily="49" charset="0"/>
                <a:ea typeface="JetBrains Mono" pitchFamily="49" charset="-122"/>
                <a:cs typeface="JetBrains Mono" pitchFamily="49" charset="-120"/>
              </a:rPr>
              <a:t>MPU6050</a:t>
            </a:r>
            <a:endParaRPr lang="en-US" sz="1200" dirty="0"/>
          </a:p>
        </p:txBody>
      </p:sp>
      <p:sp>
        <p:nvSpPr>
          <p:cNvPr id="19" name="Text 17"/>
          <p:cNvSpPr/>
          <p:nvPr/>
        </p:nvSpPr>
        <p:spPr>
          <a:xfrm>
            <a:off x="3703320" y="4197350"/>
            <a:ext cx="2176679"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158"/>
                </a:solidFill>
                <a:latin typeface="IBM Plex Sans" pitchFamily="34" charset="0"/>
                <a:ea typeface="IBM Plex Sans" pitchFamily="34" charset="-122"/>
                <a:cs typeface="IBM Plex Sans" pitchFamily="34" charset="-120"/>
              </a:rPr>
              <a:t>IMU: heading between bed markers</a:t>
            </a:r>
            <a:endParaRPr lang="en-US" sz="1200" dirty="0"/>
          </a:p>
        </p:txBody>
      </p:sp>
      <p:sp>
        <p:nvSpPr>
          <p:cNvPr id="20" name="Text 18"/>
          <p:cNvSpPr/>
          <p:nvPr/>
        </p:nvSpPr>
        <p:spPr>
          <a:xfrm>
            <a:off x="3703320" y="4725670"/>
            <a:ext cx="2176679"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E2A33"/>
                </a:solidFill>
                <a:latin typeface="JetBrains Mono" pitchFamily="49" charset="0"/>
                <a:ea typeface="JetBrains Mono" pitchFamily="49" charset="-122"/>
                <a:cs typeface="JetBrains Mono" pitchFamily="49" charset="-120"/>
              </a:rPr>
              <a:t>Hall encoders ×2</a:t>
            </a:r>
            <a:endParaRPr lang="en-US" sz="1200" dirty="0"/>
          </a:p>
        </p:txBody>
      </p:sp>
      <p:sp>
        <p:nvSpPr>
          <p:cNvPr id="21" name="Text 19"/>
          <p:cNvSpPr/>
          <p:nvPr/>
        </p:nvSpPr>
        <p:spPr>
          <a:xfrm>
            <a:off x="3703320" y="4951730"/>
            <a:ext cx="217667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158"/>
                </a:solidFill>
                <a:latin typeface="IBM Plex Sans" pitchFamily="34" charset="0"/>
                <a:ea typeface="IBM Plex Sans" pitchFamily="34" charset="-122"/>
                <a:cs typeface="IBM Plex Sans" pitchFamily="34" charset="-120"/>
              </a:rPr>
              <a:t>Wheel speed and distance</a:t>
            </a:r>
            <a:endParaRPr lang="en-US" sz="1200" dirty="0"/>
          </a:p>
        </p:txBody>
      </p:sp>
      <p:sp>
        <p:nvSpPr>
          <p:cNvPr id="22" name="Shape 20"/>
          <p:cNvSpPr/>
          <p:nvPr/>
        </p:nvSpPr>
        <p:spPr>
          <a:xfrm>
            <a:off x="6180455" y="1882775"/>
            <a:ext cx="2523490" cy="3690620"/>
          </a:xfrm>
          <a:prstGeom prst="roundRect">
            <a:avLst>
              <a:gd name="adj" fmla="val 4907"/>
            </a:avLst>
          </a:prstGeom>
          <a:solidFill>
            <a:srgbClr val="FCFDFB"/>
          </a:solidFill>
          <a:ln w="6350">
            <a:solidFill>
              <a:srgbClr val="D3DDDA"/>
            </a:solidFill>
            <a:prstDash val="solid"/>
          </a:ln>
        </p:spPr>
        <p:txBody>
          <a:bodyPr/>
          <a:lstStyle/>
          <a:p>
            <a:endParaRPr lang="en-US"/>
          </a:p>
        </p:txBody>
      </p:sp>
      <p:sp>
        <p:nvSpPr>
          <p:cNvPr id="23" name="Text 21"/>
          <p:cNvSpPr/>
          <p:nvPr/>
        </p:nvSpPr>
        <p:spPr>
          <a:xfrm>
            <a:off x="6385560" y="2087880"/>
            <a:ext cx="2176679"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0C6D67"/>
                </a:solidFill>
                <a:latin typeface="Space Grotesk" pitchFamily="34" charset="0"/>
                <a:ea typeface="Space Grotesk" pitchFamily="34" charset="-122"/>
                <a:cs typeface="Space Grotesk" pitchFamily="34" charset="-120"/>
              </a:rPr>
              <a:t>Other sensors</a:t>
            </a:r>
            <a:endParaRPr lang="en-US" sz="1500" dirty="0"/>
          </a:p>
        </p:txBody>
      </p:sp>
      <p:sp>
        <p:nvSpPr>
          <p:cNvPr id="24" name="Text 22"/>
          <p:cNvSpPr/>
          <p:nvPr/>
        </p:nvSpPr>
        <p:spPr>
          <a:xfrm>
            <a:off x="6385560" y="2462530"/>
            <a:ext cx="2176679"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E2A33"/>
                </a:solidFill>
                <a:latin typeface="JetBrains Mono" pitchFamily="49" charset="0"/>
                <a:ea typeface="JetBrains Mono" pitchFamily="49" charset="-122"/>
                <a:cs typeface="JetBrains Mono" pitchFamily="49" charset="-120"/>
              </a:rPr>
              <a:t>Limit switch ×4</a:t>
            </a:r>
            <a:endParaRPr lang="en-US" sz="1200" dirty="0"/>
          </a:p>
        </p:txBody>
      </p:sp>
      <p:sp>
        <p:nvSpPr>
          <p:cNvPr id="25" name="Text 23"/>
          <p:cNvSpPr/>
          <p:nvPr/>
        </p:nvSpPr>
        <p:spPr>
          <a:xfrm>
            <a:off x="6385560" y="2688591"/>
            <a:ext cx="2176679"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158"/>
                </a:solidFill>
                <a:latin typeface="IBM Plex Sans" pitchFamily="34" charset="0"/>
                <a:ea typeface="IBM Plex Sans" pitchFamily="34" charset="-122"/>
                <a:cs typeface="IBM Plex Sans" pitchFamily="34" charset="-120"/>
              </a:rPr>
              <a:t>Confirms each drawer was opened</a:t>
            </a:r>
            <a:endParaRPr lang="en-US" sz="1200" dirty="0"/>
          </a:p>
        </p:txBody>
      </p:sp>
      <p:sp>
        <p:nvSpPr>
          <p:cNvPr id="26" name="Text 24"/>
          <p:cNvSpPr/>
          <p:nvPr/>
        </p:nvSpPr>
        <p:spPr>
          <a:xfrm>
            <a:off x="6385560" y="3216911"/>
            <a:ext cx="2176679"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E2A33"/>
                </a:solidFill>
                <a:latin typeface="JetBrains Mono" pitchFamily="49" charset="0"/>
                <a:ea typeface="JetBrains Mono" pitchFamily="49" charset="-122"/>
                <a:cs typeface="JetBrains Mono" pitchFamily="49" charset="-120"/>
              </a:rPr>
              <a:t>INA219</a:t>
            </a:r>
            <a:endParaRPr lang="en-US" sz="1200" dirty="0"/>
          </a:p>
        </p:txBody>
      </p:sp>
      <p:sp>
        <p:nvSpPr>
          <p:cNvPr id="27" name="Text 25"/>
          <p:cNvSpPr/>
          <p:nvPr/>
        </p:nvSpPr>
        <p:spPr>
          <a:xfrm>
            <a:off x="6385560" y="3442970"/>
            <a:ext cx="2176679"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158"/>
                </a:solidFill>
                <a:latin typeface="IBM Plex Sans" pitchFamily="34" charset="0"/>
                <a:ea typeface="IBM Plex Sans" pitchFamily="34" charset="-122"/>
                <a:cs typeface="IBM Plex Sans" pitchFamily="34" charset="-120"/>
              </a:rPr>
              <a:t>Battery level and motor-stall detection</a:t>
            </a:r>
            <a:endParaRPr lang="en-US" sz="1200" dirty="0"/>
          </a:p>
        </p:txBody>
      </p:sp>
      <p:sp>
        <p:nvSpPr>
          <p:cNvPr id="28" name="Text 26"/>
          <p:cNvSpPr/>
          <p:nvPr/>
        </p:nvSpPr>
        <p:spPr>
          <a:xfrm>
            <a:off x="6385560" y="3971291"/>
            <a:ext cx="2176679"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E2A33"/>
                </a:solidFill>
                <a:latin typeface="JetBrains Mono" pitchFamily="49" charset="0"/>
                <a:ea typeface="JetBrains Mono" pitchFamily="49" charset="-122"/>
                <a:cs typeface="JetBrains Mono" pitchFamily="49" charset="-120"/>
              </a:rPr>
              <a:t>USB webcam</a:t>
            </a:r>
            <a:endParaRPr lang="en-US" sz="1200" dirty="0"/>
          </a:p>
        </p:txBody>
      </p:sp>
      <p:sp>
        <p:nvSpPr>
          <p:cNvPr id="29" name="Text 27"/>
          <p:cNvSpPr/>
          <p:nvPr/>
        </p:nvSpPr>
        <p:spPr>
          <a:xfrm>
            <a:off x="6385560" y="4197350"/>
            <a:ext cx="2176679"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158"/>
                </a:solidFill>
                <a:latin typeface="IBM Plex Sans" pitchFamily="34" charset="0"/>
                <a:ea typeface="IBM Plex Sans" pitchFamily="34" charset="-122"/>
                <a:cs typeface="IBM Plex Sans" pitchFamily="34" charset="-120"/>
              </a:rPr>
              <a:t>1080p wide-angle: beds, markers, QR codes</a:t>
            </a:r>
            <a:endParaRPr lang="en-US" sz="1200" dirty="0"/>
          </a:p>
        </p:txBody>
      </p:sp>
      <p:sp>
        <p:nvSpPr>
          <p:cNvPr id="30" name="Shape 28"/>
          <p:cNvSpPr/>
          <p:nvPr/>
        </p:nvSpPr>
        <p:spPr>
          <a:xfrm>
            <a:off x="8859520" y="1879600"/>
            <a:ext cx="2519680" cy="3696970"/>
          </a:xfrm>
          <a:prstGeom prst="roundRect">
            <a:avLst>
              <a:gd name="adj" fmla="val 5040"/>
            </a:avLst>
          </a:prstGeom>
          <a:solidFill>
            <a:srgbClr val="0E2A33"/>
          </a:solidFill>
          <a:ln/>
        </p:spPr>
        <p:txBody>
          <a:bodyPr/>
          <a:lstStyle/>
          <a:p>
            <a:endParaRPr lang="en-US"/>
          </a:p>
        </p:txBody>
      </p:sp>
      <p:sp>
        <p:nvSpPr>
          <p:cNvPr id="31" name="Text 29"/>
          <p:cNvSpPr/>
          <p:nvPr/>
        </p:nvSpPr>
        <p:spPr>
          <a:xfrm>
            <a:off x="9062720" y="2082800"/>
            <a:ext cx="2176679"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3FC1B0"/>
                </a:solidFill>
                <a:latin typeface="Space Grotesk" pitchFamily="34" charset="0"/>
                <a:ea typeface="Space Grotesk" pitchFamily="34" charset="-122"/>
                <a:cs typeface="Space Grotesk" pitchFamily="34" charset="-120"/>
              </a:rPr>
              <a:t>Motors</a:t>
            </a:r>
            <a:endParaRPr lang="en-US" sz="1500" dirty="0"/>
          </a:p>
        </p:txBody>
      </p:sp>
      <p:sp>
        <p:nvSpPr>
          <p:cNvPr id="32" name="Text 30"/>
          <p:cNvSpPr/>
          <p:nvPr/>
        </p:nvSpPr>
        <p:spPr>
          <a:xfrm>
            <a:off x="9062720" y="2457450"/>
            <a:ext cx="2176679"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5F7F4"/>
                </a:solidFill>
                <a:latin typeface="JetBrains Mono" pitchFamily="49" charset="0"/>
                <a:ea typeface="JetBrains Mono" pitchFamily="49" charset="-122"/>
                <a:cs typeface="JetBrains Mono" pitchFamily="49" charset="-120"/>
              </a:rPr>
              <a:t>2× 12 V gear motor</a:t>
            </a:r>
            <a:endParaRPr lang="en-US" sz="1200" dirty="0"/>
          </a:p>
        </p:txBody>
      </p:sp>
      <p:sp>
        <p:nvSpPr>
          <p:cNvPr id="33" name="Text 31"/>
          <p:cNvSpPr/>
          <p:nvPr/>
        </p:nvSpPr>
        <p:spPr>
          <a:xfrm>
            <a:off x="9062720" y="2683511"/>
            <a:ext cx="2176679"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D6D2"/>
                </a:solidFill>
                <a:latin typeface="IBM Plex Sans" pitchFamily="34" charset="0"/>
                <a:ea typeface="IBM Plex Sans" pitchFamily="34" charset="-122"/>
                <a:cs typeface="IBM Plex Sans" pitchFamily="34" charset="-120"/>
              </a:rPr>
              <a:t>37 mm, ~100 RPM, 10 kg·cm or more</a:t>
            </a:r>
            <a:endParaRPr lang="en-US" sz="1200" dirty="0"/>
          </a:p>
        </p:txBody>
      </p:sp>
      <p:sp>
        <p:nvSpPr>
          <p:cNvPr id="34" name="Text 32"/>
          <p:cNvSpPr/>
          <p:nvPr/>
        </p:nvSpPr>
        <p:spPr>
          <a:xfrm>
            <a:off x="9062720" y="3211830"/>
            <a:ext cx="2176679"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5F7F4"/>
                </a:solidFill>
                <a:latin typeface="JetBrains Mono" pitchFamily="49" charset="0"/>
                <a:ea typeface="JetBrains Mono" pitchFamily="49" charset="-122"/>
                <a:cs typeface="JetBrains Mono" pitchFamily="49" charset="-120"/>
              </a:rPr>
              <a:t>2× DRV8871</a:t>
            </a:r>
            <a:endParaRPr lang="en-US" sz="1200" dirty="0"/>
          </a:p>
        </p:txBody>
      </p:sp>
      <p:sp>
        <p:nvSpPr>
          <p:cNvPr id="35" name="Text 33"/>
          <p:cNvSpPr/>
          <p:nvPr/>
        </p:nvSpPr>
        <p:spPr>
          <a:xfrm>
            <a:off x="9062720" y="3437891"/>
            <a:ext cx="2176679"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D6D2"/>
                </a:solidFill>
                <a:latin typeface="IBM Plex Sans" pitchFamily="34" charset="0"/>
                <a:ea typeface="IBM Plex Sans" pitchFamily="34" charset="-122"/>
                <a:cs typeface="IBM Plex Sans" pitchFamily="34" charset="-120"/>
              </a:rPr>
              <a:t>Motor driver, one per motor, 3.6 A peak</a:t>
            </a:r>
            <a:endParaRPr lang="en-US" sz="1200" dirty="0"/>
          </a:p>
        </p:txBody>
      </p:sp>
      <p:sp>
        <p:nvSpPr>
          <p:cNvPr id="36" name="Text 34"/>
          <p:cNvSpPr/>
          <p:nvPr/>
        </p:nvSpPr>
        <p:spPr>
          <a:xfrm>
            <a:off x="9062720" y="3966211"/>
            <a:ext cx="2176679"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5F7F4"/>
                </a:solidFill>
                <a:latin typeface="JetBrains Mono" pitchFamily="49" charset="0"/>
                <a:ea typeface="JetBrains Mono" pitchFamily="49" charset="-122"/>
                <a:cs typeface="JetBrains Mono" pitchFamily="49" charset="-120"/>
              </a:rPr>
              <a:t>4× MG90S servo</a:t>
            </a:r>
            <a:endParaRPr lang="en-US" sz="1200" dirty="0"/>
          </a:p>
        </p:txBody>
      </p:sp>
      <p:sp>
        <p:nvSpPr>
          <p:cNvPr id="37" name="Text 35"/>
          <p:cNvSpPr/>
          <p:nvPr/>
        </p:nvSpPr>
        <p:spPr>
          <a:xfrm>
            <a:off x="9062720" y="4192270"/>
            <a:ext cx="2176679"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D6D2"/>
                </a:solidFill>
                <a:latin typeface="IBM Plex Sans" pitchFamily="34" charset="0"/>
                <a:ea typeface="IBM Plex Sans" pitchFamily="34" charset="-122"/>
                <a:cs typeface="IBM Plex Sans" pitchFamily="34" charset="-120"/>
              </a:rPr>
              <a:t>3 drawer locks and the finger-slot lid</a:t>
            </a:r>
            <a:endParaRPr lang="en-US" sz="1200" dirty="0"/>
          </a:p>
        </p:txBody>
      </p:sp>
      <p:sp>
        <p:nvSpPr>
          <p:cNvPr id="38" name="Text 36"/>
          <p:cNvSpPr/>
          <p:nvPr/>
        </p:nvSpPr>
        <p:spPr>
          <a:xfrm>
            <a:off x="9062720" y="4720591"/>
            <a:ext cx="2176679"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5F7F4"/>
                </a:solidFill>
                <a:latin typeface="JetBrains Mono" pitchFamily="49" charset="0"/>
                <a:ea typeface="JetBrains Mono" pitchFamily="49" charset="-122"/>
                <a:cs typeface="JetBrains Mono" pitchFamily="49" charset="-120"/>
              </a:rPr>
              <a:t>Wheels</a:t>
            </a:r>
            <a:endParaRPr lang="en-US" sz="1200" dirty="0"/>
          </a:p>
        </p:txBody>
      </p:sp>
      <p:sp>
        <p:nvSpPr>
          <p:cNvPr id="39" name="Text 37"/>
          <p:cNvSpPr/>
          <p:nvPr/>
        </p:nvSpPr>
        <p:spPr>
          <a:xfrm>
            <a:off x="9062720" y="4946650"/>
            <a:ext cx="2176679"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D6D2"/>
                </a:solidFill>
                <a:latin typeface="IBM Plex Sans" pitchFamily="34" charset="0"/>
                <a:ea typeface="IBM Plex Sans" pitchFamily="34" charset="-122"/>
                <a:cs typeface="IBM Plex Sans" pitchFamily="34" charset="-120"/>
              </a:rPr>
              <a:t>85–100 mm rubber, plus 2 ball casters</a:t>
            </a:r>
            <a:endParaRPr lang="en-US" sz="1200" dirty="0"/>
          </a:p>
        </p:txBody>
      </p:sp>
      <p:sp>
        <p:nvSpPr>
          <p:cNvPr id="40" name="Text 38"/>
          <p:cNvSpPr/>
          <p:nvPr/>
        </p:nvSpPr>
        <p:spPr>
          <a:xfrm>
            <a:off x="812800" y="6238239"/>
            <a:ext cx="822359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76C"/>
                </a:solidFill>
                <a:latin typeface="IBM Plex Sans" pitchFamily="34" charset="0"/>
                <a:ea typeface="IBM Plex Sans" pitchFamily="34" charset="-122"/>
                <a:cs typeface="IBM Plex Sans" pitchFamily="34" charset="-120"/>
              </a:rPr>
              <a:t>The ESP32 reads every sensor except the webcam, which plugs into the Pi</a:t>
            </a:r>
            <a:endParaRPr lang="en-US" sz="1200" dirty="0"/>
          </a:p>
        </p:txBody>
      </p:sp>
      <p:sp>
        <p:nvSpPr>
          <p:cNvPr id="41" name="Text 39"/>
          <p:cNvSpPr/>
          <p:nvPr/>
        </p:nvSpPr>
        <p:spPr>
          <a:xfrm>
            <a:off x="11196320" y="6238239"/>
            <a:ext cx="233680" cy="23876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55676C"/>
                </a:solidFill>
                <a:latin typeface="IBM Plex Sans" pitchFamily="34" charset="0"/>
                <a:ea typeface="IBM Plex Sans" pitchFamily="34" charset="-122"/>
                <a:cs typeface="IBM Plex Sans"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7EEE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C6D67"/>
                </a:solidFill>
                <a:latin typeface="JetBrains Mono" pitchFamily="49" charset="0"/>
                <a:ea typeface="JetBrains Mono" pitchFamily="49" charset="-122"/>
                <a:cs typeface="JetBrains Mono" pitchFamily="49" charset="-120"/>
              </a:rPr>
              <a:t>PART 2 · ROS 2 · IBRAHIM TAMER</a:t>
            </a:r>
            <a:endParaRPr lang="en-US" sz="1200" dirty="0"/>
          </a:p>
        </p:txBody>
      </p:sp>
      <p:sp>
        <p:nvSpPr>
          <p:cNvPr id="3" name="Text 1"/>
          <p:cNvSpPr>
            <a:spLocks noGrp="1"/>
          </p:cNvSpPr>
          <p:nvPr>
            <p:ph type="title"/>
          </p:nvPr>
        </p:nvSpPr>
        <p:spPr>
          <a:xfrm>
            <a:off x="812800" y="11277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E2A33"/>
                </a:solidFill>
                <a:latin typeface="Space Grotesk" pitchFamily="34" charset="0"/>
                <a:ea typeface="Space Grotesk" pitchFamily="34" charset="-122"/>
                <a:cs typeface="Space Grotesk" pitchFamily="34" charset="-120"/>
              </a:rPr>
              <a:t>ROS 2 ties every part together</a:t>
            </a:r>
            <a:endParaRPr lang="en-US" sz="3200" dirty="0"/>
          </a:p>
        </p:txBody>
      </p:sp>
      <p:sp>
        <p:nvSpPr>
          <p:cNvPr id="4" name="Shape 2"/>
          <p:cNvSpPr/>
          <p:nvPr/>
        </p:nvSpPr>
        <p:spPr>
          <a:xfrm>
            <a:off x="812800" y="1879600"/>
            <a:ext cx="4826000" cy="1986280"/>
          </a:xfrm>
          <a:prstGeom prst="roundRect">
            <a:avLst>
              <a:gd name="adj" fmla="val 7692"/>
            </a:avLst>
          </a:prstGeom>
          <a:solidFill>
            <a:srgbClr val="0E2A33"/>
          </a:solidFill>
          <a:ln/>
        </p:spPr>
        <p:txBody>
          <a:bodyPr/>
          <a:lstStyle/>
          <a:p>
            <a:endParaRPr lang="en-US"/>
          </a:p>
        </p:txBody>
      </p:sp>
      <p:sp>
        <p:nvSpPr>
          <p:cNvPr id="5" name="Text 3"/>
          <p:cNvSpPr/>
          <p:nvPr/>
        </p:nvSpPr>
        <p:spPr>
          <a:xfrm>
            <a:off x="1016000" y="2082800"/>
            <a:ext cx="4552188"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FC1B0"/>
                </a:solidFill>
                <a:latin typeface="JetBrains Mono" pitchFamily="49" charset="0"/>
                <a:ea typeface="JetBrains Mono" pitchFamily="49" charset="-122"/>
                <a:cs typeface="JetBrains Mono" pitchFamily="49" charset="-120"/>
              </a:rPr>
              <a:t>Raspberry Pi 5 · ROS 2 Jazzy</a:t>
            </a:r>
            <a:endParaRPr lang="en-US" sz="1200" dirty="0"/>
          </a:p>
        </p:txBody>
      </p:sp>
      <p:sp>
        <p:nvSpPr>
          <p:cNvPr id="6" name="Pill 1"/>
          <p:cNvSpPr/>
          <p:nvPr/>
        </p:nvSpPr>
        <p:spPr>
          <a:xfrm>
            <a:off x="1019175" y="2400936"/>
            <a:ext cx="730250" cy="252730"/>
          </a:xfrm>
          <a:custGeom>
            <a:avLst/>
            <a:gdLst/>
            <a:ahLst/>
            <a:cxnLst/>
            <a:rect l="l" t="t" r="r" b="b"/>
            <a:pathLst>
              <a:path w="730250" h="252730">
                <a:moveTo>
                  <a:pt x="126365" y="0"/>
                </a:moveTo>
                <a:lnTo>
                  <a:pt x="603885" y="0"/>
                </a:lnTo>
                <a:arcTo wR="126365" hR="126365" stAng="16200000" swAng="5400000"/>
                <a:lnTo>
                  <a:pt x="730250" y="126365"/>
                </a:lnTo>
                <a:arcTo wR="126365" hR="126365" stAng="0" swAng="5400000"/>
                <a:lnTo>
                  <a:pt x="126365" y="252730"/>
                </a:lnTo>
                <a:arcTo wR="126365" hR="126365" stAng="5400000" swAng="5400000"/>
                <a:lnTo>
                  <a:pt x="0" y="126365"/>
                </a:lnTo>
                <a:arcTo wR="126365" hR="126365" stAng="10800000" swAng="5400000"/>
                <a:close/>
              </a:path>
            </a:pathLst>
          </a:custGeom>
          <a:solidFill>
            <a:srgbClr val="163A45"/>
          </a:solidFill>
          <a:ln w="6350">
            <a:solidFill>
              <a:srgbClr val="3FC1B0"/>
            </a:solidFill>
            <a:prstDash val="solid"/>
          </a:ln>
        </p:spPr>
        <p:txBody>
          <a:bodyPr wrap="none" lIns="0" tIns="0" rIns="0" bIns="0" rtlCol="0" anchor="ctr">
            <a:normAutofit/>
          </a:bodyPr>
          <a:lstStyle/>
          <a:p>
            <a:pPr marL="0" indent="0" algn="ctr">
              <a:lnSpc>
                <a:spcPts val="1560"/>
              </a:lnSpc>
              <a:buNone/>
            </a:pPr>
            <a:r>
              <a:rPr lang="en-US" sz="1200" dirty="0">
                <a:solidFill>
                  <a:srgbClr val="F5F7F4"/>
                </a:solidFill>
                <a:latin typeface="JetBrains Mono" pitchFamily="49" charset="0"/>
                <a:ea typeface="JetBrains Mono" pitchFamily="49" charset="-122"/>
                <a:cs typeface="JetBrains Mono" pitchFamily="49" charset="-120"/>
              </a:rPr>
              <a:t>camera</a:t>
            </a:r>
            <a:endParaRPr lang="en-US" sz="1200" dirty="0"/>
          </a:p>
        </p:txBody>
      </p:sp>
      <p:sp>
        <p:nvSpPr>
          <p:cNvPr id="7" name="Pill 2"/>
          <p:cNvSpPr/>
          <p:nvPr/>
        </p:nvSpPr>
        <p:spPr>
          <a:xfrm>
            <a:off x="1831975" y="2400936"/>
            <a:ext cx="1553210" cy="252730"/>
          </a:xfrm>
          <a:custGeom>
            <a:avLst/>
            <a:gdLst/>
            <a:ahLst/>
            <a:cxnLst/>
            <a:rect l="l" t="t" r="r" b="b"/>
            <a:pathLst>
              <a:path w="1553210" h="252730">
                <a:moveTo>
                  <a:pt x="126365" y="0"/>
                </a:moveTo>
                <a:lnTo>
                  <a:pt x="1426845" y="0"/>
                </a:lnTo>
                <a:arcTo wR="126365" hR="126365" stAng="16200000" swAng="5400000"/>
                <a:lnTo>
                  <a:pt x="1553210" y="126365"/>
                </a:lnTo>
                <a:arcTo wR="126365" hR="126365" stAng="0" swAng="5400000"/>
                <a:lnTo>
                  <a:pt x="126365" y="252730"/>
                </a:lnTo>
                <a:arcTo wR="126365" hR="126365" stAng="5400000" swAng="5400000"/>
                <a:lnTo>
                  <a:pt x="0" y="126365"/>
                </a:lnTo>
                <a:arcTo wR="126365" hR="126365" stAng="10800000" swAng="5400000"/>
                <a:close/>
              </a:path>
            </a:pathLst>
          </a:custGeom>
          <a:solidFill>
            <a:srgbClr val="163A45"/>
          </a:solidFill>
          <a:ln w="6350">
            <a:solidFill>
              <a:srgbClr val="3FC1B0"/>
            </a:solidFill>
            <a:prstDash val="solid"/>
          </a:ln>
        </p:spPr>
        <p:txBody>
          <a:bodyPr wrap="none" lIns="0" tIns="0" rIns="0" bIns="0" rtlCol="0" anchor="ctr">
            <a:normAutofit/>
          </a:bodyPr>
          <a:lstStyle/>
          <a:p>
            <a:pPr marL="0" indent="0" algn="ctr">
              <a:lnSpc>
                <a:spcPts val="1560"/>
              </a:lnSpc>
              <a:buNone/>
            </a:pPr>
            <a:r>
              <a:rPr lang="en-US" sz="1200" dirty="0">
                <a:solidFill>
                  <a:srgbClr val="F5F7F4"/>
                </a:solidFill>
                <a:latin typeface="JetBrains Mono" pitchFamily="49" charset="0"/>
                <a:ea typeface="JetBrains Mono" pitchFamily="49" charset="-122"/>
                <a:cs typeface="JetBrains Mono" pitchFamily="49" charset="-120"/>
              </a:rPr>
              <a:t>marker_detector</a:t>
            </a:r>
            <a:endParaRPr lang="en-US" sz="1200" dirty="0"/>
          </a:p>
        </p:txBody>
      </p:sp>
      <p:sp>
        <p:nvSpPr>
          <p:cNvPr id="8" name="Pill 3"/>
          <p:cNvSpPr/>
          <p:nvPr/>
        </p:nvSpPr>
        <p:spPr>
          <a:xfrm>
            <a:off x="3467735" y="2400936"/>
            <a:ext cx="1370330" cy="252730"/>
          </a:xfrm>
          <a:custGeom>
            <a:avLst/>
            <a:gdLst/>
            <a:ahLst/>
            <a:cxnLst/>
            <a:rect l="l" t="t" r="r" b="b"/>
            <a:pathLst>
              <a:path w="1370330" h="252730">
                <a:moveTo>
                  <a:pt x="126365" y="0"/>
                </a:moveTo>
                <a:lnTo>
                  <a:pt x="1243965" y="0"/>
                </a:lnTo>
                <a:arcTo wR="126365" hR="126365" stAng="16200000" swAng="5400000"/>
                <a:lnTo>
                  <a:pt x="1370330" y="126365"/>
                </a:lnTo>
                <a:arcTo wR="126365" hR="126365" stAng="0" swAng="5400000"/>
                <a:lnTo>
                  <a:pt x="126365" y="252730"/>
                </a:lnTo>
                <a:arcTo wR="126365" hR="126365" stAng="5400000" swAng="5400000"/>
                <a:lnTo>
                  <a:pt x="0" y="126365"/>
                </a:lnTo>
                <a:arcTo wR="126365" hR="126365" stAng="10800000" swAng="5400000"/>
                <a:close/>
              </a:path>
            </a:pathLst>
          </a:custGeom>
          <a:solidFill>
            <a:srgbClr val="163A45"/>
          </a:solidFill>
          <a:ln w="6350">
            <a:solidFill>
              <a:srgbClr val="3FC1B0"/>
            </a:solidFill>
            <a:prstDash val="solid"/>
          </a:ln>
        </p:spPr>
        <p:txBody>
          <a:bodyPr wrap="none" lIns="0" tIns="0" rIns="0" bIns="0" rtlCol="0" anchor="ctr">
            <a:normAutofit/>
          </a:bodyPr>
          <a:lstStyle/>
          <a:p>
            <a:pPr marL="0" indent="0" algn="ctr">
              <a:lnSpc>
                <a:spcPts val="1560"/>
              </a:lnSpc>
              <a:buNone/>
            </a:pPr>
            <a:r>
              <a:rPr lang="en-US" sz="1200" dirty="0">
                <a:solidFill>
                  <a:srgbClr val="F5F7F4"/>
                </a:solidFill>
                <a:latin typeface="JetBrains Mono" pitchFamily="49" charset="0"/>
                <a:ea typeface="JetBrains Mono" pitchFamily="49" charset="-122"/>
                <a:cs typeface="JetBrains Mono" pitchFamily="49" charset="-120"/>
              </a:rPr>
              <a:t>yolo_detector</a:t>
            </a:r>
            <a:endParaRPr lang="en-US" sz="1200" dirty="0"/>
          </a:p>
        </p:txBody>
      </p:sp>
      <p:sp>
        <p:nvSpPr>
          <p:cNvPr id="9" name="Pill 4"/>
          <p:cNvSpPr/>
          <p:nvPr/>
        </p:nvSpPr>
        <p:spPr>
          <a:xfrm>
            <a:off x="1019175" y="2736214"/>
            <a:ext cx="1370330" cy="252730"/>
          </a:xfrm>
          <a:custGeom>
            <a:avLst/>
            <a:gdLst/>
            <a:ahLst/>
            <a:cxnLst/>
            <a:rect l="l" t="t" r="r" b="b"/>
            <a:pathLst>
              <a:path w="1370330" h="252730">
                <a:moveTo>
                  <a:pt x="126365" y="0"/>
                </a:moveTo>
                <a:lnTo>
                  <a:pt x="1243965" y="0"/>
                </a:lnTo>
                <a:arcTo wR="126365" hR="126365" stAng="16200000" swAng="5400000"/>
                <a:lnTo>
                  <a:pt x="1370330" y="126365"/>
                </a:lnTo>
                <a:arcTo wR="126365" hR="126365" stAng="0" swAng="5400000"/>
                <a:lnTo>
                  <a:pt x="126365" y="252730"/>
                </a:lnTo>
                <a:arcTo wR="126365" hR="126365" stAng="5400000" swAng="5400000"/>
                <a:lnTo>
                  <a:pt x="0" y="126365"/>
                </a:lnTo>
                <a:arcTo wR="126365" hR="126365" stAng="10800000" swAng="5400000"/>
                <a:close/>
              </a:path>
            </a:pathLst>
          </a:custGeom>
          <a:solidFill>
            <a:srgbClr val="163A45"/>
          </a:solidFill>
          <a:ln w="6350">
            <a:solidFill>
              <a:srgbClr val="3FC1B0"/>
            </a:solidFill>
            <a:prstDash val="solid"/>
          </a:ln>
        </p:spPr>
        <p:txBody>
          <a:bodyPr wrap="none" lIns="0" tIns="0" rIns="0" bIns="0" rtlCol="0" anchor="ctr">
            <a:normAutofit/>
          </a:bodyPr>
          <a:lstStyle/>
          <a:p>
            <a:pPr marL="0" indent="0" algn="ctr">
              <a:lnSpc>
                <a:spcPts val="1560"/>
              </a:lnSpc>
              <a:buNone/>
            </a:pPr>
            <a:r>
              <a:rPr lang="en-US" sz="1200" dirty="0">
                <a:solidFill>
                  <a:srgbClr val="F5F7F4"/>
                </a:solidFill>
                <a:latin typeface="JetBrains Mono" pitchFamily="49" charset="0"/>
                <a:ea typeface="JetBrains Mono" pitchFamily="49" charset="-122"/>
                <a:cs typeface="JetBrains Mono" pitchFamily="49" charset="-120"/>
              </a:rPr>
              <a:t>route_planner</a:t>
            </a:r>
            <a:endParaRPr lang="en-US" sz="1200" dirty="0"/>
          </a:p>
        </p:txBody>
      </p:sp>
      <p:sp>
        <p:nvSpPr>
          <p:cNvPr id="10" name="Pill 5"/>
          <p:cNvSpPr/>
          <p:nvPr/>
        </p:nvSpPr>
        <p:spPr>
          <a:xfrm>
            <a:off x="2472055" y="2736214"/>
            <a:ext cx="1004570" cy="252730"/>
          </a:xfrm>
          <a:custGeom>
            <a:avLst/>
            <a:gdLst/>
            <a:ahLst/>
            <a:cxnLst/>
            <a:rect l="l" t="t" r="r" b="b"/>
            <a:pathLst>
              <a:path w="1004570" h="252730">
                <a:moveTo>
                  <a:pt x="126365" y="0"/>
                </a:moveTo>
                <a:lnTo>
                  <a:pt x="878205" y="0"/>
                </a:lnTo>
                <a:arcTo wR="126365" hR="126365" stAng="16200000" swAng="5400000"/>
                <a:lnTo>
                  <a:pt x="1004570" y="126365"/>
                </a:lnTo>
                <a:arcTo wR="126365" hR="126365" stAng="0" swAng="5400000"/>
                <a:lnTo>
                  <a:pt x="126365" y="252730"/>
                </a:lnTo>
                <a:arcTo wR="126365" hR="126365" stAng="5400000" swAng="5400000"/>
                <a:lnTo>
                  <a:pt x="0" y="126365"/>
                </a:lnTo>
                <a:arcTo wR="126365" hR="126365" stAng="10800000" swAng="5400000"/>
                <a:close/>
              </a:path>
            </a:pathLst>
          </a:custGeom>
          <a:solidFill>
            <a:srgbClr val="163A45"/>
          </a:solidFill>
          <a:ln w="6350">
            <a:solidFill>
              <a:srgbClr val="3FC1B0"/>
            </a:solidFill>
            <a:prstDash val="solid"/>
          </a:ln>
        </p:spPr>
        <p:txBody>
          <a:bodyPr wrap="none" lIns="0" tIns="0" rIns="0" bIns="0" rtlCol="0" anchor="ctr">
            <a:normAutofit/>
          </a:bodyPr>
          <a:lstStyle/>
          <a:p>
            <a:pPr marL="0" indent="0" algn="ctr">
              <a:lnSpc>
                <a:spcPts val="1560"/>
              </a:lnSpc>
              <a:buNone/>
            </a:pPr>
            <a:r>
              <a:rPr lang="en-US" sz="1200" dirty="0">
                <a:solidFill>
                  <a:srgbClr val="F5F7F4"/>
                </a:solidFill>
                <a:latin typeface="JetBrains Mono" pitchFamily="49" charset="0"/>
                <a:ea typeface="JetBrains Mono" pitchFamily="49" charset="-122"/>
                <a:cs typeface="JetBrains Mono" pitchFamily="49" charset="-120"/>
              </a:rPr>
              <a:t>navigator</a:t>
            </a:r>
            <a:endParaRPr lang="en-US" sz="1200" dirty="0"/>
          </a:p>
        </p:txBody>
      </p:sp>
      <p:sp>
        <p:nvSpPr>
          <p:cNvPr id="11" name="Pill 6"/>
          <p:cNvSpPr/>
          <p:nvPr/>
        </p:nvSpPr>
        <p:spPr>
          <a:xfrm>
            <a:off x="3559175" y="2736214"/>
            <a:ext cx="913130" cy="252730"/>
          </a:xfrm>
          <a:custGeom>
            <a:avLst/>
            <a:gdLst/>
            <a:ahLst/>
            <a:cxnLst/>
            <a:rect l="l" t="t" r="r" b="b"/>
            <a:pathLst>
              <a:path w="913130" h="252730">
                <a:moveTo>
                  <a:pt x="126365" y="0"/>
                </a:moveTo>
                <a:lnTo>
                  <a:pt x="786765" y="0"/>
                </a:lnTo>
                <a:arcTo wR="126365" hR="126365" stAng="16200000" swAng="5400000"/>
                <a:lnTo>
                  <a:pt x="913130" y="126365"/>
                </a:lnTo>
                <a:arcTo wR="126365" hR="126365" stAng="0" swAng="5400000"/>
                <a:lnTo>
                  <a:pt x="126365" y="252730"/>
                </a:lnTo>
                <a:arcTo wR="126365" hR="126365" stAng="5400000" swAng="5400000"/>
                <a:lnTo>
                  <a:pt x="0" y="126365"/>
                </a:lnTo>
                <a:arcTo wR="126365" hR="126365" stAng="10800000" swAng="5400000"/>
                <a:close/>
              </a:path>
            </a:pathLst>
          </a:custGeom>
          <a:solidFill>
            <a:srgbClr val="163A45"/>
          </a:solidFill>
          <a:ln w="6350">
            <a:solidFill>
              <a:srgbClr val="3FC1B0"/>
            </a:solidFill>
            <a:prstDash val="solid"/>
          </a:ln>
        </p:spPr>
        <p:txBody>
          <a:bodyPr wrap="none" lIns="0" tIns="0" rIns="0" bIns="0" rtlCol="0" anchor="ctr">
            <a:normAutofit/>
          </a:bodyPr>
          <a:lstStyle/>
          <a:p>
            <a:pPr marL="0" indent="0" algn="ctr">
              <a:lnSpc>
                <a:spcPts val="1560"/>
              </a:lnSpc>
              <a:buNone/>
            </a:pPr>
            <a:r>
              <a:rPr lang="en-US" sz="1200" dirty="0">
                <a:solidFill>
                  <a:srgbClr val="F5F7F4"/>
                </a:solidFill>
                <a:latin typeface="JetBrains Mono" pitchFamily="49" charset="0"/>
                <a:ea typeface="JetBrains Mono" pitchFamily="49" charset="-122"/>
                <a:cs typeface="JetBrains Mono" pitchFamily="49" charset="-120"/>
              </a:rPr>
              <a:t>odometry</a:t>
            </a:r>
            <a:endParaRPr lang="en-US" sz="1200" dirty="0"/>
          </a:p>
        </p:txBody>
      </p:sp>
      <p:sp>
        <p:nvSpPr>
          <p:cNvPr id="12" name="Pill 7"/>
          <p:cNvSpPr/>
          <p:nvPr/>
        </p:nvSpPr>
        <p:spPr>
          <a:xfrm>
            <a:off x="1019175" y="3071496"/>
            <a:ext cx="1370330" cy="252730"/>
          </a:xfrm>
          <a:custGeom>
            <a:avLst/>
            <a:gdLst/>
            <a:ahLst/>
            <a:cxnLst/>
            <a:rect l="l" t="t" r="r" b="b"/>
            <a:pathLst>
              <a:path w="1370330" h="252730">
                <a:moveTo>
                  <a:pt x="126365" y="0"/>
                </a:moveTo>
                <a:lnTo>
                  <a:pt x="1243965" y="0"/>
                </a:lnTo>
                <a:arcTo wR="126365" hR="126365" stAng="16200000" swAng="5400000"/>
                <a:lnTo>
                  <a:pt x="1370330" y="126365"/>
                </a:lnTo>
                <a:arcTo wR="126365" hR="126365" stAng="0" swAng="5400000"/>
                <a:lnTo>
                  <a:pt x="126365" y="252730"/>
                </a:lnTo>
                <a:arcTo wR="126365" hR="126365" stAng="5400000" swAng="5400000"/>
                <a:lnTo>
                  <a:pt x="0" y="126365"/>
                </a:lnTo>
                <a:arcTo wR="126365" hR="126365" stAng="10800000" swAng="5400000"/>
                <a:close/>
              </a:path>
            </a:pathLst>
          </a:custGeom>
          <a:solidFill>
            <a:srgbClr val="163A45"/>
          </a:solidFill>
          <a:ln w="6350">
            <a:solidFill>
              <a:srgbClr val="3FC1B0"/>
            </a:solidFill>
            <a:prstDash val="solid"/>
          </a:ln>
        </p:spPr>
        <p:txBody>
          <a:bodyPr wrap="none" lIns="0" tIns="0" rIns="0" bIns="0" rtlCol="0" anchor="ctr">
            <a:normAutofit/>
          </a:bodyPr>
          <a:lstStyle/>
          <a:p>
            <a:pPr marL="0" indent="0" algn="ctr">
              <a:lnSpc>
                <a:spcPts val="1560"/>
              </a:lnSpc>
              <a:buNone/>
            </a:pPr>
            <a:r>
              <a:rPr lang="en-US" sz="1200" dirty="0">
                <a:solidFill>
                  <a:srgbClr val="F5F7F4"/>
                </a:solidFill>
                <a:latin typeface="JetBrains Mono" pitchFamily="49" charset="0"/>
                <a:ea typeface="JetBrains Mono" pitchFamily="49" charset="-122"/>
                <a:cs typeface="JetBrains Mono" pitchFamily="49" charset="-120"/>
              </a:rPr>
              <a:t>serial_bridge</a:t>
            </a:r>
            <a:endParaRPr lang="en-US" sz="1200" dirty="0"/>
          </a:p>
        </p:txBody>
      </p:sp>
      <p:sp>
        <p:nvSpPr>
          <p:cNvPr id="13" name="Pill 8"/>
          <p:cNvSpPr/>
          <p:nvPr/>
        </p:nvSpPr>
        <p:spPr>
          <a:xfrm>
            <a:off x="2472055" y="3071496"/>
            <a:ext cx="1553210" cy="252730"/>
          </a:xfrm>
          <a:custGeom>
            <a:avLst/>
            <a:gdLst/>
            <a:ahLst/>
            <a:cxnLst/>
            <a:rect l="l" t="t" r="r" b="b"/>
            <a:pathLst>
              <a:path w="1553210" h="252730">
                <a:moveTo>
                  <a:pt x="126365" y="0"/>
                </a:moveTo>
                <a:lnTo>
                  <a:pt x="1426845" y="0"/>
                </a:lnTo>
                <a:arcTo wR="126365" hR="126365" stAng="16200000" swAng="5400000"/>
                <a:lnTo>
                  <a:pt x="1553210" y="126365"/>
                </a:lnTo>
                <a:arcTo wR="126365" hR="126365" stAng="0" swAng="5400000"/>
                <a:lnTo>
                  <a:pt x="126365" y="252730"/>
                </a:lnTo>
                <a:arcTo wR="126365" hR="126365" stAng="5400000" swAng="5400000"/>
                <a:lnTo>
                  <a:pt x="0" y="126365"/>
                </a:lnTo>
                <a:arcTo wR="126365" hR="126365" stAng="10800000" swAng="5400000"/>
                <a:close/>
              </a:path>
            </a:pathLst>
          </a:custGeom>
          <a:solidFill>
            <a:srgbClr val="163A45"/>
          </a:solidFill>
          <a:ln w="6350">
            <a:solidFill>
              <a:srgbClr val="3FC1B0"/>
            </a:solidFill>
            <a:prstDash val="solid"/>
          </a:ln>
        </p:spPr>
        <p:txBody>
          <a:bodyPr wrap="none" lIns="0" tIns="0" rIns="0" bIns="0" rtlCol="0" anchor="ctr">
            <a:normAutofit/>
          </a:bodyPr>
          <a:lstStyle/>
          <a:p>
            <a:pPr marL="0" indent="0" algn="ctr">
              <a:lnSpc>
                <a:spcPts val="1560"/>
              </a:lnSpc>
              <a:buNone/>
            </a:pPr>
            <a:r>
              <a:rPr lang="en-US" sz="1200" dirty="0">
                <a:solidFill>
                  <a:srgbClr val="F5F7F4"/>
                </a:solidFill>
                <a:latin typeface="JetBrains Mono" pitchFamily="49" charset="0"/>
                <a:ea typeface="JetBrains Mono" pitchFamily="49" charset="-122"/>
                <a:cs typeface="JetBrains Mono" pitchFamily="49" charset="-120"/>
              </a:rPr>
              <a:t>mission_manager</a:t>
            </a:r>
            <a:endParaRPr lang="en-US" sz="1200" dirty="0"/>
          </a:p>
        </p:txBody>
      </p:sp>
      <p:sp>
        <p:nvSpPr>
          <p:cNvPr id="30" name="Pill 10"/>
          <p:cNvSpPr/>
          <p:nvPr/>
        </p:nvSpPr>
        <p:spPr>
          <a:xfrm>
            <a:off x="1019175" y="3406776"/>
            <a:ext cx="1096010" cy="252730"/>
          </a:xfrm>
          <a:custGeom>
            <a:avLst/>
            <a:gdLst/>
            <a:ahLst/>
            <a:cxnLst/>
            <a:rect l="l" t="t" r="r" b="b"/>
            <a:pathLst>
              <a:path w="1096010" h="252730">
                <a:moveTo>
                  <a:pt x="126365" y="0"/>
                </a:moveTo>
                <a:lnTo>
                  <a:pt x="969645" y="0"/>
                </a:lnTo>
                <a:arcTo wR="126365" hR="126365" stAng="16200000" swAng="5400000"/>
                <a:lnTo>
                  <a:pt x="1096010" y="126365"/>
                </a:lnTo>
                <a:arcTo wR="126365" hR="126365" stAng="0" swAng="5400000"/>
                <a:lnTo>
                  <a:pt x="126365" y="252730"/>
                </a:lnTo>
                <a:arcTo wR="126365" hR="126365" stAng="5400000" swAng="5400000"/>
                <a:lnTo>
                  <a:pt x="0" y="126365"/>
                </a:lnTo>
                <a:arcTo wR="126365" hR="126365" stAng="10800000" swAng="5400000"/>
                <a:close/>
              </a:path>
            </a:pathLst>
          </a:custGeom>
          <a:solidFill>
            <a:srgbClr val="163A45"/>
          </a:solidFill>
          <a:ln w="6350">
            <a:solidFill>
              <a:srgbClr val="3FC1B0"/>
            </a:solidFill>
            <a:prstDash val="solid"/>
          </a:ln>
        </p:spPr>
        <p:txBody>
          <a:bodyPr wrap="none" lIns="0" tIns="0" rIns="0" bIns="0" rtlCol="0" anchor="ctr">
            <a:normAutofit/>
          </a:bodyPr>
          <a:lstStyle/>
          <a:p>
            <a:pPr marL="0" indent="0" algn="ctr">
              <a:lnSpc>
                <a:spcPts val="1560"/>
              </a:lnSpc>
              <a:buNone/>
            </a:pPr>
            <a:r>
              <a:rPr lang="en-US" sz="1200" dirty="0">
                <a:solidFill>
                  <a:srgbClr val="F5F7F4"/>
                </a:solidFill>
                <a:latin typeface="JetBrains Mono" pitchFamily="49" charset="0"/>
                <a:ea typeface="JetBrains Mono" pitchFamily="49" charset="-122"/>
                <a:cs typeface="JetBrains Mono" pitchFamily="49" charset="-120"/>
              </a:rPr>
              <a:t>patient_id</a:t>
            </a:r>
            <a:endParaRPr lang="en-US" sz="1200" dirty="0"/>
          </a:p>
        </p:txBody>
      </p:sp>
      <p:sp>
        <p:nvSpPr>
          <p:cNvPr id="31" name="Pill 11"/>
          <p:cNvSpPr/>
          <p:nvPr/>
        </p:nvSpPr>
        <p:spPr>
          <a:xfrm>
            <a:off x="2197735" y="3406776"/>
            <a:ext cx="1553210" cy="252730"/>
          </a:xfrm>
          <a:custGeom>
            <a:avLst/>
            <a:gdLst/>
            <a:ahLst/>
            <a:cxnLst/>
            <a:rect l="l" t="t" r="r" b="b"/>
            <a:pathLst>
              <a:path w="1553210" h="252730">
                <a:moveTo>
                  <a:pt x="126365" y="0"/>
                </a:moveTo>
                <a:lnTo>
                  <a:pt x="1426845" y="0"/>
                </a:lnTo>
                <a:arcTo wR="126365" hR="126365" stAng="16200000" swAng="5400000"/>
                <a:lnTo>
                  <a:pt x="1553210" y="126365"/>
                </a:lnTo>
                <a:arcTo wR="126365" hR="126365" stAng="0" swAng="5400000"/>
                <a:lnTo>
                  <a:pt x="126365" y="252730"/>
                </a:lnTo>
                <a:arcTo wR="126365" hR="126365" stAng="5400000" swAng="5400000"/>
                <a:lnTo>
                  <a:pt x="0" y="126365"/>
                </a:lnTo>
                <a:arcTo wR="126365" hR="126365" stAng="10800000" swAng="5400000"/>
                <a:close/>
              </a:path>
            </a:pathLst>
          </a:custGeom>
          <a:solidFill>
            <a:srgbClr val="163A45"/>
          </a:solidFill>
          <a:ln w="6350">
            <a:solidFill>
              <a:srgbClr val="3FC1B0"/>
            </a:solidFill>
            <a:prstDash val="solid"/>
          </a:ln>
        </p:spPr>
        <p:txBody>
          <a:bodyPr wrap="none" lIns="0" tIns="0" rIns="0" bIns="0" rtlCol="0" anchor="ctr">
            <a:normAutofit/>
          </a:bodyPr>
          <a:lstStyle/>
          <a:p>
            <a:pPr marL="0" indent="0" algn="ctr">
              <a:lnSpc>
                <a:spcPts val="1560"/>
              </a:lnSpc>
              <a:buNone/>
            </a:pPr>
            <a:r>
              <a:rPr lang="en-US" sz="1200" dirty="0">
                <a:solidFill>
                  <a:srgbClr val="F5F7F4"/>
                </a:solidFill>
                <a:latin typeface="JetBrains Mono" pitchFamily="49" charset="0"/>
                <a:ea typeface="JetBrains Mono" pitchFamily="49" charset="-122"/>
                <a:cs typeface="JetBrains Mono" pitchFamily="49" charset="-120"/>
              </a:rPr>
              <a:t>decision_engine</a:t>
            </a:r>
            <a:endParaRPr lang="en-US" sz="1200" dirty="0"/>
          </a:p>
        </p:txBody>
      </p:sp>
      <p:sp>
        <p:nvSpPr>
          <p:cNvPr id="32" name="Pill 12"/>
          <p:cNvSpPr/>
          <p:nvPr/>
        </p:nvSpPr>
        <p:spPr>
          <a:xfrm>
            <a:off x="3833495" y="3406776"/>
            <a:ext cx="1096010" cy="252730"/>
          </a:xfrm>
          <a:custGeom>
            <a:avLst/>
            <a:gdLst/>
            <a:ahLst/>
            <a:cxnLst/>
            <a:rect l="l" t="t" r="r" b="b"/>
            <a:pathLst>
              <a:path w="1096010" h="252730">
                <a:moveTo>
                  <a:pt x="126365" y="0"/>
                </a:moveTo>
                <a:lnTo>
                  <a:pt x="969645" y="0"/>
                </a:lnTo>
                <a:arcTo wR="126365" hR="126365" stAng="16200000" swAng="5400000"/>
                <a:lnTo>
                  <a:pt x="1096010" y="126365"/>
                </a:lnTo>
                <a:arcTo wR="126365" hR="126365" stAng="0" swAng="5400000"/>
                <a:lnTo>
                  <a:pt x="126365" y="252730"/>
                </a:lnTo>
                <a:arcTo wR="126365" hR="126365" stAng="5400000" swAng="5400000"/>
                <a:lnTo>
                  <a:pt x="0" y="126365"/>
                </a:lnTo>
                <a:arcTo wR="126365" hR="126365" stAng="10800000" swAng="5400000"/>
                <a:close/>
              </a:path>
            </a:pathLst>
          </a:custGeom>
          <a:solidFill>
            <a:srgbClr val="163A45"/>
          </a:solidFill>
          <a:ln w="6350">
            <a:solidFill>
              <a:srgbClr val="3FC1B0"/>
            </a:solidFill>
            <a:prstDash val="solid"/>
          </a:ln>
        </p:spPr>
        <p:txBody>
          <a:bodyPr wrap="none" lIns="0" tIns="0" rIns="0" bIns="0" rtlCol="0" anchor="ctr">
            <a:normAutofit/>
          </a:bodyPr>
          <a:lstStyle/>
          <a:p>
            <a:pPr marL="0" indent="0" algn="ctr">
              <a:lnSpc>
                <a:spcPts val="1560"/>
              </a:lnSpc>
              <a:buNone/>
            </a:pPr>
            <a:r>
              <a:rPr lang="en-US" sz="1200" dirty="0">
                <a:solidFill>
                  <a:srgbClr val="F5F7F4"/>
                </a:solidFill>
                <a:latin typeface="JetBrains Mono" pitchFamily="49" charset="0"/>
                <a:ea typeface="JetBrains Mono" pitchFamily="49" charset="-122"/>
                <a:cs typeface="JetBrains Mono" pitchFamily="49" charset="-120"/>
              </a:rPr>
              <a:t>app_bridge</a:t>
            </a:r>
            <a:endParaRPr lang="en-US" sz="1200" dirty="0"/>
          </a:p>
        </p:txBody>
      </p:sp>
      <p:pic>
        <p:nvPicPr>
          <p:cNvPr id="15" name="Image 0" descr="arrow-up"/>
          <p:cNvPicPr>
            <a:picLocks noChangeAspect="1"/>
          </p:cNvPicPr>
          <p:nvPr/>
        </p:nvPicPr>
        <p:blipFill>
          <a:blip r:embed="rId3"/>
          <a:srcRect/>
          <a:stretch/>
        </p:blipFill>
        <p:spPr>
          <a:xfrm>
            <a:off x="1016000" y="3967480"/>
            <a:ext cx="203200" cy="330200"/>
          </a:xfrm>
          <a:prstGeom prst="rect">
            <a:avLst/>
          </a:prstGeom>
        </p:spPr>
      </p:pic>
      <p:pic>
        <p:nvPicPr>
          <p:cNvPr id="16" name="Image 1" descr="arrow-down"/>
          <p:cNvPicPr>
            <a:picLocks noChangeAspect="1"/>
          </p:cNvPicPr>
          <p:nvPr/>
        </p:nvPicPr>
        <p:blipFill>
          <a:blip r:embed="rId4"/>
          <a:srcRect/>
          <a:stretch/>
        </p:blipFill>
        <p:spPr>
          <a:xfrm>
            <a:off x="1320800" y="3967480"/>
            <a:ext cx="203200" cy="330200"/>
          </a:xfrm>
          <a:prstGeom prst="rect">
            <a:avLst/>
          </a:prstGeom>
        </p:spPr>
      </p:pic>
      <p:sp>
        <p:nvSpPr>
          <p:cNvPr id="17" name="Text 13"/>
          <p:cNvSpPr/>
          <p:nvPr/>
        </p:nvSpPr>
        <p:spPr>
          <a:xfrm>
            <a:off x="1625600" y="4025901"/>
            <a:ext cx="27432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C6D67"/>
                </a:solidFill>
                <a:latin typeface="JetBrains Mono" pitchFamily="49" charset="0"/>
                <a:ea typeface="JetBrains Mono" pitchFamily="49" charset="-122"/>
                <a:cs typeface="JetBrains Mono" pitchFamily="49" charset="-120"/>
              </a:rPr>
              <a:t>framed serial link over USB</a:t>
            </a:r>
            <a:endParaRPr lang="en-US" sz="1200" dirty="0"/>
          </a:p>
        </p:txBody>
      </p:sp>
      <p:sp>
        <p:nvSpPr>
          <p:cNvPr id="18" name="Shape 14"/>
          <p:cNvSpPr/>
          <p:nvPr/>
        </p:nvSpPr>
        <p:spPr>
          <a:xfrm>
            <a:off x="815975" y="4402455"/>
            <a:ext cx="4819650" cy="1319530"/>
          </a:xfrm>
          <a:prstGeom prst="roundRect">
            <a:avLst>
              <a:gd name="adj" fmla="val 9384"/>
            </a:avLst>
          </a:prstGeom>
          <a:solidFill>
            <a:srgbClr val="FCFDFB"/>
          </a:solidFill>
          <a:ln w="6350">
            <a:solidFill>
              <a:srgbClr val="D3DDDA"/>
            </a:solidFill>
            <a:prstDash val="solid"/>
          </a:ln>
        </p:spPr>
        <p:txBody>
          <a:bodyPr/>
          <a:lstStyle/>
          <a:p>
            <a:endParaRPr lang="en-US"/>
          </a:p>
        </p:txBody>
      </p:sp>
      <p:sp>
        <p:nvSpPr>
          <p:cNvPr id="19" name="Text 15"/>
          <p:cNvSpPr/>
          <p:nvPr/>
        </p:nvSpPr>
        <p:spPr>
          <a:xfrm>
            <a:off x="1021080" y="4607562"/>
            <a:ext cx="4541723"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C6D67"/>
                </a:solidFill>
                <a:latin typeface="JetBrains Mono" pitchFamily="49" charset="0"/>
                <a:ea typeface="JetBrains Mono" pitchFamily="49" charset="-122"/>
                <a:cs typeface="JetBrains Mono" pitchFamily="49" charset="-120"/>
              </a:rPr>
              <a:t>ESP32 firmware · not a ROS node</a:t>
            </a:r>
            <a:endParaRPr lang="en-US" sz="1200" dirty="0"/>
          </a:p>
        </p:txBody>
      </p:sp>
      <p:sp>
        <p:nvSpPr>
          <p:cNvPr id="20" name="Text 16"/>
          <p:cNvSpPr/>
          <p:nvPr/>
        </p:nvSpPr>
        <p:spPr>
          <a:xfrm>
            <a:off x="1024255" y="4925694"/>
            <a:ext cx="730250" cy="252730"/>
          </a:xfrm>
          <a:custGeom>
            <a:avLst/>
            <a:gdLst/>
            <a:ahLst/>
            <a:cxnLst/>
            <a:rect l="l" t="t" r="r" b="b"/>
            <a:pathLst>
              <a:path w="730250" h="252730">
                <a:moveTo>
                  <a:pt x="126365" y="0"/>
                </a:moveTo>
                <a:lnTo>
                  <a:pt x="603885" y="0"/>
                </a:lnTo>
                <a:arcTo wR="126365" hR="126365" stAng="16200000" swAng="5400000"/>
                <a:lnTo>
                  <a:pt x="730250" y="126365"/>
                </a:lnTo>
                <a:arcTo wR="126365" hR="126365" stAng="0" swAng="5400000"/>
                <a:lnTo>
                  <a:pt x="126365" y="252730"/>
                </a:lnTo>
                <a:arcTo wR="126365" hR="126365" stAng="5400000" swAng="5400000"/>
                <a:lnTo>
                  <a:pt x="0" y="126365"/>
                </a:lnTo>
                <a:arcTo wR="126365" hR="126365" stAng="10800000" swAng="5400000"/>
                <a:close/>
              </a:path>
            </a:pathLst>
          </a:custGeom>
          <a:solidFill>
            <a:srgbClr val="E7EEEB"/>
          </a:solidFill>
          <a:ln w="6350">
            <a:solidFill>
              <a:srgbClr val="0C6D67"/>
            </a:solidFill>
            <a:prstDash val="solid"/>
          </a:ln>
        </p:spPr>
        <p:txBody>
          <a:bodyPr wrap="none" lIns="0" tIns="0" rIns="0" bIns="0" rtlCol="0" anchor="ctr">
            <a:normAutofit/>
          </a:bodyPr>
          <a:lstStyle/>
          <a:p>
            <a:pPr marL="0" indent="0" algn="ctr">
              <a:lnSpc>
                <a:spcPts val="1560"/>
              </a:lnSpc>
              <a:buNone/>
            </a:pPr>
            <a:r>
              <a:rPr lang="en-US" sz="1200" dirty="0">
                <a:solidFill>
                  <a:srgbClr val="0E2A33"/>
                </a:solidFill>
                <a:latin typeface="JetBrains Mono" pitchFamily="49" charset="0"/>
                <a:ea typeface="JetBrains Mono" pitchFamily="49" charset="-122"/>
                <a:cs typeface="JetBrains Mono" pitchFamily="49" charset="-120"/>
              </a:rPr>
              <a:t>motors</a:t>
            </a:r>
            <a:endParaRPr lang="en-US" sz="1200" dirty="0"/>
          </a:p>
        </p:txBody>
      </p:sp>
      <p:sp>
        <p:nvSpPr>
          <p:cNvPr id="21" name="Text 17"/>
          <p:cNvSpPr/>
          <p:nvPr/>
        </p:nvSpPr>
        <p:spPr>
          <a:xfrm>
            <a:off x="1837055" y="4925694"/>
            <a:ext cx="913130" cy="252730"/>
          </a:xfrm>
          <a:custGeom>
            <a:avLst/>
            <a:gdLst/>
            <a:ahLst/>
            <a:cxnLst/>
            <a:rect l="l" t="t" r="r" b="b"/>
            <a:pathLst>
              <a:path w="913130" h="252730">
                <a:moveTo>
                  <a:pt x="126365" y="0"/>
                </a:moveTo>
                <a:lnTo>
                  <a:pt x="786765" y="0"/>
                </a:lnTo>
                <a:arcTo wR="126365" hR="126365" stAng="16200000" swAng="5400000"/>
                <a:lnTo>
                  <a:pt x="913130" y="126365"/>
                </a:lnTo>
                <a:arcTo wR="126365" hR="126365" stAng="0" swAng="5400000"/>
                <a:lnTo>
                  <a:pt x="126365" y="252730"/>
                </a:lnTo>
                <a:arcTo wR="126365" hR="126365" stAng="5400000" swAng="5400000"/>
                <a:lnTo>
                  <a:pt x="0" y="126365"/>
                </a:lnTo>
                <a:arcTo wR="126365" hR="126365" stAng="10800000" swAng="5400000"/>
                <a:close/>
              </a:path>
            </a:pathLst>
          </a:custGeom>
          <a:solidFill>
            <a:srgbClr val="E7EEEB"/>
          </a:solidFill>
          <a:ln w="6350">
            <a:solidFill>
              <a:srgbClr val="0C6D67"/>
            </a:solidFill>
            <a:prstDash val="solid"/>
          </a:ln>
        </p:spPr>
        <p:txBody>
          <a:bodyPr wrap="none" lIns="0" tIns="0" rIns="0" bIns="0" rtlCol="0" anchor="ctr">
            <a:normAutofit/>
          </a:bodyPr>
          <a:lstStyle/>
          <a:p>
            <a:pPr marL="0" indent="0" algn="ctr">
              <a:lnSpc>
                <a:spcPts val="1560"/>
              </a:lnSpc>
              <a:buNone/>
            </a:pPr>
            <a:r>
              <a:rPr lang="en-US" sz="1200" dirty="0">
                <a:solidFill>
                  <a:srgbClr val="0E2A33"/>
                </a:solidFill>
                <a:latin typeface="JetBrains Mono" pitchFamily="49" charset="0"/>
                <a:ea typeface="JetBrains Mono" pitchFamily="49" charset="-122"/>
                <a:cs typeface="JetBrains Mono" pitchFamily="49" charset="-120"/>
              </a:rPr>
              <a:t>encoders</a:t>
            </a:r>
            <a:endParaRPr lang="en-US" sz="1200" dirty="0"/>
          </a:p>
        </p:txBody>
      </p:sp>
      <p:sp>
        <p:nvSpPr>
          <p:cNvPr id="22" name="Text 18"/>
          <p:cNvSpPr/>
          <p:nvPr/>
        </p:nvSpPr>
        <p:spPr>
          <a:xfrm>
            <a:off x="2832735" y="4925694"/>
            <a:ext cx="455930" cy="252730"/>
          </a:xfrm>
          <a:custGeom>
            <a:avLst/>
            <a:gdLst/>
            <a:ahLst/>
            <a:cxnLst/>
            <a:rect l="l" t="t" r="r" b="b"/>
            <a:pathLst>
              <a:path w="455930" h="252730">
                <a:moveTo>
                  <a:pt x="126365" y="0"/>
                </a:moveTo>
                <a:lnTo>
                  <a:pt x="329565" y="0"/>
                </a:lnTo>
                <a:arcTo wR="126365" hR="126365" stAng="16200000" swAng="5400000"/>
                <a:lnTo>
                  <a:pt x="455930" y="126365"/>
                </a:lnTo>
                <a:arcTo wR="126365" hR="126365" stAng="0" swAng="5400000"/>
                <a:lnTo>
                  <a:pt x="126365" y="252730"/>
                </a:lnTo>
                <a:arcTo wR="126365" hR="126365" stAng="5400000" swAng="5400000"/>
                <a:lnTo>
                  <a:pt x="0" y="126365"/>
                </a:lnTo>
                <a:arcTo wR="126365" hR="126365" stAng="10800000" swAng="5400000"/>
                <a:close/>
              </a:path>
            </a:pathLst>
          </a:custGeom>
          <a:solidFill>
            <a:srgbClr val="E7EEEB"/>
          </a:solidFill>
          <a:ln w="6350">
            <a:solidFill>
              <a:srgbClr val="0C6D67"/>
            </a:solidFill>
            <a:prstDash val="solid"/>
          </a:ln>
        </p:spPr>
        <p:txBody>
          <a:bodyPr wrap="none" lIns="0" tIns="0" rIns="0" bIns="0" rtlCol="0" anchor="ctr">
            <a:normAutofit/>
          </a:bodyPr>
          <a:lstStyle/>
          <a:p>
            <a:pPr marL="0" indent="0" algn="ctr">
              <a:lnSpc>
                <a:spcPts val="1560"/>
              </a:lnSpc>
              <a:buNone/>
            </a:pPr>
            <a:r>
              <a:rPr lang="en-US" sz="1200" dirty="0">
                <a:solidFill>
                  <a:srgbClr val="0E2A33"/>
                </a:solidFill>
                <a:latin typeface="JetBrains Mono" pitchFamily="49" charset="0"/>
                <a:ea typeface="JetBrains Mono" pitchFamily="49" charset="-122"/>
                <a:cs typeface="JetBrains Mono" pitchFamily="49" charset="-120"/>
              </a:rPr>
              <a:t>imu</a:t>
            </a:r>
            <a:endParaRPr lang="en-US" sz="1200" dirty="0"/>
          </a:p>
        </p:txBody>
      </p:sp>
      <p:sp>
        <p:nvSpPr>
          <p:cNvPr id="23" name="Text 19"/>
          <p:cNvSpPr/>
          <p:nvPr/>
        </p:nvSpPr>
        <p:spPr>
          <a:xfrm>
            <a:off x="3371215" y="4925694"/>
            <a:ext cx="913130" cy="252730"/>
          </a:xfrm>
          <a:custGeom>
            <a:avLst/>
            <a:gdLst/>
            <a:ahLst/>
            <a:cxnLst/>
            <a:rect l="l" t="t" r="r" b="b"/>
            <a:pathLst>
              <a:path w="913130" h="252730">
                <a:moveTo>
                  <a:pt x="126365" y="0"/>
                </a:moveTo>
                <a:lnTo>
                  <a:pt x="786765" y="0"/>
                </a:lnTo>
                <a:arcTo wR="126365" hR="126365" stAng="16200000" swAng="5400000"/>
                <a:lnTo>
                  <a:pt x="913130" y="126365"/>
                </a:lnTo>
                <a:arcTo wR="126365" hR="126365" stAng="0" swAng="5400000"/>
                <a:lnTo>
                  <a:pt x="126365" y="252730"/>
                </a:lnTo>
                <a:arcTo wR="126365" hR="126365" stAng="5400000" swAng="5400000"/>
                <a:lnTo>
                  <a:pt x="0" y="126365"/>
                </a:lnTo>
                <a:arcTo wR="126365" hR="126365" stAng="10800000" swAng="5400000"/>
                <a:close/>
              </a:path>
            </a:pathLst>
          </a:custGeom>
          <a:solidFill>
            <a:srgbClr val="E7EEEB"/>
          </a:solidFill>
          <a:ln w="6350">
            <a:solidFill>
              <a:srgbClr val="0C6D67"/>
            </a:solidFill>
            <a:prstDash val="solid"/>
          </a:ln>
        </p:spPr>
        <p:txBody>
          <a:bodyPr wrap="none" lIns="0" tIns="0" rIns="0" bIns="0" rtlCol="0" anchor="ctr">
            <a:normAutofit/>
          </a:bodyPr>
          <a:lstStyle/>
          <a:p>
            <a:pPr marL="0" indent="0" algn="ctr">
              <a:lnSpc>
                <a:spcPts val="1560"/>
              </a:lnSpc>
              <a:buNone/>
            </a:pPr>
            <a:r>
              <a:rPr lang="en-US" sz="1200" dirty="0">
                <a:solidFill>
                  <a:srgbClr val="0E2A33"/>
                </a:solidFill>
                <a:latin typeface="JetBrains Mono" pitchFamily="49" charset="0"/>
                <a:ea typeface="JetBrains Mono" pitchFamily="49" charset="-122"/>
                <a:cs typeface="JetBrains Mono" pitchFamily="49" charset="-120"/>
              </a:rPr>
              <a:t>range ×4</a:t>
            </a:r>
            <a:endParaRPr lang="en-US" sz="1200" dirty="0"/>
          </a:p>
        </p:txBody>
      </p:sp>
      <p:sp>
        <p:nvSpPr>
          <p:cNvPr id="24" name="Text 20"/>
          <p:cNvSpPr/>
          <p:nvPr/>
        </p:nvSpPr>
        <p:spPr>
          <a:xfrm>
            <a:off x="4366895" y="4925694"/>
            <a:ext cx="730250" cy="252730"/>
          </a:xfrm>
          <a:custGeom>
            <a:avLst/>
            <a:gdLst/>
            <a:ahLst/>
            <a:cxnLst/>
            <a:rect l="l" t="t" r="r" b="b"/>
            <a:pathLst>
              <a:path w="730250" h="252730">
                <a:moveTo>
                  <a:pt x="126365" y="0"/>
                </a:moveTo>
                <a:lnTo>
                  <a:pt x="603885" y="0"/>
                </a:lnTo>
                <a:arcTo wR="126365" hR="126365" stAng="16200000" swAng="5400000"/>
                <a:lnTo>
                  <a:pt x="730250" y="126365"/>
                </a:lnTo>
                <a:arcTo wR="126365" hR="126365" stAng="0" swAng="5400000"/>
                <a:lnTo>
                  <a:pt x="126365" y="252730"/>
                </a:lnTo>
                <a:arcTo wR="126365" hR="126365" stAng="5400000" swAng="5400000"/>
                <a:lnTo>
                  <a:pt x="0" y="126365"/>
                </a:lnTo>
                <a:arcTo wR="126365" hR="126365" stAng="10800000" swAng="5400000"/>
                <a:close/>
              </a:path>
            </a:pathLst>
          </a:custGeom>
          <a:solidFill>
            <a:srgbClr val="E7EEEB"/>
          </a:solidFill>
          <a:ln w="6350">
            <a:solidFill>
              <a:srgbClr val="0C6D67"/>
            </a:solidFill>
            <a:prstDash val="solid"/>
          </a:ln>
        </p:spPr>
        <p:txBody>
          <a:bodyPr wrap="none" lIns="0" tIns="0" rIns="0" bIns="0" rtlCol="0" anchor="ctr">
            <a:normAutofit/>
          </a:bodyPr>
          <a:lstStyle/>
          <a:p>
            <a:pPr marL="0" indent="0" algn="ctr">
              <a:lnSpc>
                <a:spcPts val="1560"/>
              </a:lnSpc>
              <a:buNone/>
            </a:pPr>
            <a:r>
              <a:rPr lang="en-US" sz="1200" dirty="0">
                <a:solidFill>
                  <a:srgbClr val="0E2A33"/>
                </a:solidFill>
                <a:latin typeface="JetBrains Mono" pitchFamily="49" charset="0"/>
                <a:ea typeface="JetBrains Mono" pitchFamily="49" charset="-122"/>
                <a:cs typeface="JetBrains Mono" pitchFamily="49" charset="-120"/>
              </a:rPr>
              <a:t>vitals</a:t>
            </a:r>
            <a:endParaRPr lang="en-US" sz="1200" dirty="0"/>
          </a:p>
        </p:txBody>
      </p:sp>
      <p:sp>
        <p:nvSpPr>
          <p:cNvPr id="25" name="Text 21"/>
          <p:cNvSpPr/>
          <p:nvPr/>
        </p:nvSpPr>
        <p:spPr>
          <a:xfrm>
            <a:off x="1024255" y="5260976"/>
            <a:ext cx="1278890" cy="252730"/>
          </a:xfrm>
          <a:custGeom>
            <a:avLst/>
            <a:gdLst/>
            <a:ahLst/>
            <a:cxnLst/>
            <a:rect l="l" t="t" r="r" b="b"/>
            <a:pathLst>
              <a:path w="1278890" h="252730">
                <a:moveTo>
                  <a:pt x="126365" y="0"/>
                </a:moveTo>
                <a:lnTo>
                  <a:pt x="1152525" y="0"/>
                </a:lnTo>
                <a:arcTo wR="126365" hR="126365" stAng="16200000" swAng="5400000"/>
                <a:lnTo>
                  <a:pt x="1278890" y="126365"/>
                </a:lnTo>
                <a:arcTo wR="126365" hR="126365" stAng="0" swAng="5400000"/>
                <a:lnTo>
                  <a:pt x="126365" y="252730"/>
                </a:lnTo>
                <a:arcTo wR="126365" hR="126365" stAng="5400000" swAng="5400000"/>
                <a:lnTo>
                  <a:pt x="0" y="126365"/>
                </a:lnTo>
                <a:arcTo wR="126365" hR="126365" stAng="10800000" swAng="5400000"/>
                <a:close/>
              </a:path>
            </a:pathLst>
          </a:custGeom>
          <a:solidFill>
            <a:srgbClr val="E7EEEB"/>
          </a:solidFill>
          <a:ln w="6350">
            <a:solidFill>
              <a:srgbClr val="0C6D67"/>
            </a:solidFill>
            <a:prstDash val="solid"/>
          </a:ln>
        </p:spPr>
        <p:txBody>
          <a:bodyPr wrap="none" lIns="0" tIns="0" rIns="0" bIns="0" rtlCol="0" anchor="ctr">
            <a:normAutofit/>
          </a:bodyPr>
          <a:lstStyle/>
          <a:p>
            <a:pPr marL="0" indent="0" algn="ctr">
              <a:lnSpc>
                <a:spcPts val="1560"/>
              </a:lnSpc>
              <a:buNone/>
            </a:pPr>
            <a:r>
              <a:rPr lang="en-US" sz="1200" dirty="0">
                <a:solidFill>
                  <a:srgbClr val="0E2A33"/>
                </a:solidFill>
                <a:latin typeface="JetBrains Mono" pitchFamily="49" charset="0"/>
                <a:ea typeface="JetBrains Mono" pitchFamily="49" charset="-122"/>
                <a:cs typeface="JetBrains Mono" pitchFamily="49" charset="-120"/>
              </a:rPr>
              <a:t>drawer_locks</a:t>
            </a:r>
            <a:endParaRPr lang="en-US" sz="1200" dirty="0"/>
          </a:p>
        </p:txBody>
      </p:sp>
      <p:sp>
        <p:nvSpPr>
          <p:cNvPr id="33" name="Pill 13"/>
          <p:cNvSpPr/>
          <p:nvPr/>
        </p:nvSpPr>
        <p:spPr>
          <a:xfrm>
            <a:off x="2385695" y="5260976"/>
            <a:ext cx="1187450" cy="252730"/>
          </a:xfrm>
          <a:custGeom>
            <a:avLst/>
            <a:gdLst/>
            <a:ahLst/>
            <a:cxnLst/>
            <a:rect l="l" t="t" r="r" b="b"/>
            <a:pathLst>
              <a:path w="1187450" h="252730">
                <a:moveTo>
                  <a:pt x="126365" y="0"/>
                </a:moveTo>
                <a:lnTo>
                  <a:pt x="1061085" y="0"/>
                </a:lnTo>
                <a:arcTo wR="126365" hR="126365" stAng="16200000" swAng="5400000"/>
                <a:lnTo>
                  <a:pt x="1187450" y="126365"/>
                </a:lnTo>
                <a:arcTo wR="126365" hR="126365" stAng="0" swAng="5400000"/>
                <a:lnTo>
                  <a:pt x="126365" y="252730"/>
                </a:lnTo>
                <a:arcTo wR="126365" hR="126365" stAng="5400000" swAng="5400000"/>
                <a:lnTo>
                  <a:pt x="0" y="126365"/>
                </a:lnTo>
                <a:arcTo wR="126365" hR="126365" stAng="10800000" swAng="5400000"/>
                <a:close/>
              </a:path>
            </a:pathLst>
          </a:custGeom>
          <a:solidFill>
            <a:srgbClr val="E7EEEB"/>
          </a:solidFill>
          <a:ln w="6350">
            <a:solidFill>
              <a:srgbClr val="0C6D67"/>
            </a:solidFill>
            <a:prstDash val="solid"/>
          </a:ln>
        </p:spPr>
        <p:txBody>
          <a:bodyPr wrap="none" lIns="0" tIns="0" rIns="0" bIns="0" rtlCol="0" anchor="ctr">
            <a:normAutofit/>
          </a:bodyPr>
          <a:lstStyle/>
          <a:p>
            <a:pPr marL="0" indent="0" algn="ctr">
              <a:lnSpc>
                <a:spcPts val="1560"/>
              </a:lnSpc>
              <a:buNone/>
            </a:pPr>
            <a:r>
              <a:rPr lang="en-US" sz="1200" dirty="0">
                <a:solidFill>
                  <a:srgbClr val="0E2A33"/>
                </a:solidFill>
                <a:latin typeface="JetBrains Mono" pitchFamily="49" charset="0"/>
                <a:ea typeface="JetBrains Mono" pitchFamily="49" charset="-122"/>
                <a:cs typeface="JetBrains Mono" pitchFamily="49" charset="-120"/>
              </a:rPr>
              <a:t>safety_stop</a:t>
            </a:r>
            <a:endParaRPr lang="en-US" sz="1200" dirty="0"/>
          </a:p>
        </p:txBody>
      </p:sp>
      <p:sp>
        <p:nvSpPr>
          <p:cNvPr id="26" name="Text 22"/>
          <p:cNvSpPr/>
          <p:nvPr/>
        </p:nvSpPr>
        <p:spPr>
          <a:xfrm>
            <a:off x="5943600" y="1879600"/>
            <a:ext cx="5598668"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0C6D67"/>
                </a:solidFill>
                <a:latin typeface="Space Grotesk" pitchFamily="34" charset="0"/>
                <a:ea typeface="Space Grotesk" pitchFamily="34" charset="-122"/>
                <a:cs typeface="Space Grotesk" pitchFamily="34" charset="-120"/>
              </a:rPr>
              <a:t>Key topics</a:t>
            </a:r>
            <a:endParaRPr lang="en-US" sz="15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953760" y="2239010"/>
          <a:ext cx="5425440" cy="3759200"/>
        </p:xfrm>
        <a:graphic>
          <a:graphicData uri="http://schemas.openxmlformats.org/drawingml/2006/table">
            <a:tbl>
              <a:tblPr/>
              <a:tblGrid>
                <a:gridCol w="1417320">
                  <a:extLst>
                    <a:ext uri="{9D8B030D-6E8A-4147-A177-3AD203B41FA5}">
                      <a16:colId xmlns:a16="http://schemas.microsoft.com/office/drawing/2014/main" val="20000"/>
                    </a:ext>
                  </a:extLst>
                </a:gridCol>
                <a:gridCol w="199644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375920">
                <a:tc>
                  <a:txBody>
                    <a:bodyPr/>
                    <a:lstStyle/>
                    <a:p>
                      <a:pPr marL="0" indent="0">
                        <a:lnSpc>
                          <a:spcPts val="1680"/>
                        </a:lnSpc>
                        <a:buNone/>
                      </a:pPr>
                      <a:r>
                        <a:rPr lang="en-US" sz="1200" b="1" dirty="0">
                          <a:solidFill>
                            <a:srgbClr val="F5F7F4"/>
                          </a:solidFill>
                          <a:latin typeface="IBM Plex Sans" pitchFamily="34" charset="0"/>
                          <a:ea typeface="IBM Plex Sans" pitchFamily="34" charset="-122"/>
                          <a:cs typeface="IBM Plex Sans" pitchFamily="34" charset="-120"/>
                        </a:rPr>
                        <a:t>Topic</a:t>
                      </a:r>
                      <a:endParaRPr lang="en-US" sz="1200" dirty="0">
                        <a:latin typeface="IBM Plex Sans" charset="0"/>
                        <a:ea typeface="IBM Plex Sans" charset="0"/>
                        <a:cs typeface="IBM Plex Sans" charset="0"/>
                      </a:endParaRPr>
                    </a:p>
                  </a:txBody>
                  <a:tcPr marL="101600" marR="101600" marT="76200" marB="76200">
                    <a:lnL w="12700" cap="flat" cmpd="sng" algn="ctr">
                      <a:solidFill>
                        <a:srgbClr val="B9BEBB"/>
                      </a:solidFill>
                      <a:prstDash val="solid"/>
                      <a:round/>
                      <a:headEnd type="none" w="med" len="med"/>
                      <a:tailEnd type="none" w="med" len="med"/>
                    </a:lnL>
                    <a:lnR w="12700" cap="flat" cmpd="sng" algn="ctr">
                      <a:solidFill>
                        <a:srgbClr val="0F252C"/>
                      </a:solidFill>
                      <a:prstDash val="solid"/>
                      <a:round/>
                      <a:headEnd type="none" w="med" len="med"/>
                      <a:tailEnd type="none" w="med" len="med"/>
                    </a:lnR>
                    <a:lnT w="12700" cap="flat" cmpd="sng" algn="ctr">
                      <a:solidFill>
                        <a:srgbClr val="B9BEBB"/>
                      </a:solidFill>
                      <a:prstDash val="solid"/>
                      <a:round/>
                      <a:headEnd type="none" w="med" len="med"/>
                      <a:tailEnd type="none" w="med" len="med"/>
                    </a:lnT>
                    <a:lnB w="12700" cap="flat" cmpd="sng" algn="ctr">
                      <a:solidFill>
                        <a:srgbClr val="0F252C"/>
                      </a:solidFill>
                      <a:prstDash val="solid"/>
                      <a:round/>
                      <a:headEnd type="none" w="med" len="med"/>
                      <a:tailEnd type="none" w="med" len="med"/>
                    </a:lnB>
                    <a:solidFill>
                      <a:srgbClr val="0E2A33"/>
                    </a:solidFill>
                  </a:tcPr>
                </a:tc>
                <a:tc>
                  <a:txBody>
                    <a:bodyPr/>
                    <a:lstStyle/>
                    <a:p>
                      <a:pPr marL="0" indent="0">
                        <a:lnSpc>
                          <a:spcPts val="1680"/>
                        </a:lnSpc>
                        <a:buNone/>
                      </a:pPr>
                      <a:r>
                        <a:rPr lang="en-US" sz="1200" b="1" dirty="0">
                          <a:solidFill>
                            <a:srgbClr val="F5F7F4"/>
                          </a:solidFill>
                          <a:latin typeface="IBM Plex Sans" pitchFamily="34" charset="0"/>
                          <a:ea typeface="IBM Plex Sans" pitchFamily="34" charset="-122"/>
                          <a:cs typeface="IBM Plex Sans" pitchFamily="34" charset="-120"/>
                        </a:rPr>
                        <a:t>Message</a:t>
                      </a:r>
                      <a:endParaRPr lang="en-US" sz="1200" dirty="0">
                        <a:latin typeface="IBM Plex Sans" charset="0"/>
                        <a:ea typeface="IBM Plex Sans" charset="0"/>
                        <a:cs typeface="IBM Plex Sans" charset="0"/>
                      </a:endParaRPr>
                    </a:p>
                  </a:txBody>
                  <a:tcPr marL="101600" marR="101600" marT="76200" marB="76200">
                    <a:lnL w="12700" cap="flat" cmpd="sng" algn="ctr">
                      <a:solidFill>
                        <a:srgbClr val="0F252C"/>
                      </a:solidFill>
                      <a:prstDash val="solid"/>
                      <a:round/>
                      <a:headEnd type="none" w="med" len="med"/>
                      <a:tailEnd type="none" w="med" len="med"/>
                    </a:lnL>
                    <a:lnR w="12700" cap="flat" cmpd="sng" algn="ctr">
                      <a:solidFill>
                        <a:srgbClr val="0F252C"/>
                      </a:solidFill>
                      <a:prstDash val="solid"/>
                      <a:round/>
                      <a:headEnd type="none" w="med" len="med"/>
                      <a:tailEnd type="none" w="med" len="med"/>
                    </a:lnR>
                    <a:lnT w="12700" cap="flat" cmpd="sng" algn="ctr">
                      <a:solidFill>
                        <a:srgbClr val="B9BEBB"/>
                      </a:solidFill>
                      <a:prstDash val="solid"/>
                      <a:round/>
                      <a:headEnd type="none" w="med" len="med"/>
                      <a:tailEnd type="none" w="med" len="med"/>
                    </a:lnT>
                    <a:lnB w="12700" cap="flat" cmpd="sng" algn="ctr">
                      <a:solidFill>
                        <a:srgbClr val="0F252C"/>
                      </a:solidFill>
                      <a:prstDash val="solid"/>
                      <a:round/>
                      <a:headEnd type="none" w="med" len="med"/>
                      <a:tailEnd type="none" w="med" len="med"/>
                    </a:lnB>
                    <a:solidFill>
                      <a:srgbClr val="0E2A33"/>
                    </a:solidFill>
                  </a:tcPr>
                </a:tc>
                <a:tc>
                  <a:txBody>
                    <a:bodyPr/>
                    <a:lstStyle/>
                    <a:p>
                      <a:pPr marL="0" indent="0">
                        <a:lnSpc>
                          <a:spcPts val="1680"/>
                        </a:lnSpc>
                        <a:buNone/>
                      </a:pPr>
                      <a:r>
                        <a:rPr lang="en-US" sz="1200" b="1" dirty="0">
                          <a:solidFill>
                            <a:srgbClr val="F5F7F4"/>
                          </a:solidFill>
                          <a:latin typeface="IBM Plex Sans" pitchFamily="34" charset="0"/>
                          <a:ea typeface="IBM Plex Sans" pitchFamily="34" charset="-122"/>
                          <a:cs typeface="IBM Plex Sans" pitchFamily="34" charset="-120"/>
                        </a:rPr>
                        <a:t>From → To</a:t>
                      </a:r>
                      <a:endParaRPr lang="en-US" sz="1200" dirty="0">
                        <a:latin typeface="IBM Plex Sans" charset="0"/>
                        <a:ea typeface="IBM Plex Sans" charset="0"/>
                        <a:cs typeface="IBM Plex Sans" charset="0"/>
                      </a:endParaRPr>
                    </a:p>
                  </a:txBody>
                  <a:tcPr marL="101600" marR="101600" marT="76200" marB="76200">
                    <a:lnL w="12700" cap="flat" cmpd="sng" algn="ctr">
                      <a:solidFill>
                        <a:srgbClr val="0F252C"/>
                      </a:solidFill>
                      <a:prstDash val="solid"/>
                      <a:round/>
                      <a:headEnd type="none" w="med" len="med"/>
                      <a:tailEnd type="none" w="med" len="med"/>
                    </a:lnL>
                    <a:lnR w="12700" cap="flat" cmpd="sng" algn="ctr">
                      <a:solidFill>
                        <a:srgbClr val="0F252C"/>
                      </a:solidFill>
                      <a:prstDash val="solid"/>
                      <a:round/>
                      <a:headEnd type="none" w="med" len="med"/>
                      <a:tailEnd type="none" w="med" len="med"/>
                    </a:lnR>
                    <a:lnT w="12700" cap="flat" cmpd="sng" algn="ctr">
                      <a:solidFill>
                        <a:srgbClr val="B9BEBB"/>
                      </a:solidFill>
                      <a:prstDash val="solid"/>
                      <a:round/>
                      <a:headEnd type="none" w="med" len="med"/>
                      <a:tailEnd type="none" w="med" len="med"/>
                    </a:lnT>
                    <a:lnB w="12700" cap="flat" cmpd="sng" algn="ctr">
                      <a:solidFill>
                        <a:srgbClr val="0F252C"/>
                      </a:solidFill>
                      <a:prstDash val="solid"/>
                      <a:round/>
                      <a:headEnd type="none" w="med" len="med"/>
                      <a:tailEnd type="none" w="med" len="med"/>
                    </a:lnB>
                    <a:solidFill>
                      <a:srgbClr val="0E2A33"/>
                    </a:solidFill>
                  </a:tcPr>
                </a:tc>
                <a:extLst>
                  <a:ext uri="{0D108BD9-81ED-4DB2-BD59-A6C34878D82A}">
                    <a16:rowId xmlns:a16="http://schemas.microsoft.com/office/drawing/2014/main" val="10000"/>
                  </a:ext>
                </a:extLst>
              </a:tr>
              <a:tr h="375920">
                <a:tc>
                  <a:txBody>
                    <a:bodyPr/>
                    <a:lstStyle/>
                    <a:p>
                      <a:pPr marL="0" indent="0">
                        <a:lnSpc>
                          <a:spcPts val="1680"/>
                        </a:lnSpc>
                        <a:buNone/>
                      </a:pPr>
                      <a:r>
                        <a:rPr lang="en-US" sz="1200" dirty="0">
                          <a:solidFill>
                            <a:srgbClr val="0E2A33"/>
                          </a:solidFill>
                          <a:latin typeface="IBM Plex Sans" pitchFamily="34" charset="0"/>
                          <a:ea typeface="IBM Plex Sans" pitchFamily="34" charset="-122"/>
                          <a:cs typeface="IBM Plex Sans" pitchFamily="34" charset="-120"/>
                        </a:rPr>
                        <a:t>/go_to_bed</a:t>
                      </a:r>
                      <a:endParaRPr lang="en-US" sz="1200" dirty="0">
                        <a:latin typeface="IBM Plex Sans" charset="0"/>
                        <a:ea typeface="IBM Plex Sans" charset="0"/>
                        <a:cs typeface="IBM Plex Sans" charset="0"/>
                      </a:endParaRPr>
                    </a:p>
                  </a:txBody>
                  <a:tcPr marL="101600" marR="101600" marT="76200" marB="76200">
                    <a:lnL w="12700" cap="flat" cmpd="sng" algn="ctr">
                      <a:solidFill>
                        <a:srgbClr val="B9BEBB"/>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0F252C"/>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marL="0" indent="0">
                        <a:lnSpc>
                          <a:spcPts val="1680"/>
                        </a:lnSpc>
                        <a:buNone/>
                      </a:pPr>
                      <a:r>
                        <a:rPr lang="en-US" sz="1200" dirty="0">
                          <a:solidFill>
                            <a:srgbClr val="0E2A33"/>
                          </a:solidFill>
                          <a:latin typeface="IBM Plex Sans" pitchFamily="34" charset="0"/>
                          <a:ea typeface="IBM Plex Sans" pitchFamily="34" charset="-122"/>
                          <a:cs typeface="IBM Plex Sans" pitchFamily="34" charset="-120"/>
                        </a:rPr>
                        <a:t>std_msgs/UInt8</a:t>
                      </a:r>
                      <a:endParaRPr lang="en-US" sz="1200" dirty="0">
                        <a:latin typeface="IBM Plex Sans" charset="0"/>
                        <a:ea typeface="IBM Plex Sans" charset="0"/>
                        <a:cs typeface="IBM Plex Sans" charset="0"/>
                      </a:endParaRPr>
                    </a:p>
                  </a:txBody>
                  <a:tcPr marL="101600" marR="101600" marT="76200" marB="76200">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0F252C"/>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marL="0" indent="0">
                        <a:lnSpc>
                          <a:spcPts val="1680"/>
                        </a:lnSpc>
                        <a:buNone/>
                      </a:pPr>
                      <a:r>
                        <a:rPr lang="en-US" sz="1200" dirty="0">
                          <a:solidFill>
                            <a:srgbClr val="0E2A33"/>
                          </a:solidFill>
                          <a:latin typeface="IBM Plex Sans" pitchFamily="34" charset="0"/>
                          <a:ea typeface="IBM Plex Sans" pitchFamily="34" charset="-122"/>
                          <a:cs typeface="IBM Plex Sans" pitchFamily="34" charset="-120"/>
                        </a:rPr>
                        <a:t>mission → planner</a:t>
                      </a:r>
                      <a:endParaRPr lang="en-US" sz="1200" dirty="0">
                        <a:latin typeface="IBM Plex Sans" charset="0"/>
                        <a:ea typeface="IBM Plex Sans" charset="0"/>
                        <a:cs typeface="IBM Plex Sans" charset="0"/>
                      </a:endParaRPr>
                    </a:p>
                  </a:txBody>
                  <a:tcPr marL="101600" marR="101600" marT="76200" marB="76200">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0F252C"/>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extLst>
                  <a:ext uri="{0D108BD9-81ED-4DB2-BD59-A6C34878D82A}">
                    <a16:rowId xmlns:a16="http://schemas.microsoft.com/office/drawing/2014/main" val="10001"/>
                  </a:ext>
                </a:extLst>
              </a:tr>
              <a:tr h="375920">
                <a:tc>
                  <a:txBody>
                    <a:bodyPr/>
                    <a:lstStyle/>
                    <a:p>
                      <a:pPr marL="0" indent="0">
                        <a:lnSpc>
                          <a:spcPts val="1680"/>
                        </a:lnSpc>
                        <a:buNone/>
                      </a:pPr>
                      <a:r>
                        <a:rPr lang="en-US" sz="1200" dirty="0">
                          <a:solidFill>
                            <a:srgbClr val="0E2A33"/>
                          </a:solidFill>
                          <a:latin typeface="IBM Plex Sans" pitchFamily="34" charset="0"/>
                          <a:ea typeface="IBM Plex Sans" pitchFamily="34" charset="-122"/>
                          <a:cs typeface="IBM Plex Sans" pitchFamily="34" charset="-120"/>
                        </a:rPr>
                        <a:t>/route</a:t>
                      </a:r>
                      <a:endParaRPr lang="en-US" sz="1200" dirty="0">
                        <a:latin typeface="IBM Plex Sans" charset="0"/>
                        <a:ea typeface="IBM Plex Sans" charset="0"/>
                        <a:cs typeface="IBM Plex Sans" charset="0"/>
                      </a:endParaRPr>
                    </a:p>
                  </a:txBody>
                  <a:tcPr marL="101600" marR="101600" marT="76200" marB="76200">
                    <a:lnL w="12700" cap="flat" cmpd="sng" algn="ctr">
                      <a:solidFill>
                        <a:srgbClr val="B9BEBB"/>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F5F7F4"/>
                    </a:solidFill>
                  </a:tcPr>
                </a:tc>
                <a:tc>
                  <a:txBody>
                    <a:bodyPr/>
                    <a:lstStyle/>
                    <a:p>
                      <a:pPr marL="0" indent="0">
                        <a:lnSpc>
                          <a:spcPts val="1680"/>
                        </a:lnSpc>
                        <a:buNone/>
                      </a:pPr>
                      <a:r>
                        <a:rPr lang="en-US" sz="1200" dirty="0">
                          <a:solidFill>
                            <a:srgbClr val="0E2A33"/>
                          </a:solidFill>
                          <a:latin typeface="IBM Plex Sans" pitchFamily="34" charset="0"/>
                          <a:ea typeface="IBM Plex Sans" pitchFamily="34" charset="-122"/>
                          <a:cs typeface="IBM Plex Sans" pitchFamily="34" charset="-120"/>
                        </a:rPr>
                        <a:t>Route (custom)</a:t>
                      </a:r>
                      <a:endParaRPr lang="en-US" sz="1200" dirty="0">
                        <a:latin typeface="IBM Plex Sans" charset="0"/>
                        <a:ea typeface="IBM Plex Sans" charset="0"/>
                        <a:cs typeface="IBM Plex Sans" charset="0"/>
                      </a:endParaRPr>
                    </a:p>
                  </a:txBody>
                  <a:tcPr marL="101600" marR="101600" marT="76200" marB="762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F5F7F4"/>
                    </a:solidFill>
                  </a:tcPr>
                </a:tc>
                <a:tc>
                  <a:txBody>
                    <a:bodyPr/>
                    <a:lstStyle/>
                    <a:p>
                      <a:pPr marL="0" indent="0">
                        <a:lnSpc>
                          <a:spcPts val="1680"/>
                        </a:lnSpc>
                        <a:buNone/>
                      </a:pPr>
                      <a:r>
                        <a:rPr lang="en-US" sz="1200" dirty="0">
                          <a:solidFill>
                            <a:srgbClr val="0E2A33"/>
                          </a:solidFill>
                          <a:latin typeface="IBM Plex Sans" pitchFamily="34" charset="0"/>
                          <a:ea typeface="IBM Plex Sans" pitchFamily="34" charset="-122"/>
                          <a:cs typeface="IBM Plex Sans" pitchFamily="34" charset="-120"/>
                        </a:rPr>
                        <a:t>planner → navigator</a:t>
                      </a:r>
                      <a:endParaRPr lang="en-US" sz="1200" dirty="0">
                        <a:latin typeface="IBM Plex Sans" charset="0"/>
                        <a:ea typeface="IBM Plex Sans" charset="0"/>
                        <a:cs typeface="IBM Plex Sans" charset="0"/>
                      </a:endParaRPr>
                    </a:p>
                  </a:txBody>
                  <a:tcPr marL="101600" marR="101600" marT="76200" marB="762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F5F7F4"/>
                    </a:solidFill>
                  </a:tcPr>
                </a:tc>
                <a:extLst>
                  <a:ext uri="{0D108BD9-81ED-4DB2-BD59-A6C34878D82A}">
                    <a16:rowId xmlns:a16="http://schemas.microsoft.com/office/drawing/2014/main" val="10002"/>
                  </a:ext>
                </a:extLst>
              </a:tr>
              <a:tr h="375920">
                <a:tc>
                  <a:txBody>
                    <a:bodyPr/>
                    <a:lstStyle/>
                    <a:p>
                      <a:pPr marL="0" indent="0">
                        <a:lnSpc>
                          <a:spcPts val="1680"/>
                        </a:lnSpc>
                        <a:buNone/>
                      </a:pPr>
                      <a:r>
                        <a:rPr lang="en-US" sz="1200" dirty="0">
                          <a:solidFill>
                            <a:srgbClr val="0E2A33"/>
                          </a:solidFill>
                          <a:latin typeface="IBM Plex Sans" pitchFamily="34" charset="0"/>
                          <a:ea typeface="IBM Plex Sans" pitchFamily="34" charset="-122"/>
                          <a:cs typeface="IBM Plex Sans" pitchFamily="34" charset="-120"/>
                        </a:rPr>
                        <a:t>/marker_pose</a:t>
                      </a:r>
                      <a:endParaRPr lang="en-US" sz="1200" dirty="0">
                        <a:latin typeface="IBM Plex Sans" charset="0"/>
                        <a:ea typeface="IBM Plex Sans" charset="0"/>
                        <a:cs typeface="IBM Plex Sans" charset="0"/>
                      </a:endParaRPr>
                    </a:p>
                  </a:txBody>
                  <a:tcPr marL="101600" marR="101600" marT="76200" marB="76200">
                    <a:lnL w="12700" cap="flat" cmpd="sng" algn="ctr">
                      <a:solidFill>
                        <a:srgbClr val="B9BEBB"/>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marL="0" indent="0">
                        <a:lnSpc>
                          <a:spcPts val="1680"/>
                        </a:lnSpc>
                        <a:buNone/>
                      </a:pPr>
                      <a:r>
                        <a:rPr lang="en-US" sz="1200" dirty="0">
                          <a:solidFill>
                            <a:srgbClr val="0E2A33"/>
                          </a:solidFill>
                          <a:latin typeface="IBM Plex Sans" pitchFamily="34" charset="0"/>
                          <a:ea typeface="IBM Plex Sans" pitchFamily="34" charset="-122"/>
                          <a:cs typeface="IBM Plex Sans" pitchFamily="34" charset="-120"/>
                        </a:rPr>
                        <a:t>MarkerPose (custom)</a:t>
                      </a:r>
                      <a:endParaRPr lang="en-US" sz="1200" dirty="0">
                        <a:latin typeface="IBM Plex Sans" charset="0"/>
                        <a:ea typeface="IBM Plex Sans" charset="0"/>
                        <a:cs typeface="IBM Plex Sans" charset="0"/>
                      </a:endParaRPr>
                    </a:p>
                  </a:txBody>
                  <a:tcPr marL="101600" marR="101600" marT="76200" marB="76200">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marL="0" indent="0">
                        <a:lnSpc>
                          <a:spcPts val="1680"/>
                        </a:lnSpc>
                        <a:buNone/>
                      </a:pPr>
                      <a:r>
                        <a:rPr lang="en-US" sz="1200" dirty="0">
                          <a:solidFill>
                            <a:srgbClr val="0E2A33"/>
                          </a:solidFill>
                          <a:latin typeface="IBM Plex Sans" pitchFamily="34" charset="0"/>
                          <a:ea typeface="IBM Plex Sans" pitchFamily="34" charset="-122"/>
                          <a:cs typeface="IBM Plex Sans" pitchFamily="34" charset="-120"/>
                        </a:rPr>
                        <a:t>detector → navigator</a:t>
                      </a:r>
                      <a:endParaRPr lang="en-US" sz="1200" dirty="0">
                        <a:latin typeface="IBM Plex Sans" charset="0"/>
                        <a:ea typeface="IBM Plex Sans" charset="0"/>
                        <a:cs typeface="IBM Plex Sans" charset="0"/>
                      </a:endParaRPr>
                    </a:p>
                  </a:txBody>
                  <a:tcPr marL="101600" marR="101600" marT="76200" marB="76200">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extLst>
                  <a:ext uri="{0D108BD9-81ED-4DB2-BD59-A6C34878D82A}">
                    <a16:rowId xmlns:a16="http://schemas.microsoft.com/office/drawing/2014/main" val="10003"/>
                  </a:ext>
                </a:extLst>
              </a:tr>
              <a:tr h="375920">
                <a:tc>
                  <a:txBody>
                    <a:bodyPr/>
                    <a:lstStyle/>
                    <a:p>
                      <a:pPr marL="0" indent="0">
                        <a:lnSpc>
                          <a:spcPts val="1680"/>
                        </a:lnSpc>
                        <a:buNone/>
                      </a:pPr>
                      <a:r>
                        <a:rPr lang="en-US" sz="1200" dirty="0">
                          <a:solidFill>
                            <a:srgbClr val="0E2A33"/>
                          </a:solidFill>
                          <a:latin typeface="IBM Plex Sans" pitchFamily="34" charset="0"/>
                          <a:ea typeface="IBM Plex Sans" pitchFamily="34" charset="-122"/>
                          <a:cs typeface="IBM Plex Sans" pitchFamily="34" charset="-120"/>
                        </a:rPr>
                        <a:t>/cmd_vel</a:t>
                      </a:r>
                      <a:endParaRPr lang="en-US" sz="1200" dirty="0">
                        <a:latin typeface="IBM Plex Sans" charset="0"/>
                        <a:ea typeface="IBM Plex Sans" charset="0"/>
                        <a:cs typeface="IBM Plex Sans" charset="0"/>
                      </a:endParaRPr>
                    </a:p>
                  </a:txBody>
                  <a:tcPr marL="101600" marR="101600" marT="76200" marB="76200">
                    <a:lnL w="12700" cap="flat" cmpd="sng" algn="ctr">
                      <a:solidFill>
                        <a:srgbClr val="B9BEBB"/>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F5F7F4"/>
                    </a:solidFill>
                  </a:tcPr>
                </a:tc>
                <a:tc>
                  <a:txBody>
                    <a:bodyPr/>
                    <a:lstStyle/>
                    <a:p>
                      <a:pPr marL="0" indent="0">
                        <a:lnSpc>
                          <a:spcPts val="1680"/>
                        </a:lnSpc>
                        <a:buNone/>
                      </a:pPr>
                      <a:r>
                        <a:rPr lang="en-US" sz="1200" dirty="0">
                          <a:solidFill>
                            <a:srgbClr val="0E2A33"/>
                          </a:solidFill>
                          <a:latin typeface="IBM Plex Sans" pitchFamily="34" charset="0"/>
                          <a:ea typeface="IBM Plex Sans" pitchFamily="34" charset="-122"/>
                          <a:cs typeface="IBM Plex Sans" pitchFamily="34" charset="-120"/>
                        </a:rPr>
                        <a:t>geometry_msgs/Twist</a:t>
                      </a:r>
                      <a:endParaRPr lang="en-US" sz="1200" dirty="0">
                        <a:latin typeface="IBM Plex Sans" charset="0"/>
                        <a:ea typeface="IBM Plex Sans" charset="0"/>
                        <a:cs typeface="IBM Plex Sans" charset="0"/>
                      </a:endParaRPr>
                    </a:p>
                  </a:txBody>
                  <a:tcPr marL="101600" marR="101600" marT="76200" marB="762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F5F7F4"/>
                    </a:solidFill>
                  </a:tcPr>
                </a:tc>
                <a:tc>
                  <a:txBody>
                    <a:bodyPr/>
                    <a:lstStyle/>
                    <a:p>
                      <a:pPr marL="0" indent="0">
                        <a:lnSpc>
                          <a:spcPts val="1680"/>
                        </a:lnSpc>
                        <a:buNone/>
                      </a:pPr>
                      <a:r>
                        <a:rPr lang="en-US" sz="1200" dirty="0">
                          <a:solidFill>
                            <a:srgbClr val="0E2A33"/>
                          </a:solidFill>
                          <a:latin typeface="IBM Plex Sans" pitchFamily="34" charset="0"/>
                          <a:ea typeface="IBM Plex Sans" pitchFamily="34" charset="-122"/>
                          <a:cs typeface="IBM Plex Sans" pitchFamily="34" charset="-120"/>
                        </a:rPr>
                        <a:t>navigator → bridge</a:t>
                      </a:r>
                      <a:endParaRPr lang="en-US" sz="1200" dirty="0">
                        <a:latin typeface="IBM Plex Sans" charset="0"/>
                        <a:ea typeface="IBM Plex Sans" charset="0"/>
                        <a:cs typeface="IBM Plex Sans" charset="0"/>
                      </a:endParaRPr>
                    </a:p>
                  </a:txBody>
                  <a:tcPr marL="101600" marR="101600" marT="76200" marB="762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F5F7F4"/>
                    </a:solidFill>
                  </a:tcPr>
                </a:tc>
                <a:extLst>
                  <a:ext uri="{0D108BD9-81ED-4DB2-BD59-A6C34878D82A}">
                    <a16:rowId xmlns:a16="http://schemas.microsoft.com/office/drawing/2014/main" val="10004"/>
                  </a:ext>
                </a:extLst>
              </a:tr>
              <a:tr h="375920">
                <a:tc>
                  <a:txBody>
                    <a:bodyPr/>
                    <a:lstStyle/>
                    <a:p>
                      <a:pPr marL="0" indent="0">
                        <a:lnSpc>
                          <a:spcPts val="1680"/>
                        </a:lnSpc>
                        <a:buNone/>
                      </a:pPr>
                      <a:r>
                        <a:rPr lang="en-US" sz="1200" dirty="0">
                          <a:solidFill>
                            <a:srgbClr val="0E2A33"/>
                          </a:solidFill>
                          <a:latin typeface="IBM Plex Sans" pitchFamily="34" charset="0"/>
                          <a:ea typeface="IBM Plex Sans" pitchFamily="34" charset="-122"/>
                          <a:cs typeface="IBM Plex Sans" pitchFamily="34" charset="-120"/>
                        </a:rPr>
                        <a:t>/sensor_data</a:t>
                      </a:r>
                      <a:endParaRPr lang="en-US" sz="1200" dirty="0">
                        <a:latin typeface="IBM Plex Sans" charset="0"/>
                        <a:ea typeface="IBM Plex Sans" charset="0"/>
                        <a:cs typeface="IBM Plex Sans" charset="0"/>
                      </a:endParaRPr>
                    </a:p>
                  </a:txBody>
                  <a:tcPr marL="101600" marR="101600" marT="76200" marB="76200">
                    <a:lnL w="12700" cap="flat" cmpd="sng" algn="ctr">
                      <a:solidFill>
                        <a:srgbClr val="B9BEBB"/>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marL="0" indent="0">
                        <a:lnSpc>
                          <a:spcPts val="1680"/>
                        </a:lnSpc>
                        <a:buNone/>
                      </a:pPr>
                      <a:r>
                        <a:rPr lang="en-US" sz="1200" dirty="0">
                          <a:solidFill>
                            <a:srgbClr val="0E2A33"/>
                          </a:solidFill>
                          <a:latin typeface="IBM Plex Sans" pitchFamily="34" charset="0"/>
                          <a:ea typeface="IBM Plex Sans" pitchFamily="34" charset="-122"/>
                          <a:cs typeface="IBM Plex Sans" pitchFamily="34" charset="-120"/>
                        </a:rPr>
                        <a:t>SensorData (custom)</a:t>
                      </a:r>
                      <a:endParaRPr lang="en-US" sz="1200" dirty="0">
                        <a:latin typeface="IBM Plex Sans" charset="0"/>
                        <a:ea typeface="IBM Plex Sans" charset="0"/>
                        <a:cs typeface="IBM Plex Sans" charset="0"/>
                      </a:endParaRPr>
                    </a:p>
                  </a:txBody>
                  <a:tcPr marL="101600" marR="101600" marT="76200" marB="76200">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marL="0" indent="0">
                        <a:lnSpc>
                          <a:spcPts val="1680"/>
                        </a:lnSpc>
                        <a:buNone/>
                      </a:pPr>
                      <a:r>
                        <a:rPr lang="en-US" sz="1200" dirty="0">
                          <a:solidFill>
                            <a:srgbClr val="0E2A33"/>
                          </a:solidFill>
                          <a:latin typeface="IBM Plex Sans" pitchFamily="34" charset="0"/>
                          <a:ea typeface="IBM Plex Sans" pitchFamily="34" charset="-122"/>
                          <a:cs typeface="IBM Plex Sans" pitchFamily="34" charset="-120"/>
                        </a:rPr>
                        <a:t>bridge → odometry</a:t>
                      </a:r>
                      <a:endParaRPr lang="en-US" sz="1200" dirty="0">
                        <a:latin typeface="IBM Plex Sans" charset="0"/>
                        <a:ea typeface="IBM Plex Sans" charset="0"/>
                        <a:cs typeface="IBM Plex Sans" charset="0"/>
                      </a:endParaRPr>
                    </a:p>
                  </a:txBody>
                  <a:tcPr marL="101600" marR="101600" marT="76200" marB="76200">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extLst>
                  <a:ext uri="{0D108BD9-81ED-4DB2-BD59-A6C34878D82A}">
                    <a16:rowId xmlns:a16="http://schemas.microsoft.com/office/drawing/2014/main" val="10005"/>
                  </a:ext>
                </a:extLst>
              </a:tr>
              <a:tr h="375920">
                <a:tc>
                  <a:txBody>
                    <a:bodyPr/>
                    <a:lstStyle/>
                    <a:p>
                      <a:pPr marL="0" indent="0">
                        <a:lnSpc>
                          <a:spcPts val="1680"/>
                        </a:lnSpc>
                        <a:buNone/>
                      </a:pPr>
                      <a:r>
                        <a:rPr lang="en-US" sz="1200" dirty="0">
                          <a:solidFill>
                            <a:srgbClr val="0E2A33"/>
                          </a:solidFill>
                          <a:latin typeface="IBM Plex Sans" pitchFamily="34" charset="0"/>
                          <a:ea typeface="IBM Plex Sans" pitchFamily="34" charset="-122"/>
                          <a:cs typeface="IBM Plex Sans" pitchFamily="34" charset="-120"/>
                        </a:rPr>
                        <a:t>/odom</a:t>
                      </a:r>
                      <a:endParaRPr lang="en-US" sz="1200" dirty="0">
                        <a:latin typeface="IBM Plex Sans" charset="0"/>
                        <a:ea typeface="IBM Plex Sans" charset="0"/>
                        <a:cs typeface="IBM Plex Sans" charset="0"/>
                      </a:endParaRPr>
                    </a:p>
                  </a:txBody>
                  <a:tcPr marL="101600" marR="101600" marT="76200" marB="76200">
                    <a:lnL w="12700" cap="flat" cmpd="sng" algn="ctr">
                      <a:solidFill>
                        <a:srgbClr val="B9BEBB"/>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F5F7F4"/>
                    </a:solidFill>
                  </a:tcPr>
                </a:tc>
                <a:tc>
                  <a:txBody>
                    <a:bodyPr/>
                    <a:lstStyle/>
                    <a:p>
                      <a:pPr marL="0" indent="0">
                        <a:lnSpc>
                          <a:spcPts val="1680"/>
                        </a:lnSpc>
                        <a:buNone/>
                      </a:pPr>
                      <a:r>
                        <a:rPr lang="en-US" sz="1200" dirty="0">
                          <a:solidFill>
                            <a:srgbClr val="0E2A33"/>
                          </a:solidFill>
                          <a:latin typeface="IBM Plex Sans" pitchFamily="34" charset="0"/>
                          <a:ea typeface="IBM Plex Sans" pitchFamily="34" charset="-122"/>
                          <a:cs typeface="IBM Plex Sans" pitchFamily="34" charset="-120"/>
                        </a:rPr>
                        <a:t>nav_msgs/Odometry</a:t>
                      </a:r>
                      <a:endParaRPr lang="en-US" sz="1200" dirty="0">
                        <a:latin typeface="IBM Plex Sans" charset="0"/>
                        <a:ea typeface="IBM Plex Sans" charset="0"/>
                        <a:cs typeface="IBM Plex Sans" charset="0"/>
                      </a:endParaRPr>
                    </a:p>
                  </a:txBody>
                  <a:tcPr marL="101600" marR="101600" marT="76200" marB="762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F5F7F4"/>
                    </a:solidFill>
                  </a:tcPr>
                </a:tc>
                <a:tc>
                  <a:txBody>
                    <a:bodyPr/>
                    <a:lstStyle/>
                    <a:p>
                      <a:pPr marL="0" indent="0">
                        <a:lnSpc>
                          <a:spcPts val="1680"/>
                        </a:lnSpc>
                        <a:buNone/>
                      </a:pPr>
                      <a:r>
                        <a:rPr lang="en-US" sz="1200" dirty="0">
                          <a:solidFill>
                            <a:srgbClr val="0E2A33"/>
                          </a:solidFill>
                          <a:latin typeface="IBM Plex Sans" pitchFamily="34" charset="0"/>
                          <a:ea typeface="IBM Plex Sans" pitchFamily="34" charset="-122"/>
                          <a:cs typeface="IBM Plex Sans" pitchFamily="34" charset="-120"/>
                        </a:rPr>
                        <a:t>odometry → navigator</a:t>
                      </a:r>
                      <a:endParaRPr lang="en-US" sz="1200" dirty="0">
                        <a:latin typeface="IBM Plex Sans" charset="0"/>
                        <a:ea typeface="IBM Plex Sans" charset="0"/>
                        <a:cs typeface="IBM Plex Sans" charset="0"/>
                      </a:endParaRPr>
                    </a:p>
                  </a:txBody>
                  <a:tcPr marL="101600" marR="101600" marT="76200" marB="762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F5F7F4"/>
                    </a:solidFill>
                  </a:tcPr>
                </a:tc>
                <a:extLst>
                  <a:ext uri="{0D108BD9-81ED-4DB2-BD59-A6C34878D82A}">
                    <a16:rowId xmlns:a16="http://schemas.microsoft.com/office/drawing/2014/main" val="10006"/>
                  </a:ext>
                </a:extLst>
              </a:tr>
              <a:tr h="375920">
                <a:tc>
                  <a:txBody>
                    <a:bodyPr/>
                    <a:lstStyle/>
                    <a:p>
                      <a:pPr marL="0" indent="0">
                        <a:lnSpc>
                          <a:spcPts val="1680"/>
                        </a:lnSpc>
                        <a:buNone/>
                      </a:pPr>
                      <a:r>
                        <a:rPr lang="en-US" sz="1200" dirty="0">
                          <a:solidFill>
                            <a:srgbClr val="0E2A33"/>
                          </a:solidFill>
                          <a:latin typeface="IBM Plex Sans" pitchFamily="34" charset="0"/>
                          <a:ea typeface="IBM Plex Sans" pitchFamily="34" charset="-122"/>
                          <a:cs typeface="IBM Plex Sans" pitchFamily="34" charset="-120"/>
                        </a:rPr>
                        <a:t>/detections</a:t>
                      </a:r>
                      <a:endParaRPr lang="en-US" sz="1200" dirty="0">
                        <a:latin typeface="IBM Plex Sans" charset="0"/>
                        <a:ea typeface="IBM Plex Sans" charset="0"/>
                        <a:cs typeface="IBM Plex Sans" charset="0"/>
                      </a:endParaRPr>
                    </a:p>
                  </a:txBody>
                  <a:tcPr marL="101600" marR="101600" marT="76200" marB="76200">
                    <a:lnL w="12700" cap="flat" cmpd="sng" algn="ctr">
                      <a:solidFill>
                        <a:srgbClr val="B9BEBB"/>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marL="0" indent="0">
                        <a:lnSpc>
                          <a:spcPts val="1680"/>
                        </a:lnSpc>
                        <a:buNone/>
                      </a:pPr>
                      <a:r>
                        <a:rPr lang="en-US" sz="1200" dirty="0">
                          <a:solidFill>
                            <a:srgbClr val="0E2A33"/>
                          </a:solidFill>
                          <a:latin typeface="IBM Plex Sans" pitchFamily="34" charset="0"/>
                          <a:ea typeface="IBM Plex Sans" pitchFamily="34" charset="-122"/>
                          <a:cs typeface="IBM Plex Sans" pitchFamily="34" charset="-120"/>
                        </a:rPr>
                        <a:t>Detection2DArray</a:t>
                      </a:r>
                      <a:endParaRPr lang="en-US" sz="1200" dirty="0">
                        <a:latin typeface="IBM Plex Sans" charset="0"/>
                        <a:ea typeface="IBM Plex Sans" charset="0"/>
                        <a:cs typeface="IBM Plex Sans" charset="0"/>
                      </a:endParaRPr>
                    </a:p>
                  </a:txBody>
                  <a:tcPr marL="101600" marR="101600" marT="76200" marB="76200">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marL="0" indent="0">
                        <a:lnSpc>
                          <a:spcPts val="1680"/>
                        </a:lnSpc>
                        <a:buNone/>
                      </a:pPr>
                      <a:r>
                        <a:rPr lang="en-US" sz="1200" dirty="0">
                          <a:solidFill>
                            <a:srgbClr val="0E2A33"/>
                          </a:solidFill>
                          <a:latin typeface="IBM Plex Sans" pitchFamily="34" charset="0"/>
                          <a:ea typeface="IBM Plex Sans" pitchFamily="34" charset="-122"/>
                          <a:cs typeface="IBM Plex Sans" pitchFamily="34" charset="-120"/>
                        </a:rPr>
                        <a:t>yolo → navigator</a:t>
                      </a:r>
                      <a:endParaRPr lang="en-US" sz="1200" dirty="0">
                        <a:latin typeface="IBM Plex Sans" charset="0"/>
                        <a:ea typeface="IBM Plex Sans" charset="0"/>
                        <a:cs typeface="IBM Plex Sans" charset="0"/>
                      </a:endParaRPr>
                    </a:p>
                  </a:txBody>
                  <a:tcPr marL="101600" marR="101600" marT="76200" marB="76200">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extLst>
                  <a:ext uri="{0D108BD9-81ED-4DB2-BD59-A6C34878D82A}">
                    <a16:rowId xmlns:a16="http://schemas.microsoft.com/office/drawing/2014/main" val="10007"/>
                  </a:ext>
                </a:extLst>
              </a:tr>
              <a:tr h="375920">
                <a:tc>
                  <a:txBody>
                    <a:bodyPr/>
                    <a:lstStyle/>
                    <a:p>
                      <a:pPr marL="0" indent="0">
                        <a:lnSpc>
                          <a:spcPts val="1680"/>
                        </a:lnSpc>
                        <a:buNone/>
                      </a:pPr>
                      <a:r>
                        <a:rPr lang="en-US" sz="1200" dirty="0">
                          <a:solidFill>
                            <a:srgbClr val="0E2A33"/>
                          </a:solidFill>
                          <a:latin typeface="IBM Plex Sans" pitchFamily="34" charset="0"/>
                          <a:ea typeface="IBM Plex Sans" pitchFamily="34" charset="-122"/>
                          <a:cs typeface="IBM Plex Sans" pitchFamily="34" charset="-120"/>
                        </a:rPr>
                        <a:t>/vitals</a:t>
                      </a:r>
                      <a:endParaRPr lang="en-US" sz="1200" dirty="0">
                        <a:latin typeface="IBM Plex Sans" charset="0"/>
                        <a:ea typeface="IBM Plex Sans" charset="0"/>
                        <a:cs typeface="IBM Plex Sans" charset="0"/>
                      </a:endParaRPr>
                    </a:p>
                  </a:txBody>
                  <a:tcPr marL="101600" marR="101600" marT="76200" marB="76200">
                    <a:lnL w="12700" cap="flat" cmpd="sng" algn="ctr">
                      <a:solidFill>
                        <a:srgbClr val="B9BEBB"/>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F5F7F4"/>
                    </a:solidFill>
                  </a:tcPr>
                </a:tc>
                <a:tc>
                  <a:txBody>
                    <a:bodyPr/>
                    <a:lstStyle/>
                    <a:p>
                      <a:pPr marL="0" indent="0">
                        <a:lnSpc>
                          <a:spcPts val="1680"/>
                        </a:lnSpc>
                        <a:buNone/>
                      </a:pPr>
                      <a:r>
                        <a:rPr lang="en-US" sz="1200" dirty="0">
                          <a:solidFill>
                            <a:srgbClr val="0E2A33"/>
                          </a:solidFill>
                          <a:latin typeface="IBM Plex Sans" pitchFamily="34" charset="0"/>
                          <a:ea typeface="IBM Plex Sans" pitchFamily="34" charset="-122"/>
                          <a:cs typeface="IBM Plex Sans" pitchFamily="34" charset="-120"/>
                        </a:rPr>
                        <a:t>Vitals (custom)</a:t>
                      </a:r>
                      <a:endParaRPr lang="en-US" sz="1200" dirty="0">
                        <a:latin typeface="IBM Plex Sans" charset="0"/>
                        <a:ea typeface="IBM Plex Sans" charset="0"/>
                        <a:cs typeface="IBM Plex Sans" charset="0"/>
                      </a:endParaRPr>
                    </a:p>
                  </a:txBody>
                  <a:tcPr marL="101600" marR="101600" marT="76200" marB="762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F5F7F4"/>
                    </a:solidFill>
                  </a:tcPr>
                </a:tc>
                <a:tc>
                  <a:txBody>
                    <a:bodyPr/>
                    <a:lstStyle/>
                    <a:p>
                      <a:pPr marL="0" indent="0">
                        <a:lnSpc>
                          <a:spcPts val="1680"/>
                        </a:lnSpc>
                        <a:buNone/>
                      </a:pPr>
                      <a:r>
                        <a:rPr lang="en-US" sz="1200" dirty="0">
                          <a:solidFill>
                            <a:srgbClr val="0E2A33"/>
                          </a:solidFill>
                          <a:latin typeface="IBM Plex Sans" pitchFamily="34" charset="0"/>
                          <a:ea typeface="IBM Plex Sans" pitchFamily="34" charset="-122"/>
                          <a:cs typeface="IBM Plex Sans" pitchFamily="34" charset="-120"/>
                        </a:rPr>
                        <a:t>bridge → decision</a:t>
                      </a:r>
                      <a:endParaRPr lang="en-US" sz="1200" dirty="0">
                        <a:latin typeface="IBM Plex Sans" charset="0"/>
                        <a:ea typeface="IBM Plex Sans" charset="0"/>
                        <a:cs typeface="IBM Plex Sans" charset="0"/>
                      </a:endParaRPr>
                    </a:p>
                  </a:txBody>
                  <a:tcPr marL="101600" marR="101600" marT="76200" marB="762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F5F7F4"/>
                    </a:solidFill>
                  </a:tcPr>
                </a:tc>
                <a:extLst>
                  <a:ext uri="{0D108BD9-81ED-4DB2-BD59-A6C34878D82A}">
                    <a16:rowId xmlns:a16="http://schemas.microsoft.com/office/drawing/2014/main" val="10008"/>
                  </a:ext>
                </a:extLst>
              </a:tr>
              <a:tr h="375920">
                <a:tc>
                  <a:txBody>
                    <a:bodyPr/>
                    <a:lstStyle/>
                    <a:p>
                      <a:pPr marL="0" indent="0">
                        <a:lnSpc>
                          <a:spcPts val="1680"/>
                        </a:lnSpc>
                        <a:buNone/>
                      </a:pPr>
                      <a:r>
                        <a:rPr lang="en-US" sz="1200" dirty="0">
                          <a:solidFill>
                            <a:srgbClr val="0E2A33"/>
                          </a:solidFill>
                          <a:latin typeface="IBM Plex Sans" pitchFamily="34" charset="0"/>
                          <a:ea typeface="IBM Plex Sans" pitchFamily="34" charset="-122"/>
                          <a:cs typeface="IBM Plex Sans" pitchFamily="34" charset="-120"/>
                        </a:rPr>
                        <a:t>/drawer/unlock</a:t>
                      </a:r>
                      <a:endParaRPr lang="en-US" sz="1200" dirty="0">
                        <a:latin typeface="IBM Plex Sans" charset="0"/>
                        <a:ea typeface="IBM Plex Sans" charset="0"/>
                        <a:cs typeface="IBM Plex Sans" charset="0"/>
                      </a:endParaRPr>
                    </a:p>
                  </a:txBody>
                  <a:tcPr marL="101600" marR="101600" marT="76200" marB="76200">
                    <a:lnL w="12700" cap="flat" cmpd="sng" algn="ctr">
                      <a:solidFill>
                        <a:srgbClr val="B9BEBB"/>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marL="0" indent="0">
                        <a:lnSpc>
                          <a:spcPts val="1680"/>
                        </a:lnSpc>
                        <a:buNone/>
                      </a:pPr>
                      <a:r>
                        <a:rPr lang="en-US" sz="1200" dirty="0">
                          <a:solidFill>
                            <a:srgbClr val="0E2A33"/>
                          </a:solidFill>
                          <a:latin typeface="IBM Plex Sans" pitchFamily="34" charset="0"/>
                          <a:ea typeface="IBM Plex Sans" pitchFamily="34" charset="-122"/>
                          <a:cs typeface="IBM Plex Sans" pitchFamily="34" charset="-120"/>
                        </a:rPr>
                        <a:t>Service (custom)</a:t>
                      </a:r>
                      <a:endParaRPr lang="en-US" sz="1200" dirty="0">
                        <a:latin typeface="IBM Plex Sans" charset="0"/>
                        <a:ea typeface="IBM Plex Sans" charset="0"/>
                        <a:cs typeface="IBM Plex Sans" charset="0"/>
                      </a:endParaRPr>
                    </a:p>
                  </a:txBody>
                  <a:tcPr marL="101600" marR="101600" marT="76200" marB="76200">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marL="0" indent="0">
                        <a:lnSpc>
                          <a:spcPts val="1680"/>
                        </a:lnSpc>
                        <a:buNone/>
                      </a:pPr>
                      <a:r>
                        <a:rPr lang="en-US" sz="1200" dirty="0">
                          <a:solidFill>
                            <a:srgbClr val="0E2A33"/>
                          </a:solidFill>
                          <a:latin typeface="IBM Plex Sans" pitchFamily="34" charset="0"/>
                          <a:ea typeface="IBM Plex Sans" pitchFamily="34" charset="-122"/>
                          <a:cs typeface="IBM Plex Sans" pitchFamily="34" charset="-120"/>
                        </a:rPr>
                        <a:t>decision → bridge</a:t>
                      </a:r>
                      <a:endParaRPr lang="en-US" sz="1200" dirty="0">
                        <a:latin typeface="IBM Plex Sans" charset="0"/>
                        <a:ea typeface="IBM Plex Sans" charset="0"/>
                        <a:cs typeface="IBM Plex Sans" charset="0"/>
                      </a:endParaRPr>
                    </a:p>
                  </a:txBody>
                  <a:tcPr marL="101600" marR="101600" marT="76200" marB="76200">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extLst>
                  <a:ext uri="{0D108BD9-81ED-4DB2-BD59-A6C34878D82A}">
                    <a16:rowId xmlns:a16="http://schemas.microsoft.com/office/drawing/2014/main" val="10009"/>
                  </a:ext>
                </a:extLst>
              </a:tr>
            </a:tbl>
          </a:graphicData>
        </a:graphic>
      </p:graphicFrame>
      <p:sp>
        <p:nvSpPr>
          <p:cNvPr id="28" name="Text 23"/>
          <p:cNvSpPr/>
          <p:nvPr/>
        </p:nvSpPr>
        <p:spPr>
          <a:xfrm>
            <a:off x="812800" y="6238239"/>
            <a:ext cx="99000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5676C"/>
                </a:solidFill>
                <a:latin typeface="IBM Plex Sans" pitchFamily="34" charset="0"/>
                <a:ea typeface="IBM Plex Sans" pitchFamily="34" charset="-122"/>
                <a:cs typeface="IBM Plex Sans" pitchFamily="34" charset="-120"/>
              </a:rPr>
              <a:t>ESP32 safety:</a:t>
            </a:r>
            <a:r>
              <a:rPr lang="en-US" sz="1200" dirty="0">
                <a:solidFill>
                  <a:srgbClr val="55676C"/>
                </a:solidFill>
                <a:latin typeface="IBM Plex Sans" pitchFamily="34" charset="0"/>
                <a:ea typeface="IBM Plex Sans" pitchFamily="34" charset="-122"/>
                <a:cs typeface="IBM Plex Sans" pitchFamily="34" charset="-120"/>
              </a:rPr>
              <a:t> stops the motors if /cmd_vel goes quiet for 0.5 s, and slows at 40 cm and stops at 15 cm with no help from the Pi</a:t>
            </a:r>
            <a:endParaRPr lang="en-US" sz="1200" dirty="0"/>
          </a:p>
        </p:txBody>
      </p:sp>
      <p:sp>
        <p:nvSpPr>
          <p:cNvPr id="29" name="Text 24"/>
          <p:cNvSpPr/>
          <p:nvPr/>
        </p:nvSpPr>
        <p:spPr>
          <a:xfrm>
            <a:off x="11196320" y="6238239"/>
            <a:ext cx="233680" cy="23876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55676C"/>
                </a:solidFill>
                <a:latin typeface="IBM Plex Sans" pitchFamily="34" charset="0"/>
                <a:ea typeface="IBM Plex Sans" pitchFamily="34" charset="-122"/>
                <a:cs typeface="IBM Plex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C6D67"/>
                </a:solidFill>
                <a:latin typeface="JetBrains Mono" pitchFamily="49" charset="0"/>
                <a:ea typeface="JetBrains Mono" pitchFamily="49" charset="-122"/>
                <a:cs typeface="JetBrains Mono" pitchFamily="49" charset="-120"/>
              </a:rPr>
              <a:t>PART 2 · ROS 2 · IBRAHIM TAMER</a:t>
            </a:r>
            <a:endParaRPr lang="en-US" sz="1200" dirty="0"/>
          </a:p>
        </p:txBody>
      </p:sp>
      <p:sp>
        <p:nvSpPr>
          <p:cNvPr id="3" name="Text 1"/>
          <p:cNvSpPr>
            <a:spLocks noGrp="1"/>
          </p:cNvSpPr>
          <p:nvPr>
            <p:ph type="title"/>
          </p:nvPr>
        </p:nvSpPr>
        <p:spPr>
          <a:xfrm>
            <a:off x="812800" y="11277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E2A33"/>
                </a:solidFill>
                <a:latin typeface="Space Grotesk" pitchFamily="34" charset="0"/>
                <a:ea typeface="Space Grotesk" pitchFamily="34" charset="-122"/>
                <a:cs typeface="Space Grotesk" pitchFamily="34" charset="-120"/>
              </a:rPr>
              <a:t>Driving to the bed with markers</a:t>
            </a:r>
            <a:endParaRPr lang="en-US" sz="3200" dirty="0"/>
          </a:p>
        </p:txBody>
      </p:sp>
      <p:sp>
        <p:nvSpPr>
          <p:cNvPr id="4" name="Shape 2"/>
          <p:cNvSpPr/>
          <p:nvPr/>
        </p:nvSpPr>
        <p:spPr>
          <a:xfrm>
            <a:off x="815975" y="1882775"/>
            <a:ext cx="2520950" cy="1877060"/>
          </a:xfrm>
          <a:prstGeom prst="roundRect">
            <a:avLst>
              <a:gd name="adj" fmla="val 5244"/>
            </a:avLst>
          </a:prstGeom>
          <a:solidFill>
            <a:srgbClr val="FCFDFB"/>
          </a:solidFill>
          <a:ln w="6350">
            <a:solidFill>
              <a:srgbClr val="D3DDDA"/>
            </a:solidFill>
            <a:prstDash val="solid"/>
          </a:ln>
        </p:spPr>
        <p:txBody>
          <a:bodyPr/>
          <a:lstStyle/>
          <a:p>
            <a:endParaRPr lang="en-US"/>
          </a:p>
        </p:txBody>
      </p:sp>
      <p:sp>
        <p:nvSpPr>
          <p:cNvPr id="5" name="Text 3"/>
          <p:cNvSpPr/>
          <p:nvPr/>
        </p:nvSpPr>
        <p:spPr>
          <a:xfrm>
            <a:off x="1021080" y="2087882"/>
            <a:ext cx="217406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C6D67"/>
                </a:solidFill>
                <a:latin typeface="JetBrains Mono" pitchFamily="49" charset="0"/>
                <a:ea typeface="JetBrains Mono" pitchFamily="49" charset="-122"/>
                <a:cs typeface="JetBrains Mono" pitchFamily="49" charset="-120"/>
              </a:rPr>
              <a:t>01</a:t>
            </a:r>
            <a:endParaRPr lang="en-US" sz="1200" dirty="0"/>
          </a:p>
        </p:txBody>
      </p:sp>
      <p:sp>
        <p:nvSpPr>
          <p:cNvPr id="6" name="Text 4"/>
          <p:cNvSpPr/>
          <p:nvPr/>
        </p:nvSpPr>
        <p:spPr>
          <a:xfrm>
            <a:off x="1021080" y="2377439"/>
            <a:ext cx="2174062"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0E2A33"/>
                </a:solidFill>
                <a:latin typeface="Space Grotesk" pitchFamily="34" charset="0"/>
                <a:ea typeface="Space Grotesk" pitchFamily="34" charset="-122"/>
                <a:cs typeface="Space Grotesk" pitchFamily="34" charset="-120"/>
              </a:rPr>
              <a:t>Marker map</a:t>
            </a:r>
            <a:endParaRPr lang="en-US" sz="1500" dirty="0"/>
          </a:p>
        </p:txBody>
      </p:sp>
      <p:sp>
        <p:nvSpPr>
          <p:cNvPr id="7" name="Text 5"/>
          <p:cNvSpPr/>
          <p:nvPr/>
        </p:nvSpPr>
        <p:spPr>
          <a:xfrm>
            <a:off x="1021080" y="2701289"/>
            <a:ext cx="2174062"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158"/>
                </a:solidFill>
                <a:latin typeface="IBM Plex Sans" pitchFamily="34" charset="0"/>
                <a:ea typeface="IBM Plex Sans" pitchFamily="34" charset="-122"/>
                <a:cs typeface="IBM Plex Sans" pitchFamily="34" charset="-120"/>
              </a:rPr>
              <a:t>Markers are graph nodes with distances. Each position is tape-measured.</a:t>
            </a:r>
            <a:endParaRPr lang="en-US" sz="1200" dirty="0"/>
          </a:p>
        </p:txBody>
      </p:sp>
      <p:sp>
        <p:nvSpPr>
          <p:cNvPr id="8" name="Shape 6"/>
          <p:cNvSpPr/>
          <p:nvPr/>
        </p:nvSpPr>
        <p:spPr>
          <a:xfrm>
            <a:off x="3495675" y="1882775"/>
            <a:ext cx="2520950" cy="1877060"/>
          </a:xfrm>
          <a:prstGeom prst="roundRect">
            <a:avLst>
              <a:gd name="adj" fmla="val 5244"/>
            </a:avLst>
          </a:prstGeom>
          <a:solidFill>
            <a:srgbClr val="FCFDFB"/>
          </a:solidFill>
          <a:ln w="6350">
            <a:solidFill>
              <a:srgbClr val="D3DDDA"/>
            </a:solidFill>
            <a:prstDash val="solid"/>
          </a:ln>
        </p:spPr>
        <p:txBody>
          <a:bodyPr/>
          <a:lstStyle/>
          <a:p>
            <a:endParaRPr lang="en-US"/>
          </a:p>
        </p:txBody>
      </p:sp>
      <p:sp>
        <p:nvSpPr>
          <p:cNvPr id="9" name="Text 7"/>
          <p:cNvSpPr/>
          <p:nvPr/>
        </p:nvSpPr>
        <p:spPr>
          <a:xfrm>
            <a:off x="3700780" y="2087882"/>
            <a:ext cx="217406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C6D67"/>
                </a:solidFill>
                <a:latin typeface="JetBrains Mono" pitchFamily="49" charset="0"/>
                <a:ea typeface="JetBrains Mono" pitchFamily="49" charset="-122"/>
                <a:cs typeface="JetBrains Mono" pitchFamily="49" charset="-120"/>
              </a:rPr>
              <a:t>02</a:t>
            </a:r>
            <a:endParaRPr lang="en-US" sz="1200" dirty="0"/>
          </a:p>
        </p:txBody>
      </p:sp>
      <p:sp>
        <p:nvSpPr>
          <p:cNvPr id="10" name="Text 8"/>
          <p:cNvSpPr/>
          <p:nvPr/>
        </p:nvSpPr>
        <p:spPr>
          <a:xfrm>
            <a:off x="3700780" y="2377439"/>
            <a:ext cx="2174062"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0E2A33"/>
                </a:solidFill>
                <a:latin typeface="Space Grotesk" pitchFamily="34" charset="0"/>
                <a:ea typeface="Space Grotesk" pitchFamily="34" charset="-122"/>
                <a:cs typeface="Space Grotesk" pitchFamily="34" charset="-120"/>
              </a:rPr>
              <a:t>Localize</a:t>
            </a:r>
            <a:endParaRPr lang="en-US" sz="1500" dirty="0"/>
          </a:p>
        </p:txBody>
      </p:sp>
      <p:sp>
        <p:nvSpPr>
          <p:cNvPr id="11" name="Text 9"/>
          <p:cNvSpPr/>
          <p:nvPr/>
        </p:nvSpPr>
        <p:spPr>
          <a:xfrm>
            <a:off x="3700780" y="2701289"/>
            <a:ext cx="2174062" cy="87884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158"/>
                </a:solidFill>
                <a:latin typeface="IBM Plex Sans" pitchFamily="34" charset="0"/>
                <a:ea typeface="IBM Plex Sans" pitchFamily="34" charset="-122"/>
                <a:cs typeface="IBM Plex Sans" pitchFamily="34" charset="-120"/>
              </a:rPr>
              <a:t>Wheel ticks and gyro give position and heading. Each marker sighting resets both.</a:t>
            </a:r>
            <a:endParaRPr lang="en-US" sz="1200" dirty="0"/>
          </a:p>
        </p:txBody>
      </p:sp>
      <p:sp>
        <p:nvSpPr>
          <p:cNvPr id="12" name="Shape 10"/>
          <p:cNvSpPr/>
          <p:nvPr/>
        </p:nvSpPr>
        <p:spPr>
          <a:xfrm>
            <a:off x="6175375" y="1882775"/>
            <a:ext cx="2520950" cy="1877060"/>
          </a:xfrm>
          <a:prstGeom prst="roundRect">
            <a:avLst>
              <a:gd name="adj" fmla="val 5244"/>
            </a:avLst>
          </a:prstGeom>
          <a:solidFill>
            <a:srgbClr val="FCFDFB"/>
          </a:solidFill>
          <a:ln w="6350">
            <a:solidFill>
              <a:srgbClr val="D3DDDA"/>
            </a:solidFill>
            <a:prstDash val="solid"/>
          </a:ln>
        </p:spPr>
        <p:txBody>
          <a:bodyPr/>
          <a:lstStyle/>
          <a:p>
            <a:endParaRPr lang="en-US"/>
          </a:p>
        </p:txBody>
      </p:sp>
      <p:sp>
        <p:nvSpPr>
          <p:cNvPr id="13" name="Text 11"/>
          <p:cNvSpPr/>
          <p:nvPr/>
        </p:nvSpPr>
        <p:spPr>
          <a:xfrm>
            <a:off x="6380480" y="2087882"/>
            <a:ext cx="217406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C6D67"/>
                </a:solidFill>
                <a:latin typeface="JetBrains Mono" pitchFamily="49" charset="0"/>
                <a:ea typeface="JetBrains Mono" pitchFamily="49" charset="-122"/>
                <a:cs typeface="JetBrains Mono" pitchFamily="49" charset="-120"/>
              </a:rPr>
              <a:t>03</a:t>
            </a:r>
            <a:endParaRPr lang="en-US" sz="1200" dirty="0"/>
          </a:p>
        </p:txBody>
      </p:sp>
      <p:sp>
        <p:nvSpPr>
          <p:cNvPr id="14" name="Text 12"/>
          <p:cNvSpPr/>
          <p:nvPr/>
        </p:nvSpPr>
        <p:spPr>
          <a:xfrm>
            <a:off x="6380480" y="2377439"/>
            <a:ext cx="2174062"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0E2A33"/>
                </a:solidFill>
                <a:latin typeface="Space Grotesk" pitchFamily="34" charset="0"/>
                <a:ea typeface="Space Grotesk" pitchFamily="34" charset="-122"/>
                <a:cs typeface="Space Grotesk" pitchFamily="34" charset="-120"/>
              </a:rPr>
              <a:t>Plan and drive</a:t>
            </a:r>
            <a:endParaRPr lang="en-US" sz="1500" dirty="0"/>
          </a:p>
        </p:txBody>
      </p:sp>
      <p:sp>
        <p:nvSpPr>
          <p:cNvPr id="15" name="Text 13"/>
          <p:cNvSpPr/>
          <p:nvPr/>
        </p:nvSpPr>
        <p:spPr>
          <a:xfrm>
            <a:off x="6380480" y="2701289"/>
            <a:ext cx="2174062"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158"/>
                </a:solidFill>
                <a:latin typeface="IBM Plex Sans" pitchFamily="34" charset="0"/>
                <a:ea typeface="IBM Plex Sans" pitchFamily="34" charset="-122"/>
                <a:cs typeface="IBM Plex Sans" pitchFamily="34" charset="-120"/>
              </a:rPr>
              <a:t>Dijkstra picks the route. The navigator steers and sends /cmd_vel.</a:t>
            </a:r>
            <a:endParaRPr lang="en-US" sz="1200" dirty="0"/>
          </a:p>
        </p:txBody>
      </p:sp>
      <p:sp>
        <p:nvSpPr>
          <p:cNvPr id="16" name="Shape 14"/>
          <p:cNvSpPr/>
          <p:nvPr/>
        </p:nvSpPr>
        <p:spPr>
          <a:xfrm>
            <a:off x="8855075" y="1882775"/>
            <a:ext cx="2520950" cy="1877060"/>
          </a:xfrm>
          <a:prstGeom prst="roundRect">
            <a:avLst>
              <a:gd name="adj" fmla="val 5244"/>
            </a:avLst>
          </a:prstGeom>
          <a:solidFill>
            <a:srgbClr val="FCFDFB"/>
          </a:solidFill>
          <a:ln w="6350">
            <a:solidFill>
              <a:srgbClr val="D3DDDA"/>
            </a:solidFill>
            <a:prstDash val="solid"/>
          </a:ln>
        </p:spPr>
        <p:txBody>
          <a:bodyPr/>
          <a:lstStyle/>
          <a:p>
            <a:endParaRPr lang="en-US"/>
          </a:p>
        </p:txBody>
      </p:sp>
      <p:sp>
        <p:nvSpPr>
          <p:cNvPr id="17" name="Text 15"/>
          <p:cNvSpPr/>
          <p:nvPr/>
        </p:nvSpPr>
        <p:spPr>
          <a:xfrm>
            <a:off x="9060180" y="2087882"/>
            <a:ext cx="217406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84E12"/>
                </a:solidFill>
                <a:latin typeface="JetBrains Mono" pitchFamily="49" charset="0"/>
                <a:ea typeface="JetBrains Mono" pitchFamily="49" charset="-122"/>
                <a:cs typeface="JetBrains Mono" pitchFamily="49" charset="-120"/>
              </a:rPr>
              <a:t>04</a:t>
            </a:r>
            <a:endParaRPr lang="en-US" sz="1200" dirty="0"/>
          </a:p>
        </p:txBody>
      </p:sp>
      <p:sp>
        <p:nvSpPr>
          <p:cNvPr id="18" name="Text 16"/>
          <p:cNvSpPr/>
          <p:nvPr/>
        </p:nvSpPr>
        <p:spPr>
          <a:xfrm>
            <a:off x="9060180" y="2377439"/>
            <a:ext cx="2174062"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0E2A33"/>
                </a:solidFill>
                <a:latin typeface="Space Grotesk" pitchFamily="34" charset="0"/>
                <a:ea typeface="Space Grotesk" pitchFamily="34" charset="-122"/>
                <a:cs typeface="Space Grotesk" pitchFamily="34" charset="-120"/>
              </a:rPr>
              <a:t>Park and stop</a:t>
            </a:r>
            <a:endParaRPr lang="en-US" sz="1500" dirty="0"/>
          </a:p>
        </p:txBody>
      </p:sp>
      <p:sp>
        <p:nvSpPr>
          <p:cNvPr id="19" name="Text 17"/>
          <p:cNvSpPr/>
          <p:nvPr/>
        </p:nvSpPr>
        <p:spPr>
          <a:xfrm>
            <a:off x="9060180" y="2701289"/>
            <a:ext cx="2174062" cy="87884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158"/>
                </a:solidFill>
                <a:latin typeface="IBM Plex Sans" pitchFamily="34" charset="0"/>
                <a:ea typeface="IBM Plex Sans" pitchFamily="34" charset="-122"/>
                <a:cs typeface="IBM Plex Sans" pitchFamily="34" charset="-120"/>
              </a:rPr>
              <a:t>At the bed it aligns on the marker, and YOLO confirms the bed. The ESP32 stops for obstacles.</a:t>
            </a:r>
            <a:endParaRPr lang="en-US" sz="1200" dirty="0"/>
          </a:p>
        </p:txBody>
      </p:sp>
      <p:sp>
        <p:nvSpPr>
          <p:cNvPr id="20" name="Shape 18"/>
          <p:cNvSpPr/>
          <p:nvPr/>
        </p:nvSpPr>
        <p:spPr>
          <a:xfrm>
            <a:off x="812800" y="4067811"/>
            <a:ext cx="5207000" cy="797560"/>
          </a:xfrm>
          <a:prstGeom prst="roundRect">
            <a:avLst>
              <a:gd name="adj" fmla="val 15924"/>
            </a:avLst>
          </a:prstGeom>
          <a:solidFill>
            <a:srgbClr val="E7EEEB"/>
          </a:solidFill>
          <a:ln/>
        </p:spPr>
        <p:txBody>
          <a:bodyPr/>
          <a:lstStyle/>
          <a:p>
            <a:endParaRPr lang="en-US"/>
          </a:p>
        </p:txBody>
      </p:sp>
      <p:pic>
        <p:nvPicPr>
          <p:cNvPr id="21" name="Image 0" descr="Search"/>
          <p:cNvPicPr>
            <a:picLocks noChangeAspect="1"/>
          </p:cNvPicPr>
          <p:nvPr/>
        </p:nvPicPr>
        <p:blipFill>
          <a:blip r:embed="rId3"/>
          <a:srcRect/>
          <a:stretch/>
        </p:blipFill>
        <p:spPr>
          <a:xfrm>
            <a:off x="1016000" y="4245611"/>
            <a:ext cx="254000" cy="254000"/>
          </a:xfrm>
          <a:prstGeom prst="rect">
            <a:avLst/>
          </a:prstGeom>
        </p:spPr>
      </p:pic>
      <p:sp>
        <p:nvSpPr>
          <p:cNvPr id="22" name="Text 19"/>
          <p:cNvSpPr/>
          <p:nvPr/>
        </p:nvSpPr>
        <p:spPr>
          <a:xfrm>
            <a:off x="1397000" y="4245611"/>
            <a:ext cx="4552188" cy="467360"/>
          </a:xfrm>
          <a:prstGeom prst="rect">
            <a:avLst/>
          </a:prstGeom>
          <a:noFill/>
          <a:ln/>
        </p:spPr>
        <p:txBody>
          <a:bodyPr wrap="square" lIns="0" tIns="0" rIns="0" bIns="0" rtlCol="0" anchor="t">
            <a:normAutofit/>
          </a:bodyPr>
          <a:lstStyle/>
          <a:p>
            <a:pPr marL="0" indent="0" algn="l">
              <a:lnSpc>
                <a:spcPts val="1740"/>
              </a:lnSpc>
              <a:buNone/>
            </a:pPr>
            <a:r>
              <a:rPr lang="en-US" sz="1200" b="1" dirty="0">
                <a:solidFill>
                  <a:srgbClr val="0E2A33"/>
                </a:solidFill>
                <a:latin typeface="IBM Plex Sans" pitchFamily="34" charset="0"/>
                <a:ea typeface="IBM Plex Sans" pitchFamily="34" charset="-122"/>
                <a:cs typeface="IBM Plex Sans" pitchFamily="34" charset="-120"/>
              </a:rPr>
              <a:t>RViz2:</a:t>
            </a:r>
            <a:r>
              <a:rPr lang="en-US" sz="1200" dirty="0">
                <a:solidFill>
                  <a:srgbClr val="0E2A33"/>
                </a:solidFill>
                <a:latin typeface="IBM Plex Sans" pitchFamily="34" charset="0"/>
                <a:ea typeface="IBM Plex Sans" pitchFamily="34" charset="-122"/>
                <a:cs typeface="IBM Plex Sans" pitchFamily="34" charset="-120"/>
              </a:rPr>
              <a:t> shows the robot’s pose, the markers it sees and live sensor data while we test.</a:t>
            </a:r>
            <a:endParaRPr lang="en-US" sz="1200" dirty="0"/>
          </a:p>
        </p:txBody>
      </p:sp>
      <p:sp>
        <p:nvSpPr>
          <p:cNvPr id="23" name="Shape 20"/>
          <p:cNvSpPr/>
          <p:nvPr/>
        </p:nvSpPr>
        <p:spPr>
          <a:xfrm>
            <a:off x="6172200" y="4067811"/>
            <a:ext cx="5207000" cy="797560"/>
          </a:xfrm>
          <a:prstGeom prst="roundRect">
            <a:avLst>
              <a:gd name="adj" fmla="val 15924"/>
            </a:avLst>
          </a:prstGeom>
          <a:solidFill>
            <a:srgbClr val="0E2A33"/>
          </a:solidFill>
          <a:ln/>
        </p:spPr>
        <p:txBody>
          <a:bodyPr/>
          <a:lstStyle/>
          <a:p>
            <a:endParaRPr lang="en-US"/>
          </a:p>
        </p:txBody>
      </p:sp>
      <p:pic>
        <p:nvPicPr>
          <p:cNvPr id="24" name="Image 1" descr="Database"/>
          <p:cNvPicPr>
            <a:picLocks noChangeAspect="1"/>
          </p:cNvPicPr>
          <p:nvPr/>
        </p:nvPicPr>
        <p:blipFill>
          <a:blip r:embed="rId4"/>
          <a:srcRect/>
          <a:stretch/>
        </p:blipFill>
        <p:spPr>
          <a:xfrm>
            <a:off x="6375400" y="4245611"/>
            <a:ext cx="254000" cy="254000"/>
          </a:xfrm>
          <a:prstGeom prst="rect">
            <a:avLst/>
          </a:prstGeom>
        </p:spPr>
      </p:pic>
      <p:sp>
        <p:nvSpPr>
          <p:cNvPr id="25" name="Text 21"/>
          <p:cNvSpPr/>
          <p:nvPr/>
        </p:nvSpPr>
        <p:spPr>
          <a:xfrm>
            <a:off x="6756400" y="4245611"/>
            <a:ext cx="4552188" cy="467360"/>
          </a:xfrm>
          <a:prstGeom prst="rect">
            <a:avLst/>
          </a:prstGeom>
          <a:noFill/>
          <a:ln/>
        </p:spPr>
        <p:txBody>
          <a:bodyPr wrap="square" lIns="0" tIns="0" rIns="0" bIns="0" rtlCol="0" anchor="t">
            <a:normAutofit/>
          </a:bodyPr>
          <a:lstStyle/>
          <a:p>
            <a:pPr marL="0" indent="0" algn="l">
              <a:lnSpc>
                <a:spcPts val="1740"/>
              </a:lnSpc>
              <a:buNone/>
            </a:pPr>
            <a:r>
              <a:rPr lang="en-US" sz="1200" b="1" dirty="0">
                <a:solidFill>
                  <a:srgbClr val="F5F7F4"/>
                </a:solidFill>
                <a:latin typeface="IBM Plex Sans" pitchFamily="34" charset="0"/>
                <a:ea typeface="IBM Plex Sans" pitchFamily="34" charset="-122"/>
                <a:cs typeface="IBM Plex Sans" pitchFamily="34" charset="-120"/>
              </a:rPr>
              <a:t>rosbag2:</a:t>
            </a:r>
            <a:r>
              <a:rPr lang="en-US" sz="1200" dirty="0">
                <a:solidFill>
                  <a:srgbClr val="F5F7F4"/>
                </a:solidFill>
                <a:latin typeface="IBM Plex Sans" pitchFamily="34" charset="0"/>
                <a:ea typeface="IBM Plex Sans" pitchFamily="34" charset="-122"/>
                <a:cs typeface="IBM Plex Sans" pitchFamily="34" charset="-120"/>
              </a:rPr>
              <a:t> records every sensor topic with timestamps, so we can replay runs and plot the data.</a:t>
            </a:r>
            <a:endParaRPr lang="en-US" sz="1200" dirty="0"/>
          </a:p>
        </p:txBody>
      </p:sp>
      <p:sp>
        <p:nvSpPr>
          <p:cNvPr id="26" name="Text 22"/>
          <p:cNvSpPr/>
          <p:nvPr/>
        </p:nvSpPr>
        <p:spPr>
          <a:xfrm>
            <a:off x="812800" y="6238239"/>
            <a:ext cx="641108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76C"/>
                </a:solidFill>
                <a:latin typeface="IBM Plex Sans" pitchFamily="34" charset="0"/>
                <a:ea typeface="IBM Plex Sans" pitchFamily="34" charset="-122"/>
                <a:cs typeface="IBM Plex Sans" pitchFamily="34" charset="-120"/>
              </a:rPr>
              <a:t>No LiDAR needed: wheel odometry and the IMU, corrected by the bed markers</a:t>
            </a:r>
            <a:endParaRPr lang="en-US" sz="1200" dirty="0"/>
          </a:p>
        </p:txBody>
      </p:sp>
      <p:sp>
        <p:nvSpPr>
          <p:cNvPr id="27" name="Text 23"/>
          <p:cNvSpPr/>
          <p:nvPr/>
        </p:nvSpPr>
        <p:spPr>
          <a:xfrm>
            <a:off x="11196320" y="6238239"/>
            <a:ext cx="233680" cy="23876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55676C"/>
                </a:solidFill>
                <a:latin typeface="IBM Plex Sans" pitchFamily="34" charset="0"/>
                <a:ea typeface="IBM Plex Sans" pitchFamily="34" charset="-122"/>
                <a:cs typeface="IBM Plex San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7EEE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C6D67"/>
                </a:solidFill>
                <a:latin typeface="JetBrains Mono" pitchFamily="49" charset="0"/>
                <a:ea typeface="JetBrains Mono" pitchFamily="49" charset="-122"/>
                <a:cs typeface="JetBrains Mono" pitchFamily="49" charset="-120"/>
              </a:rPr>
              <a:t>PART 3 · AI · YOUSSEF HESHAM</a:t>
            </a:r>
            <a:endParaRPr lang="en-US" sz="1200" dirty="0"/>
          </a:p>
        </p:txBody>
      </p:sp>
      <p:sp>
        <p:nvSpPr>
          <p:cNvPr id="3" name="Text 1"/>
          <p:cNvSpPr>
            <a:spLocks noGrp="1"/>
          </p:cNvSpPr>
          <p:nvPr>
            <p:ph type="title"/>
          </p:nvPr>
        </p:nvSpPr>
        <p:spPr>
          <a:xfrm>
            <a:off x="812800" y="11277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E2A33"/>
                </a:solidFill>
                <a:latin typeface="Space Grotesk" pitchFamily="34" charset="0"/>
                <a:ea typeface="Space Grotesk" pitchFamily="34" charset="-122"/>
                <a:cs typeface="Space Grotesk" pitchFamily="34" charset="-120"/>
              </a:rPr>
              <a:t>What the robot sees and hears</a:t>
            </a:r>
            <a:endParaRPr lang="en-US" sz="3200" dirty="0"/>
          </a:p>
        </p:txBody>
      </p:sp>
      <p:sp>
        <p:nvSpPr>
          <p:cNvPr id="4" name="Shape 2"/>
          <p:cNvSpPr/>
          <p:nvPr/>
        </p:nvSpPr>
        <p:spPr>
          <a:xfrm>
            <a:off x="815975" y="1831975"/>
            <a:ext cx="5200650" cy="1807210"/>
          </a:xfrm>
          <a:prstGeom prst="roundRect">
            <a:avLst>
              <a:gd name="adj" fmla="val 6852"/>
            </a:avLst>
          </a:prstGeom>
          <a:solidFill>
            <a:srgbClr val="FCFDFB"/>
          </a:solidFill>
          <a:ln w="6350">
            <a:solidFill>
              <a:srgbClr val="D3DDDA"/>
            </a:solidFill>
            <a:prstDash val="solid"/>
          </a:ln>
        </p:spPr>
        <p:txBody>
          <a:bodyPr/>
          <a:lstStyle/>
          <a:p>
            <a:endParaRPr lang="en-US"/>
          </a:p>
        </p:txBody>
      </p:sp>
      <p:sp>
        <p:nvSpPr>
          <p:cNvPr id="5" name="Shape 3"/>
          <p:cNvSpPr/>
          <p:nvPr/>
        </p:nvSpPr>
        <p:spPr>
          <a:xfrm>
            <a:off x="1021080" y="2037082"/>
            <a:ext cx="355600" cy="355600"/>
          </a:xfrm>
          <a:prstGeom prst="roundRect">
            <a:avLst>
              <a:gd name="adj" fmla="val 25000"/>
            </a:avLst>
          </a:prstGeom>
          <a:solidFill>
            <a:srgbClr val="0C6D67"/>
          </a:solidFill>
          <a:ln/>
        </p:spPr>
        <p:txBody>
          <a:bodyPr/>
          <a:lstStyle/>
          <a:p>
            <a:endParaRPr lang="en-US"/>
          </a:p>
        </p:txBody>
      </p:sp>
      <p:pic>
        <p:nvPicPr>
          <p:cNvPr id="6" name="Image 0" descr="Search"/>
          <p:cNvPicPr>
            <a:picLocks noChangeAspect="1"/>
          </p:cNvPicPr>
          <p:nvPr/>
        </p:nvPicPr>
        <p:blipFill>
          <a:blip r:embed="rId3"/>
          <a:srcRect/>
          <a:stretch/>
        </p:blipFill>
        <p:spPr>
          <a:xfrm>
            <a:off x="1097280" y="2113282"/>
            <a:ext cx="203200" cy="203200"/>
          </a:xfrm>
          <a:prstGeom prst="rect">
            <a:avLst/>
          </a:prstGeom>
        </p:spPr>
      </p:pic>
      <p:sp>
        <p:nvSpPr>
          <p:cNvPr id="7" name="Text 4"/>
          <p:cNvSpPr/>
          <p:nvPr/>
        </p:nvSpPr>
        <p:spPr>
          <a:xfrm>
            <a:off x="1503680" y="2091057"/>
            <a:ext cx="4437075"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0E2A33"/>
                </a:solidFill>
                <a:latin typeface="Space Grotesk" pitchFamily="34" charset="0"/>
                <a:ea typeface="Space Grotesk" pitchFamily="34" charset="-122"/>
                <a:cs typeface="Space Grotesk" pitchFamily="34" charset="-120"/>
              </a:rPr>
              <a:t>Obstacles and people</a:t>
            </a:r>
            <a:endParaRPr lang="en-US" sz="1500" dirty="0"/>
          </a:p>
        </p:txBody>
      </p:sp>
      <p:sp>
        <p:nvSpPr>
          <p:cNvPr id="8" name="Text 5"/>
          <p:cNvSpPr/>
          <p:nvPr/>
        </p:nvSpPr>
        <p:spPr>
          <a:xfrm>
            <a:off x="1021080" y="2468882"/>
            <a:ext cx="4934153" cy="665480"/>
          </a:xfrm>
          <a:prstGeom prst="rect">
            <a:avLst/>
          </a:prstGeom>
          <a:noFill/>
          <a:ln/>
        </p:spPr>
        <p:txBody>
          <a:bodyPr wrap="square" lIns="0" tIns="0" rIns="0" bIns="0" rtlCol="0" anchor="t">
            <a:normAutofit/>
          </a:bodyPr>
          <a:lstStyle/>
          <a:p>
            <a:r>
              <a:rPr lang="en-US" sz="1200" dirty="0"/>
              <a:t>Finds beds and people in the camera frame and confirms the bed before the robot parks. Pretrained on COCO, fine-tuned on our own photos. </a:t>
            </a:r>
          </a:p>
        </p:txBody>
      </p:sp>
      <p:sp>
        <p:nvSpPr>
          <p:cNvPr id="9" name="Text 6"/>
          <p:cNvSpPr/>
          <p:nvPr/>
        </p:nvSpPr>
        <p:spPr>
          <a:xfrm>
            <a:off x="1021080" y="3185161"/>
            <a:ext cx="817880" cy="248920"/>
          </a:xfrm>
          <a:custGeom>
            <a:avLst/>
            <a:gdLst/>
            <a:ahLst/>
            <a:cxnLst/>
            <a:rect l="l" t="t" r="r" b="b"/>
            <a:pathLst>
              <a:path w="817880" h="248920">
                <a:moveTo>
                  <a:pt x="124460" y="0"/>
                </a:moveTo>
                <a:lnTo>
                  <a:pt x="693420" y="0"/>
                </a:lnTo>
                <a:arcTo wR="124460" hR="124460" stAng="16200000" swAng="5400000"/>
                <a:lnTo>
                  <a:pt x="817880" y="124460"/>
                </a:lnTo>
                <a:arcTo wR="124460" hR="124460" stAng="0" swAng="5400000"/>
                <a:lnTo>
                  <a:pt x="124460" y="248920"/>
                </a:lnTo>
                <a:arcTo wR="124460" hR="124460" stAng="5400000" swAng="5400000"/>
                <a:lnTo>
                  <a:pt x="0" y="124460"/>
                </a:lnTo>
                <a:arcTo wR="124460" hR="124460" stAng="10800000" swAng="5400000"/>
                <a:close/>
              </a:path>
            </a:pathLst>
          </a:custGeom>
          <a:solidFill>
            <a:srgbClr val="E7EEEB"/>
          </a:solidFill>
          <a:ln/>
        </p:spPr>
        <p:txBody>
          <a:bodyPr wrap="none" lIns="0" tIns="0" rIns="0" bIns="0" rtlCol="0" anchor="ctr">
            <a:normAutofit/>
          </a:bodyPr>
          <a:lstStyle/>
          <a:p>
            <a:pPr marL="0" indent="0" algn="ctr">
              <a:lnSpc>
                <a:spcPts val="1560"/>
              </a:lnSpc>
              <a:buNone/>
            </a:pPr>
            <a:r>
              <a:rPr lang="en-US" sz="1200" dirty="0">
                <a:solidFill>
                  <a:srgbClr val="0C6D67"/>
                </a:solidFill>
                <a:latin typeface="JetBrains Mono" pitchFamily="49" charset="0"/>
                <a:ea typeface="JetBrains Mono" pitchFamily="49" charset="-122"/>
                <a:cs typeface="JetBrains Mono" pitchFamily="49" charset="-120"/>
              </a:rPr>
              <a:t>YOLOv8n</a:t>
            </a:r>
            <a:endParaRPr lang="en-US" sz="1200" dirty="0"/>
          </a:p>
        </p:txBody>
      </p:sp>
      <p:sp>
        <p:nvSpPr>
          <p:cNvPr id="10" name="Shape 7"/>
          <p:cNvSpPr/>
          <p:nvPr/>
        </p:nvSpPr>
        <p:spPr>
          <a:xfrm>
            <a:off x="6175375" y="1831975"/>
            <a:ext cx="5200650" cy="1807210"/>
          </a:xfrm>
          <a:prstGeom prst="roundRect">
            <a:avLst>
              <a:gd name="adj" fmla="val 6852"/>
            </a:avLst>
          </a:prstGeom>
          <a:solidFill>
            <a:srgbClr val="FCFDFB"/>
          </a:solidFill>
          <a:ln w="6350">
            <a:solidFill>
              <a:srgbClr val="D3DDDA"/>
            </a:solidFill>
            <a:prstDash val="solid"/>
          </a:ln>
        </p:spPr>
        <p:txBody>
          <a:bodyPr/>
          <a:lstStyle/>
          <a:p>
            <a:endParaRPr lang="en-US"/>
          </a:p>
        </p:txBody>
      </p:sp>
      <p:sp>
        <p:nvSpPr>
          <p:cNvPr id="11" name="Shape 8"/>
          <p:cNvSpPr/>
          <p:nvPr/>
        </p:nvSpPr>
        <p:spPr>
          <a:xfrm>
            <a:off x="6380480" y="2037082"/>
            <a:ext cx="355600" cy="355600"/>
          </a:xfrm>
          <a:prstGeom prst="roundRect">
            <a:avLst>
              <a:gd name="adj" fmla="val 25000"/>
            </a:avLst>
          </a:prstGeom>
          <a:solidFill>
            <a:srgbClr val="0C6D67"/>
          </a:solidFill>
          <a:ln/>
        </p:spPr>
        <p:txBody>
          <a:bodyPr/>
          <a:lstStyle/>
          <a:p>
            <a:endParaRPr lang="en-US"/>
          </a:p>
        </p:txBody>
      </p:sp>
      <p:pic>
        <p:nvPicPr>
          <p:cNvPr id="12" name="Image 1" descr="Home"/>
          <p:cNvPicPr>
            <a:picLocks noChangeAspect="1"/>
          </p:cNvPicPr>
          <p:nvPr/>
        </p:nvPicPr>
        <p:blipFill>
          <a:blip r:embed="rId4"/>
          <a:srcRect/>
          <a:stretch/>
        </p:blipFill>
        <p:spPr>
          <a:xfrm>
            <a:off x="6456680" y="2113282"/>
            <a:ext cx="203200" cy="203200"/>
          </a:xfrm>
          <a:prstGeom prst="rect">
            <a:avLst/>
          </a:prstGeom>
        </p:spPr>
      </p:pic>
      <p:sp>
        <p:nvSpPr>
          <p:cNvPr id="13" name="Text 9"/>
          <p:cNvSpPr/>
          <p:nvPr/>
        </p:nvSpPr>
        <p:spPr>
          <a:xfrm>
            <a:off x="6863080" y="2091057"/>
            <a:ext cx="4437075"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0E2A33"/>
                </a:solidFill>
                <a:latin typeface="Space Grotesk" pitchFamily="34" charset="0"/>
                <a:ea typeface="Space Grotesk" pitchFamily="34" charset="-122"/>
                <a:cs typeface="Space Grotesk" pitchFamily="34" charset="-120"/>
              </a:rPr>
              <a:t>Bed markers</a:t>
            </a:r>
            <a:endParaRPr lang="en-US" sz="1500" dirty="0"/>
          </a:p>
        </p:txBody>
      </p:sp>
      <p:sp>
        <p:nvSpPr>
          <p:cNvPr id="14" name="Text 10"/>
          <p:cNvSpPr/>
          <p:nvPr/>
        </p:nvSpPr>
        <p:spPr>
          <a:xfrm>
            <a:off x="6380480" y="2468882"/>
            <a:ext cx="4934153"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158"/>
                </a:solidFill>
                <a:latin typeface="IBM Plex Sans" pitchFamily="34" charset="0"/>
                <a:ea typeface="IBM Plex Sans" pitchFamily="34" charset="-122"/>
                <a:cs typeface="IBM Plex Sans" pitchFamily="34" charset="-120"/>
              </a:rPr>
              <a:t>Reads each bed’s printed marker to get the bed number, distance and angle, so the robot parks in the right spot.</a:t>
            </a:r>
            <a:endParaRPr lang="en-US" sz="1200" dirty="0"/>
          </a:p>
        </p:txBody>
      </p:sp>
      <p:sp>
        <p:nvSpPr>
          <p:cNvPr id="15" name="Text 11"/>
          <p:cNvSpPr/>
          <p:nvPr/>
        </p:nvSpPr>
        <p:spPr>
          <a:xfrm>
            <a:off x="6380480" y="2971800"/>
            <a:ext cx="1275080" cy="248920"/>
          </a:xfrm>
          <a:custGeom>
            <a:avLst/>
            <a:gdLst/>
            <a:ahLst/>
            <a:cxnLst/>
            <a:rect l="l" t="t" r="r" b="b"/>
            <a:pathLst>
              <a:path w="1275080" h="248920">
                <a:moveTo>
                  <a:pt x="124460" y="0"/>
                </a:moveTo>
                <a:lnTo>
                  <a:pt x="1150620" y="0"/>
                </a:lnTo>
                <a:arcTo wR="124460" hR="124460" stAng="16200000" swAng="5400000"/>
                <a:lnTo>
                  <a:pt x="1275080" y="124460"/>
                </a:lnTo>
                <a:arcTo wR="124460" hR="124460" stAng="0" swAng="5400000"/>
                <a:lnTo>
                  <a:pt x="124460" y="248920"/>
                </a:lnTo>
                <a:arcTo wR="124460" hR="124460" stAng="5400000" swAng="5400000"/>
                <a:lnTo>
                  <a:pt x="0" y="124460"/>
                </a:lnTo>
                <a:arcTo wR="124460" hR="124460" stAng="10800000" swAng="5400000"/>
                <a:close/>
              </a:path>
            </a:pathLst>
          </a:custGeom>
          <a:solidFill>
            <a:srgbClr val="E7EEEB"/>
          </a:solidFill>
          <a:ln/>
        </p:spPr>
        <p:txBody>
          <a:bodyPr wrap="none" lIns="0" tIns="0" rIns="0" bIns="0" rtlCol="0" anchor="ctr">
            <a:normAutofit/>
          </a:bodyPr>
          <a:lstStyle/>
          <a:p>
            <a:pPr marL="0" indent="0" algn="ctr">
              <a:lnSpc>
                <a:spcPts val="1560"/>
              </a:lnSpc>
              <a:buNone/>
            </a:pPr>
            <a:r>
              <a:rPr lang="en-US" sz="1200" dirty="0">
                <a:solidFill>
                  <a:srgbClr val="0C6D67"/>
                </a:solidFill>
                <a:latin typeface="JetBrains Mono" pitchFamily="49" charset="0"/>
                <a:ea typeface="JetBrains Mono" pitchFamily="49" charset="-122"/>
                <a:cs typeface="JetBrains Mono" pitchFamily="49" charset="-120"/>
              </a:rPr>
              <a:t>OpenCV ArUco</a:t>
            </a:r>
            <a:endParaRPr lang="en-US" sz="1200" dirty="0"/>
          </a:p>
        </p:txBody>
      </p:sp>
      <p:sp>
        <p:nvSpPr>
          <p:cNvPr id="16" name="Shape 12"/>
          <p:cNvSpPr/>
          <p:nvPr/>
        </p:nvSpPr>
        <p:spPr>
          <a:xfrm>
            <a:off x="815975" y="3797936"/>
            <a:ext cx="5200650" cy="1593850"/>
          </a:xfrm>
          <a:prstGeom prst="roundRect">
            <a:avLst>
              <a:gd name="adj" fmla="val 7769"/>
            </a:avLst>
          </a:prstGeom>
          <a:solidFill>
            <a:srgbClr val="FCFDFB"/>
          </a:solidFill>
          <a:ln w="6350">
            <a:solidFill>
              <a:srgbClr val="D3DDDA"/>
            </a:solidFill>
            <a:prstDash val="solid"/>
          </a:ln>
        </p:spPr>
        <p:txBody>
          <a:bodyPr/>
          <a:lstStyle/>
          <a:p>
            <a:endParaRPr lang="en-US"/>
          </a:p>
        </p:txBody>
      </p:sp>
      <p:sp>
        <p:nvSpPr>
          <p:cNvPr id="17" name="Shape 13"/>
          <p:cNvSpPr/>
          <p:nvPr/>
        </p:nvSpPr>
        <p:spPr>
          <a:xfrm>
            <a:off x="1021080" y="4003039"/>
            <a:ext cx="355600" cy="355600"/>
          </a:xfrm>
          <a:prstGeom prst="roundRect">
            <a:avLst>
              <a:gd name="adj" fmla="val 25000"/>
            </a:avLst>
          </a:prstGeom>
          <a:solidFill>
            <a:srgbClr val="0C6D67"/>
          </a:solidFill>
          <a:ln/>
        </p:spPr>
        <p:txBody>
          <a:bodyPr/>
          <a:lstStyle/>
          <a:p>
            <a:endParaRPr lang="en-US"/>
          </a:p>
        </p:txBody>
      </p:sp>
      <p:pic>
        <p:nvPicPr>
          <p:cNvPr id="18" name="Image 2" descr="Verified"/>
          <p:cNvPicPr>
            <a:picLocks noChangeAspect="1"/>
          </p:cNvPicPr>
          <p:nvPr/>
        </p:nvPicPr>
        <p:blipFill>
          <a:blip r:embed="rId5"/>
          <a:srcRect/>
          <a:stretch/>
        </p:blipFill>
        <p:spPr>
          <a:xfrm>
            <a:off x="1097280" y="4079239"/>
            <a:ext cx="203200" cy="203200"/>
          </a:xfrm>
          <a:prstGeom prst="rect">
            <a:avLst/>
          </a:prstGeom>
        </p:spPr>
      </p:pic>
      <p:sp>
        <p:nvSpPr>
          <p:cNvPr id="19" name="Text 14"/>
          <p:cNvSpPr/>
          <p:nvPr/>
        </p:nvSpPr>
        <p:spPr>
          <a:xfrm>
            <a:off x="1503680" y="4057014"/>
            <a:ext cx="4437075"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0E2A33"/>
                </a:solidFill>
                <a:latin typeface="Space Grotesk" pitchFamily="34" charset="0"/>
                <a:ea typeface="Space Grotesk" pitchFamily="34" charset="-122"/>
                <a:cs typeface="Space Grotesk" pitchFamily="34" charset="-120"/>
              </a:rPr>
              <a:t>Patient check</a:t>
            </a:r>
            <a:endParaRPr lang="en-US" sz="1500" dirty="0"/>
          </a:p>
        </p:txBody>
      </p:sp>
      <p:sp>
        <p:nvSpPr>
          <p:cNvPr id="20" name="Text 15"/>
          <p:cNvSpPr/>
          <p:nvPr/>
        </p:nvSpPr>
        <p:spPr>
          <a:xfrm>
            <a:off x="1021080" y="4434839"/>
            <a:ext cx="4934153"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158"/>
                </a:solidFill>
                <a:latin typeface="IBM Plex Sans" pitchFamily="34" charset="0"/>
                <a:ea typeface="IBM Plex Sans" pitchFamily="34" charset="-122"/>
                <a:cs typeface="IBM Plex Sans" pitchFamily="34" charset="-120"/>
              </a:rPr>
              <a:t>Reads the wristband QR code, then checks the face matches the patient the nurse registered, before any drawer opens.</a:t>
            </a:r>
            <a:endParaRPr lang="en-US" sz="1200" dirty="0"/>
          </a:p>
        </p:txBody>
      </p:sp>
      <p:sp>
        <p:nvSpPr>
          <p:cNvPr id="21" name="Text 16"/>
          <p:cNvSpPr/>
          <p:nvPr/>
        </p:nvSpPr>
        <p:spPr>
          <a:xfrm>
            <a:off x="1021080" y="4937761"/>
            <a:ext cx="2098040" cy="248920"/>
          </a:xfrm>
          <a:custGeom>
            <a:avLst/>
            <a:gdLst/>
            <a:ahLst/>
            <a:cxnLst/>
            <a:rect l="l" t="t" r="r" b="b"/>
            <a:pathLst>
              <a:path w="2098040" h="248920">
                <a:moveTo>
                  <a:pt x="124460" y="0"/>
                </a:moveTo>
                <a:lnTo>
                  <a:pt x="1973580" y="0"/>
                </a:lnTo>
                <a:arcTo wR="124460" hR="124460" stAng="16200000" swAng="5400000"/>
                <a:lnTo>
                  <a:pt x="2098040" y="124460"/>
                </a:lnTo>
                <a:arcTo wR="124460" hR="124460" stAng="0" swAng="5400000"/>
                <a:lnTo>
                  <a:pt x="124460" y="248920"/>
                </a:lnTo>
                <a:arcTo wR="124460" hR="124460" stAng="5400000" swAng="5400000"/>
                <a:lnTo>
                  <a:pt x="0" y="124460"/>
                </a:lnTo>
                <a:arcTo wR="124460" hR="124460" stAng="10800000" swAng="5400000"/>
                <a:close/>
              </a:path>
            </a:pathLst>
          </a:custGeom>
          <a:solidFill>
            <a:srgbClr val="E7EEEB"/>
          </a:solidFill>
          <a:ln/>
        </p:spPr>
        <p:txBody>
          <a:bodyPr wrap="none" lIns="0" tIns="0" rIns="0" bIns="0" rtlCol="0" anchor="ctr">
            <a:normAutofit/>
          </a:bodyPr>
          <a:lstStyle/>
          <a:p>
            <a:pPr marL="0" indent="0" algn="ctr">
              <a:lnSpc>
                <a:spcPts val="1560"/>
              </a:lnSpc>
              <a:buNone/>
            </a:pPr>
            <a:r>
              <a:rPr lang="en-US" sz="1200" dirty="0">
                <a:solidFill>
                  <a:srgbClr val="0C6D67"/>
                </a:solidFill>
                <a:latin typeface="JetBrains Mono" pitchFamily="49" charset="0"/>
                <a:ea typeface="JetBrains Mono" pitchFamily="49" charset="-122"/>
                <a:cs typeface="JetBrains Mono" pitchFamily="49" charset="-120"/>
              </a:rPr>
              <a:t>QR + face recognition</a:t>
            </a:r>
            <a:endParaRPr lang="en-US" sz="1200" dirty="0"/>
          </a:p>
        </p:txBody>
      </p:sp>
      <p:sp>
        <p:nvSpPr>
          <p:cNvPr id="22" name="Shape 17"/>
          <p:cNvSpPr/>
          <p:nvPr/>
        </p:nvSpPr>
        <p:spPr>
          <a:xfrm>
            <a:off x="6175375" y="3797936"/>
            <a:ext cx="5200650" cy="1593850"/>
          </a:xfrm>
          <a:prstGeom prst="roundRect">
            <a:avLst>
              <a:gd name="adj" fmla="val 7769"/>
            </a:avLst>
          </a:prstGeom>
          <a:solidFill>
            <a:srgbClr val="FCFDFB"/>
          </a:solidFill>
          <a:ln w="6350">
            <a:solidFill>
              <a:srgbClr val="D3DDDA"/>
            </a:solidFill>
            <a:prstDash val="solid"/>
          </a:ln>
        </p:spPr>
        <p:txBody>
          <a:bodyPr/>
          <a:lstStyle/>
          <a:p>
            <a:endParaRPr lang="en-US"/>
          </a:p>
        </p:txBody>
      </p:sp>
      <p:sp>
        <p:nvSpPr>
          <p:cNvPr id="23" name="Shape 18"/>
          <p:cNvSpPr/>
          <p:nvPr/>
        </p:nvSpPr>
        <p:spPr>
          <a:xfrm>
            <a:off x="6380480" y="4003039"/>
            <a:ext cx="355600" cy="355600"/>
          </a:xfrm>
          <a:prstGeom prst="roundRect">
            <a:avLst>
              <a:gd name="adj" fmla="val 25000"/>
            </a:avLst>
          </a:prstGeom>
          <a:solidFill>
            <a:srgbClr val="0C6D67"/>
          </a:solidFill>
          <a:ln/>
        </p:spPr>
        <p:txBody>
          <a:bodyPr/>
          <a:lstStyle/>
          <a:p>
            <a:endParaRPr lang="en-US"/>
          </a:p>
        </p:txBody>
      </p:sp>
      <p:pic>
        <p:nvPicPr>
          <p:cNvPr id="24" name="Image 3" descr="Chat"/>
          <p:cNvPicPr>
            <a:picLocks noChangeAspect="1"/>
          </p:cNvPicPr>
          <p:nvPr/>
        </p:nvPicPr>
        <p:blipFill>
          <a:blip r:embed="rId6"/>
          <a:srcRect/>
          <a:stretch/>
        </p:blipFill>
        <p:spPr>
          <a:xfrm>
            <a:off x="6456680" y="4079239"/>
            <a:ext cx="203200" cy="203200"/>
          </a:xfrm>
          <a:prstGeom prst="rect">
            <a:avLst/>
          </a:prstGeom>
        </p:spPr>
      </p:pic>
      <p:sp>
        <p:nvSpPr>
          <p:cNvPr id="25" name="Text 19"/>
          <p:cNvSpPr/>
          <p:nvPr/>
        </p:nvSpPr>
        <p:spPr>
          <a:xfrm>
            <a:off x="6863080" y="4057014"/>
            <a:ext cx="4437075"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0E2A33"/>
                </a:solidFill>
                <a:latin typeface="Space Grotesk" pitchFamily="34" charset="0"/>
                <a:ea typeface="Space Grotesk" pitchFamily="34" charset="-122"/>
                <a:cs typeface="Space Grotesk" pitchFamily="34" charset="-120"/>
              </a:rPr>
              <a:t>Voice keywords</a:t>
            </a:r>
            <a:endParaRPr lang="en-US" sz="1500" dirty="0"/>
          </a:p>
        </p:txBody>
      </p:sp>
      <p:sp>
        <p:nvSpPr>
          <p:cNvPr id="26" name="Text 20"/>
          <p:cNvSpPr/>
          <p:nvPr/>
        </p:nvSpPr>
        <p:spPr>
          <a:xfrm>
            <a:off x="6380480" y="4434839"/>
            <a:ext cx="4934153"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158"/>
                </a:solidFill>
                <a:latin typeface="IBM Plex Sans" pitchFamily="34" charset="0"/>
                <a:ea typeface="IBM Plex Sans" pitchFamily="34" charset="-122"/>
                <a:cs typeface="IBM Plex Sans" pitchFamily="34" charset="-120"/>
              </a:rPr>
              <a:t>Listens only for “call nurse”, “pain” and “repeat”. It runs on the robot, so no audio leaves the room.</a:t>
            </a:r>
            <a:endParaRPr lang="en-US" sz="1200" dirty="0"/>
          </a:p>
        </p:txBody>
      </p:sp>
      <p:sp>
        <p:nvSpPr>
          <p:cNvPr id="27" name="Text 21"/>
          <p:cNvSpPr/>
          <p:nvPr/>
        </p:nvSpPr>
        <p:spPr>
          <a:xfrm>
            <a:off x="6380480" y="4937761"/>
            <a:ext cx="2098040" cy="248920"/>
          </a:xfrm>
          <a:custGeom>
            <a:avLst/>
            <a:gdLst/>
            <a:ahLst/>
            <a:cxnLst/>
            <a:rect l="l" t="t" r="r" b="b"/>
            <a:pathLst>
              <a:path w="2098040" h="248920">
                <a:moveTo>
                  <a:pt x="124460" y="0"/>
                </a:moveTo>
                <a:lnTo>
                  <a:pt x="1973580" y="0"/>
                </a:lnTo>
                <a:arcTo wR="124460" hR="124460" stAng="16200000" swAng="5400000"/>
                <a:lnTo>
                  <a:pt x="2098040" y="124460"/>
                </a:lnTo>
                <a:arcTo wR="124460" hR="124460" stAng="0" swAng="5400000"/>
                <a:lnTo>
                  <a:pt x="124460" y="248920"/>
                </a:lnTo>
                <a:arcTo wR="124460" hR="124460" stAng="5400000" swAng="5400000"/>
                <a:lnTo>
                  <a:pt x="0" y="124460"/>
                </a:lnTo>
                <a:arcTo wR="124460" hR="124460" stAng="10800000" swAng="5400000"/>
                <a:close/>
              </a:path>
            </a:pathLst>
          </a:custGeom>
          <a:solidFill>
            <a:srgbClr val="E7EEEB"/>
          </a:solidFill>
          <a:ln/>
        </p:spPr>
        <p:txBody>
          <a:bodyPr wrap="none" lIns="0" tIns="0" rIns="0" bIns="0" rtlCol="0" anchor="ctr">
            <a:normAutofit/>
          </a:bodyPr>
          <a:lstStyle/>
          <a:p>
            <a:pPr marL="0" indent="0" algn="ctr">
              <a:lnSpc>
                <a:spcPts val="1560"/>
              </a:lnSpc>
              <a:buNone/>
            </a:pPr>
            <a:r>
              <a:rPr lang="en-US" sz="1200" dirty="0">
                <a:solidFill>
                  <a:srgbClr val="0C6D67"/>
                </a:solidFill>
                <a:latin typeface="JetBrains Mono" pitchFamily="49" charset="0"/>
                <a:ea typeface="JetBrains Mono" pitchFamily="49" charset="-122"/>
                <a:cs typeface="JetBrains Mono" pitchFamily="49" charset="-120"/>
              </a:rPr>
              <a:t>Offline keyword model</a:t>
            </a:r>
            <a:endParaRPr lang="en-US" sz="1200" dirty="0"/>
          </a:p>
        </p:txBody>
      </p:sp>
      <p:sp>
        <p:nvSpPr>
          <p:cNvPr id="28" name="Text 22"/>
          <p:cNvSpPr/>
          <p:nvPr/>
        </p:nvSpPr>
        <p:spPr>
          <a:xfrm>
            <a:off x="812800" y="6238239"/>
            <a:ext cx="536171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76C"/>
                </a:solidFill>
                <a:latin typeface="IBM Plex Sans" pitchFamily="34" charset="0"/>
                <a:ea typeface="IBM Plex Sans" pitchFamily="34" charset="-122"/>
                <a:cs typeface="IBM Plex Sans" pitchFamily="34" charset="-120"/>
              </a:rPr>
              <a:t>All models run on the Raspberry Pi; results go out as ROS 2 topics</a:t>
            </a:r>
            <a:endParaRPr lang="en-US" sz="1200" dirty="0"/>
          </a:p>
        </p:txBody>
      </p:sp>
      <p:sp>
        <p:nvSpPr>
          <p:cNvPr id="29" name="Text 23"/>
          <p:cNvSpPr/>
          <p:nvPr/>
        </p:nvSpPr>
        <p:spPr>
          <a:xfrm>
            <a:off x="11196320" y="6238239"/>
            <a:ext cx="233680" cy="23876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55676C"/>
                </a:solidFill>
                <a:latin typeface="IBM Plex Sans" pitchFamily="34" charset="0"/>
                <a:ea typeface="IBM Plex Sans" pitchFamily="34" charset="-122"/>
                <a:cs typeface="IBM Plex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C6D67"/>
                </a:solidFill>
                <a:latin typeface="JetBrains Mono" pitchFamily="49" charset="0"/>
                <a:ea typeface="JetBrains Mono" pitchFamily="49" charset="-122"/>
                <a:cs typeface="JetBrains Mono" pitchFamily="49" charset="-120"/>
              </a:rPr>
              <a:t>PART 3 · AI · YOUSSEF HESHAM</a:t>
            </a:r>
            <a:endParaRPr lang="en-US" sz="1200" dirty="0"/>
          </a:p>
        </p:txBody>
      </p:sp>
      <p:sp>
        <p:nvSpPr>
          <p:cNvPr id="3" name="Text 1"/>
          <p:cNvSpPr>
            <a:spLocks noGrp="1"/>
          </p:cNvSpPr>
          <p:nvPr>
            <p:ph type="title"/>
          </p:nvPr>
        </p:nvSpPr>
        <p:spPr>
          <a:xfrm>
            <a:off x="812800" y="11277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E2A33"/>
                </a:solidFill>
                <a:latin typeface="Space Grotesk" pitchFamily="34" charset="0"/>
                <a:ea typeface="Space Grotesk" pitchFamily="34" charset="-122"/>
                <a:cs typeface="Space Grotesk" pitchFamily="34" charset="-120"/>
              </a:rPr>
              <a:t>Is it safe to give this dose now?</a:t>
            </a:r>
            <a:endParaRPr lang="en-US" sz="3200" dirty="0"/>
          </a:p>
        </p:txBody>
      </p:sp>
      <p:sp>
        <p:nvSpPr>
          <p:cNvPr id="4" name="Shape 2"/>
          <p:cNvSpPr/>
          <p:nvPr/>
        </p:nvSpPr>
        <p:spPr>
          <a:xfrm>
            <a:off x="812800" y="1879600"/>
            <a:ext cx="3302000" cy="2151380"/>
          </a:xfrm>
          <a:prstGeom prst="roundRect">
            <a:avLst>
              <a:gd name="adj" fmla="val 5903"/>
            </a:avLst>
          </a:prstGeom>
          <a:solidFill>
            <a:srgbClr val="0E2A33"/>
          </a:solidFill>
          <a:ln/>
        </p:spPr>
        <p:txBody>
          <a:bodyPr/>
          <a:lstStyle/>
          <a:p>
            <a:endParaRPr lang="en-US"/>
          </a:p>
        </p:txBody>
      </p:sp>
      <p:sp>
        <p:nvSpPr>
          <p:cNvPr id="5" name="Text 3"/>
          <p:cNvSpPr/>
          <p:nvPr/>
        </p:nvSpPr>
        <p:spPr>
          <a:xfrm>
            <a:off x="1066800" y="2133600"/>
            <a:ext cx="2877820"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3FC1B0"/>
                </a:solidFill>
                <a:latin typeface="JetBrains Mono" pitchFamily="49" charset="0"/>
                <a:ea typeface="JetBrains Mono" pitchFamily="49" charset="-122"/>
                <a:cs typeface="JetBrains Mono" pitchFamily="49" charset="-120"/>
              </a:rPr>
              <a:t>DOCTOR’S RULE · EXAMPLE</a:t>
            </a:r>
            <a:endParaRPr lang="en-US" sz="1200" dirty="0"/>
          </a:p>
        </p:txBody>
      </p:sp>
      <p:sp>
        <p:nvSpPr>
          <p:cNvPr id="6" name="Text 4"/>
          <p:cNvSpPr/>
          <p:nvPr/>
        </p:nvSpPr>
        <p:spPr>
          <a:xfrm>
            <a:off x="1066800" y="2448561"/>
            <a:ext cx="2877820"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5F7F4"/>
                </a:solidFill>
                <a:latin typeface="IBM Plex Sans" pitchFamily="34" charset="0"/>
                <a:ea typeface="IBM Plex Sans" pitchFamily="34" charset="-122"/>
                <a:cs typeface="IBM Plex Sans" pitchFamily="34" charset="-120"/>
              </a:rPr>
              <a:t>Paracetamol: only if temperature is above 38 °C, at most once every 6 hours</a:t>
            </a:r>
            <a:endParaRPr lang="en-US" sz="1500" dirty="0"/>
          </a:p>
        </p:txBody>
      </p:sp>
      <p:sp>
        <p:nvSpPr>
          <p:cNvPr id="7" name="Text 5"/>
          <p:cNvSpPr/>
          <p:nvPr/>
        </p:nvSpPr>
        <p:spPr>
          <a:xfrm>
            <a:off x="1066800" y="3350261"/>
            <a:ext cx="287782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D6D2"/>
                </a:solidFill>
                <a:latin typeface="IBM Plex Sans" pitchFamily="34" charset="0"/>
                <a:ea typeface="IBM Plex Sans" pitchFamily="34" charset="-122"/>
                <a:cs typeface="IBM Plex Sans" pitchFamily="34" charset="-120"/>
              </a:rPr>
              <a:t>The AI can never act outside the doctor’s limits.</a:t>
            </a:r>
            <a:endParaRPr lang="en-US" sz="1200" dirty="0"/>
          </a:p>
        </p:txBody>
      </p:sp>
      <p:sp>
        <p:nvSpPr>
          <p:cNvPr id="8" name="Text 6"/>
          <p:cNvSpPr/>
          <p:nvPr/>
        </p:nvSpPr>
        <p:spPr>
          <a:xfrm>
            <a:off x="812800" y="4183379"/>
            <a:ext cx="3302000" cy="1069340"/>
          </a:xfrm>
          <a:prstGeom prst="roundRect">
            <a:avLst>
              <a:gd name="adj" fmla="val 11876"/>
            </a:avLst>
          </a:prstGeom>
          <a:solidFill>
            <a:srgbClr val="E7EEEB"/>
          </a:solidFill>
          <a:ln/>
        </p:spPr>
        <p:txBody>
          <a:bodyPr wrap="square" lIns="166003" tIns="166003" rIns="79135" bIns="140603" rtlCol="0" anchor="t">
            <a:normAutofit/>
          </a:bodyPr>
          <a:lstStyle/>
          <a:p>
            <a:pPr marL="0" indent="0" algn="l">
              <a:lnSpc>
                <a:spcPts val="1740"/>
              </a:lnSpc>
              <a:buNone/>
            </a:pPr>
            <a:r>
              <a:rPr lang="en-US" sz="1200" dirty="0">
                <a:solidFill>
                  <a:srgbClr val="0E2A33"/>
                </a:solidFill>
                <a:latin typeface="IBM Plex Sans" pitchFamily="34" charset="0"/>
                <a:ea typeface="IBM Plex Sans" pitchFamily="34" charset="-122"/>
                <a:cs typeface="IBM Plex Sans" pitchFamily="34" charset="-120"/>
              </a:rPr>
              <a:t>Alert levels follow a simplified </a:t>
            </a:r>
            <a:r>
              <a:rPr lang="en-US" sz="1200" b="1" dirty="0">
                <a:solidFill>
                  <a:srgbClr val="0E2A33"/>
                </a:solidFill>
                <a:latin typeface="IBM Plex Sans" pitchFamily="34" charset="0"/>
                <a:ea typeface="IBM Plex Sans" pitchFamily="34" charset="-122"/>
                <a:cs typeface="IBM Plex Sans" pitchFamily="34" charset="-120"/>
              </a:rPr>
              <a:t>NEWS2</a:t>
            </a:r>
            <a:r>
              <a:rPr lang="en-US" sz="1200" dirty="0">
                <a:solidFill>
                  <a:srgbClr val="0E2A33"/>
                </a:solidFill>
                <a:latin typeface="IBM Plex Sans" pitchFamily="34" charset="0"/>
                <a:ea typeface="IBM Plex Sans" pitchFamily="34" charset="-122"/>
                <a:cs typeface="IBM Plex Sans" pitchFamily="34" charset="-120"/>
              </a:rPr>
              <a:t> early-warning score, plus each patient’s own trend over time.</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429760" y="1889760"/>
          <a:ext cx="6949440" cy="3027680"/>
        </p:xfrm>
        <a:graphic>
          <a:graphicData uri="http://schemas.openxmlformats.org/drawingml/2006/table">
            <a:tbl>
              <a:tblPr/>
              <a:tblGrid>
                <a:gridCol w="3057754">
                  <a:extLst>
                    <a:ext uri="{9D8B030D-6E8A-4147-A177-3AD203B41FA5}">
                      <a16:colId xmlns:a16="http://schemas.microsoft.com/office/drawing/2014/main" val="20000"/>
                    </a:ext>
                  </a:extLst>
                </a:gridCol>
                <a:gridCol w="3891686">
                  <a:extLst>
                    <a:ext uri="{9D8B030D-6E8A-4147-A177-3AD203B41FA5}">
                      <a16:colId xmlns:a16="http://schemas.microsoft.com/office/drawing/2014/main" val="20001"/>
                    </a:ext>
                  </a:extLst>
                </a:gridCol>
              </a:tblGrid>
              <a:tr h="477520">
                <a:tc>
                  <a:txBody>
                    <a:bodyPr/>
                    <a:lstStyle/>
                    <a:p>
                      <a:pPr marL="0" indent="0">
                        <a:lnSpc>
                          <a:spcPts val="1680"/>
                        </a:lnSpc>
                        <a:buNone/>
                      </a:pPr>
                      <a:r>
                        <a:rPr lang="en-US" sz="1200" b="1" dirty="0">
                          <a:solidFill>
                            <a:srgbClr val="F5F7F4"/>
                          </a:solidFill>
                          <a:latin typeface="IBM Plex Sans" pitchFamily="34" charset="0"/>
                          <a:ea typeface="IBM Plex Sans" pitchFamily="34" charset="-122"/>
                          <a:cs typeface="IBM Plex Sans" pitchFamily="34" charset="-120"/>
                        </a:rPr>
                        <a:t>What the robot finds</a:t>
                      </a:r>
                      <a:endParaRPr lang="en-US" sz="1200" dirty="0">
                        <a:latin typeface="IBM Plex Sans" charset="0"/>
                        <a:ea typeface="IBM Plex Sans" charset="0"/>
                        <a:cs typeface="IBM Plex Sans" charset="0"/>
                      </a:endParaRPr>
                    </a:p>
                  </a:txBody>
                  <a:tcPr marL="152400" marR="152400" marT="127000" marB="127000">
                    <a:lnL w="12700" cap="flat" cmpd="sng" algn="ctr">
                      <a:solidFill>
                        <a:srgbClr val="C4C5C3"/>
                      </a:solidFill>
                      <a:prstDash val="solid"/>
                      <a:round/>
                      <a:headEnd type="none" w="med" len="med"/>
                      <a:tailEnd type="none" w="med" len="med"/>
                    </a:lnL>
                    <a:lnR w="12700" cap="flat" cmpd="sng" algn="ctr">
                      <a:solidFill>
                        <a:srgbClr val="0F252C"/>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0F252C"/>
                      </a:solidFill>
                      <a:prstDash val="solid"/>
                      <a:round/>
                      <a:headEnd type="none" w="med" len="med"/>
                      <a:tailEnd type="none" w="med" len="med"/>
                    </a:lnB>
                    <a:solidFill>
                      <a:srgbClr val="0E2A33"/>
                    </a:solidFill>
                  </a:tcPr>
                </a:tc>
                <a:tc>
                  <a:txBody>
                    <a:bodyPr/>
                    <a:lstStyle/>
                    <a:p>
                      <a:pPr marL="0" indent="0">
                        <a:lnSpc>
                          <a:spcPts val="1680"/>
                        </a:lnSpc>
                        <a:buNone/>
                      </a:pPr>
                      <a:r>
                        <a:rPr lang="en-US" sz="1200" b="1" dirty="0">
                          <a:solidFill>
                            <a:srgbClr val="F5F7F4"/>
                          </a:solidFill>
                          <a:latin typeface="IBM Plex Sans" pitchFamily="34" charset="0"/>
                          <a:ea typeface="IBM Plex Sans" pitchFamily="34" charset="-122"/>
                          <a:cs typeface="IBM Plex Sans" pitchFamily="34" charset="-120"/>
                        </a:rPr>
                        <a:t>What it decides</a:t>
                      </a:r>
                      <a:endParaRPr lang="en-US" sz="1200" dirty="0">
                        <a:latin typeface="IBM Plex Sans" charset="0"/>
                        <a:ea typeface="IBM Plex Sans" charset="0"/>
                        <a:cs typeface="IBM Plex Sans" charset="0"/>
                      </a:endParaRPr>
                    </a:p>
                  </a:txBody>
                  <a:tcPr marL="152400" marR="152400" marT="127000" marB="127000">
                    <a:lnL w="12700" cap="flat" cmpd="sng" algn="ctr">
                      <a:solidFill>
                        <a:srgbClr val="0F252C"/>
                      </a:solidFill>
                      <a:prstDash val="solid"/>
                      <a:round/>
                      <a:headEnd type="none" w="med" len="med"/>
                      <a:tailEnd type="none" w="med" len="med"/>
                    </a:lnL>
                    <a:lnR w="12700" cap="flat" cmpd="sng" algn="ctr">
                      <a:solidFill>
                        <a:srgbClr val="0F252C"/>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0F252C"/>
                      </a:solidFill>
                      <a:prstDash val="solid"/>
                      <a:round/>
                      <a:headEnd type="none" w="med" len="med"/>
                      <a:tailEnd type="none" w="med" len="med"/>
                    </a:lnB>
                    <a:solidFill>
                      <a:srgbClr val="0E2A33"/>
                    </a:solidFill>
                  </a:tcPr>
                </a:tc>
                <a:extLst>
                  <a:ext uri="{0D108BD9-81ED-4DB2-BD59-A6C34878D82A}">
                    <a16:rowId xmlns:a16="http://schemas.microsoft.com/office/drawing/2014/main" val="10000"/>
                  </a:ext>
                </a:extLst>
              </a:tr>
              <a:tr h="477520">
                <a:tc>
                  <a:txBody>
                    <a:bodyPr/>
                    <a:lstStyle/>
                    <a:p>
                      <a:pPr marL="0" indent="0">
                        <a:lnSpc>
                          <a:spcPts val="1680"/>
                        </a:lnSpc>
                        <a:buNone/>
                      </a:pPr>
                      <a:r>
                        <a:rPr lang="en-US" sz="1200" dirty="0">
                          <a:solidFill>
                            <a:srgbClr val="0E2A33"/>
                          </a:solidFill>
                          <a:latin typeface="IBM Plex Sans" pitchFamily="34" charset="0"/>
                          <a:ea typeface="IBM Plex Sans" pitchFamily="34" charset="-122"/>
                          <a:cs typeface="IBM Plex Sans" pitchFamily="34" charset="-120"/>
                        </a:rPr>
                        <a:t>Vitals normal, scheduled dose due</a:t>
                      </a:r>
                      <a:endParaRPr lang="en-US" sz="1200" dirty="0">
                        <a:latin typeface="IBM Plex Sans" charset="0"/>
                        <a:ea typeface="IBM Plex Sans" charset="0"/>
                        <a:cs typeface="IBM Plex Sans" charset="0"/>
                      </a:endParaRPr>
                    </a:p>
                  </a:txBody>
                  <a:tcPr marL="152400" marR="152400" marT="127000" marB="127000">
                    <a:lnL w="12700" cap="flat" cmpd="sng" algn="ctr">
                      <a:solidFill>
                        <a:srgbClr val="C4C5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0F252C"/>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marL="0" indent="0">
                        <a:lnSpc>
                          <a:spcPts val="1680"/>
                        </a:lnSpc>
                        <a:buNone/>
                      </a:pPr>
                      <a:r>
                        <a:rPr lang="en-US" sz="1200" dirty="0">
                          <a:solidFill>
                            <a:srgbClr val="0E2A33"/>
                          </a:solidFill>
                          <a:latin typeface="IBM Plex Sans" pitchFamily="34" charset="0"/>
                          <a:ea typeface="IBM Plex Sans" pitchFamily="34" charset="-122"/>
                          <a:cs typeface="IBM Plex Sans" pitchFamily="34" charset="-120"/>
                        </a:rPr>
                        <a:t>Unlock the drawer, dispense, log it</a:t>
                      </a:r>
                      <a:endParaRPr lang="en-US" sz="1200" dirty="0">
                        <a:latin typeface="IBM Plex Sans" charset="0"/>
                        <a:ea typeface="IBM Plex Sans" charset="0"/>
                        <a:cs typeface="IBM Plex Sans" charset="0"/>
                      </a:endParaRPr>
                    </a:p>
                  </a:txBody>
                  <a:tcPr marL="152400" marR="152400" marT="127000" marB="127000">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0F252C"/>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extLst>
                  <a:ext uri="{0D108BD9-81ED-4DB2-BD59-A6C34878D82A}">
                    <a16:rowId xmlns:a16="http://schemas.microsoft.com/office/drawing/2014/main" val="10001"/>
                  </a:ext>
                </a:extLst>
              </a:tr>
              <a:tr h="690880">
                <a:tc>
                  <a:txBody>
                    <a:bodyPr/>
                    <a:lstStyle/>
                    <a:p>
                      <a:pPr marL="0" indent="0">
                        <a:lnSpc>
                          <a:spcPts val="1680"/>
                        </a:lnSpc>
                        <a:buNone/>
                      </a:pPr>
                      <a:r>
                        <a:rPr lang="en-US" sz="1200" dirty="0">
                          <a:solidFill>
                            <a:srgbClr val="0E2A33"/>
                          </a:solidFill>
                          <a:latin typeface="IBM Plex Sans" pitchFamily="34" charset="0"/>
                          <a:ea typeface="IBM Plex Sans" pitchFamily="34" charset="-122"/>
                          <a:cs typeface="IBM Plex Sans" pitchFamily="34" charset="-120"/>
                        </a:rPr>
                        <a:t>Doctor’s condition met (e.g., fever)</a:t>
                      </a:r>
                      <a:endParaRPr lang="en-US" sz="1200" dirty="0">
                        <a:latin typeface="IBM Plex Sans" charset="0"/>
                        <a:ea typeface="IBM Plex Sans" charset="0"/>
                        <a:cs typeface="IBM Plex Sans" charset="0"/>
                      </a:endParaRPr>
                    </a:p>
                  </a:txBody>
                  <a:tcPr marL="152400" marR="152400" marT="127000" marB="127000">
                    <a:lnL w="12700" cap="flat" cmpd="sng" algn="ctr">
                      <a:solidFill>
                        <a:srgbClr val="C4C5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marL="0" indent="0">
                        <a:lnSpc>
                          <a:spcPts val="1680"/>
                        </a:lnSpc>
                        <a:buNone/>
                      </a:pPr>
                      <a:r>
                        <a:rPr lang="en-US" sz="1200" dirty="0">
                          <a:solidFill>
                            <a:srgbClr val="0E2A33"/>
                          </a:solidFill>
                          <a:latin typeface="IBM Plex Sans" pitchFamily="34" charset="0"/>
                          <a:ea typeface="IBM Plex Sans" pitchFamily="34" charset="-122"/>
                          <a:cs typeface="IBM Plex Sans" pitchFamily="34" charset="-120"/>
                        </a:rPr>
                        <a:t>Ask the doctor to approve in the app, then dispense and notify the nurse</a:t>
                      </a:r>
                      <a:endParaRPr lang="en-US" sz="1200" dirty="0">
                        <a:latin typeface="IBM Plex Sans" charset="0"/>
                        <a:ea typeface="IBM Plex Sans" charset="0"/>
                        <a:cs typeface="IBM Plex Sans" charset="0"/>
                      </a:endParaRPr>
                    </a:p>
                  </a:txBody>
                  <a:tcPr marL="152400" marR="152400" marT="127000" marB="127000">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extLst>
                  <a:ext uri="{0D108BD9-81ED-4DB2-BD59-A6C34878D82A}">
                    <a16:rowId xmlns:a16="http://schemas.microsoft.com/office/drawing/2014/main" val="10002"/>
                  </a:ext>
                </a:extLst>
              </a:tr>
              <a:tr h="690880">
                <a:tc>
                  <a:txBody>
                    <a:bodyPr/>
                    <a:lstStyle/>
                    <a:p>
                      <a:pPr marL="0" indent="0">
                        <a:lnSpc>
                          <a:spcPts val="1680"/>
                        </a:lnSpc>
                        <a:buNone/>
                      </a:pPr>
                      <a:r>
                        <a:rPr lang="en-US" sz="1200" dirty="0">
                          <a:solidFill>
                            <a:srgbClr val="0E2A33"/>
                          </a:solidFill>
                          <a:latin typeface="IBM Plex Sans" pitchFamily="34" charset="0"/>
                          <a:ea typeface="IBM Plex Sans" pitchFamily="34" charset="-122"/>
                          <a:cs typeface="IBM Plex Sans" pitchFamily="34" charset="-120"/>
                        </a:rPr>
                        <a:t>Vitals abnormal (low SpO2, very high heart rate)</a:t>
                      </a:r>
                      <a:endParaRPr lang="en-US" sz="1200" dirty="0">
                        <a:latin typeface="IBM Plex Sans" charset="0"/>
                        <a:ea typeface="IBM Plex Sans" charset="0"/>
                        <a:cs typeface="IBM Plex Sans" charset="0"/>
                      </a:endParaRPr>
                    </a:p>
                  </a:txBody>
                  <a:tcPr marL="152400" marR="152400" marT="127000" marB="127000">
                    <a:lnL w="12700" cap="flat" cmpd="sng" algn="ctr">
                      <a:solidFill>
                        <a:srgbClr val="C4C5C3"/>
                      </a:solidFill>
                      <a:prstDash val="solid"/>
                      <a:round/>
                      <a:headEnd type="none" w="med" len="med"/>
                      <a:tailEnd type="none" w="med" len="med"/>
                    </a:lnL>
                    <a:lnR w="12700" cap="flat" cmpd="sng" algn="ctr">
                      <a:solidFill>
                        <a:srgbClr val="C8B5A6"/>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8B5A6"/>
                      </a:solidFill>
                      <a:prstDash val="solid"/>
                      <a:round/>
                      <a:headEnd type="none" w="med" len="med"/>
                      <a:tailEnd type="none" w="med" len="med"/>
                    </a:lnB>
                    <a:solidFill>
                      <a:srgbClr val="FBE3CF"/>
                    </a:solidFill>
                  </a:tcPr>
                </a:tc>
                <a:tc>
                  <a:txBody>
                    <a:bodyPr/>
                    <a:lstStyle/>
                    <a:p>
                      <a:pPr marL="0" indent="0">
                        <a:lnSpc>
                          <a:spcPts val="1680"/>
                        </a:lnSpc>
                        <a:buNone/>
                      </a:pPr>
                      <a:r>
                        <a:rPr lang="en-US" sz="1200" dirty="0">
                          <a:solidFill>
                            <a:srgbClr val="0E2A33"/>
                          </a:solidFill>
                          <a:latin typeface="IBM Plex Sans" pitchFamily="34" charset="0"/>
                          <a:ea typeface="IBM Plex Sans" pitchFamily="34" charset="-122"/>
                          <a:cs typeface="IBM Plex Sans" pitchFamily="34" charset="-120"/>
                        </a:rPr>
                        <a:t>URGENT: hold all drugs, alert the nurse now, stay with the patient</a:t>
                      </a:r>
                      <a:endParaRPr lang="en-US" sz="1200" dirty="0">
                        <a:latin typeface="IBM Plex Sans" charset="0"/>
                        <a:ea typeface="IBM Plex Sans" charset="0"/>
                        <a:cs typeface="IBM Plex Sans" charset="0"/>
                      </a:endParaRPr>
                    </a:p>
                  </a:txBody>
                  <a:tcPr marL="152400" marR="152400" marT="127000" marB="127000">
                    <a:lnL w="12700" cap="flat" cmpd="sng" algn="ctr">
                      <a:solidFill>
                        <a:srgbClr val="C8B5A6"/>
                      </a:solidFill>
                      <a:prstDash val="solid"/>
                      <a:round/>
                      <a:headEnd type="none" w="med" len="med"/>
                      <a:tailEnd type="none" w="med" len="med"/>
                    </a:lnL>
                    <a:lnR w="12700" cap="flat" cmpd="sng" algn="ctr">
                      <a:solidFill>
                        <a:srgbClr val="C8B5A6"/>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8B5A6"/>
                      </a:solidFill>
                      <a:prstDash val="solid"/>
                      <a:round/>
                      <a:headEnd type="none" w="med" len="med"/>
                      <a:tailEnd type="none" w="med" len="med"/>
                    </a:lnB>
                    <a:solidFill>
                      <a:srgbClr val="FBE3CF"/>
                    </a:solidFill>
                  </a:tcPr>
                </a:tc>
                <a:extLst>
                  <a:ext uri="{0D108BD9-81ED-4DB2-BD59-A6C34878D82A}">
                    <a16:rowId xmlns:a16="http://schemas.microsoft.com/office/drawing/2014/main" val="10003"/>
                  </a:ext>
                </a:extLst>
              </a:tr>
              <a:tr h="690880">
                <a:tc>
                  <a:txBody>
                    <a:bodyPr/>
                    <a:lstStyle/>
                    <a:p>
                      <a:pPr marL="0" indent="0">
                        <a:lnSpc>
                          <a:spcPts val="1680"/>
                        </a:lnSpc>
                        <a:buNone/>
                      </a:pPr>
                      <a:r>
                        <a:rPr lang="en-US" sz="1200" dirty="0">
                          <a:solidFill>
                            <a:srgbClr val="0E2A33"/>
                          </a:solidFill>
                          <a:latin typeface="IBM Plex Sans" pitchFamily="34" charset="0"/>
                          <a:ea typeface="IBM Plex Sans" pitchFamily="34" charset="-122"/>
                          <a:cs typeface="IBM Plex Sans" pitchFamily="34" charset="-120"/>
                        </a:rPr>
                        <a:t>Reading unreliable (finger moved, weak signal)</a:t>
                      </a:r>
                      <a:endParaRPr lang="en-US" sz="1200" dirty="0">
                        <a:latin typeface="IBM Plex Sans" charset="0"/>
                        <a:ea typeface="IBM Plex Sans" charset="0"/>
                        <a:cs typeface="IBM Plex Sans" charset="0"/>
                      </a:endParaRPr>
                    </a:p>
                  </a:txBody>
                  <a:tcPr marL="152400" marR="152400" marT="127000" marB="127000">
                    <a:lnL w="12700" cap="flat" cmpd="sng" algn="ctr">
                      <a:solidFill>
                        <a:srgbClr val="C4C5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8B5A6"/>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marL="0" indent="0">
                        <a:lnSpc>
                          <a:spcPts val="1680"/>
                        </a:lnSpc>
                        <a:buNone/>
                      </a:pPr>
                      <a:r>
                        <a:rPr lang="en-US" sz="1200" dirty="0">
                          <a:solidFill>
                            <a:srgbClr val="0E2A33"/>
                          </a:solidFill>
                          <a:latin typeface="IBM Plex Sans" pitchFamily="34" charset="0"/>
                          <a:ea typeface="IBM Plex Sans" pitchFamily="34" charset="-122"/>
                          <a:cs typeface="IBM Plex Sans" pitchFamily="34" charset="-120"/>
                        </a:rPr>
                        <a:t>Re-measure; if it fails again, call the nurse</a:t>
                      </a:r>
                      <a:endParaRPr lang="en-US" sz="1200" dirty="0">
                        <a:latin typeface="IBM Plex Sans" charset="0"/>
                        <a:ea typeface="IBM Plex Sans" charset="0"/>
                        <a:cs typeface="IBM Plex Sans" charset="0"/>
                      </a:endParaRPr>
                    </a:p>
                  </a:txBody>
                  <a:tcPr marL="152400" marR="152400" marT="127000" marB="127000">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8B5A6"/>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extLst>
                  <a:ext uri="{0D108BD9-81ED-4DB2-BD59-A6C34878D82A}">
                    <a16:rowId xmlns:a16="http://schemas.microsoft.com/office/drawing/2014/main" val="10004"/>
                  </a:ext>
                </a:extLst>
              </a:tr>
            </a:tbl>
          </a:graphicData>
        </a:graphic>
      </p:graphicFrame>
      <p:sp>
        <p:nvSpPr>
          <p:cNvPr id="10" name="Text 7"/>
          <p:cNvSpPr/>
          <p:nvPr/>
        </p:nvSpPr>
        <p:spPr>
          <a:xfrm>
            <a:off x="812800" y="6238242"/>
            <a:ext cx="724519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76C"/>
                </a:solidFill>
                <a:latin typeface="IBM Plex Sans" pitchFamily="34" charset="0"/>
                <a:ea typeface="IBM Plex Sans" pitchFamily="34" charset="-122"/>
                <a:cs typeface="IBM Plex Sans" pitchFamily="34" charset="-120"/>
              </a:rPr>
              <a:t>The AI decides whether to give the doctor’s prescribed drugs; it never chooses new ones</a:t>
            </a:r>
            <a:endParaRPr lang="en-US" sz="1200" dirty="0"/>
          </a:p>
        </p:txBody>
      </p:sp>
      <p:sp>
        <p:nvSpPr>
          <p:cNvPr id="11" name="Text 8"/>
          <p:cNvSpPr/>
          <p:nvPr/>
        </p:nvSpPr>
        <p:spPr>
          <a:xfrm>
            <a:off x="11196320" y="6238242"/>
            <a:ext cx="233680" cy="23876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55676C"/>
                </a:solidFill>
                <a:latin typeface="IBM Plex Sans" pitchFamily="34" charset="0"/>
                <a:ea typeface="IBM Plex Sans" pitchFamily="34" charset="-122"/>
                <a:cs typeface="IBM Plex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7EEE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C6D67"/>
                </a:solidFill>
                <a:latin typeface="JetBrains Mono" pitchFamily="49" charset="0"/>
                <a:ea typeface="JetBrains Mono" pitchFamily="49" charset="-122"/>
                <a:cs typeface="JetBrains Mono" pitchFamily="49" charset="-120"/>
              </a:rPr>
              <a:t>PART 4 · SOFTWARE · YOUSSEF ESLAM</a:t>
            </a:r>
            <a:endParaRPr lang="en-US" sz="1200" dirty="0"/>
          </a:p>
        </p:txBody>
      </p:sp>
      <p:sp>
        <p:nvSpPr>
          <p:cNvPr id="3" name="Text 1"/>
          <p:cNvSpPr>
            <a:spLocks noGrp="1"/>
          </p:cNvSpPr>
          <p:nvPr>
            <p:ph type="title"/>
          </p:nvPr>
        </p:nvSpPr>
        <p:spPr>
          <a:xfrm>
            <a:off x="812800" y="11277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E2A33"/>
                </a:solidFill>
                <a:latin typeface="Space Grotesk" pitchFamily="34" charset="0"/>
                <a:ea typeface="Space Grotesk" pitchFamily="34" charset="-122"/>
                <a:cs typeface="Space Grotesk" pitchFamily="34" charset="-120"/>
              </a:rPr>
              <a:t>The doctor’s app</a:t>
            </a:r>
            <a:endParaRPr lang="en-US" sz="3200" dirty="0"/>
          </a:p>
        </p:txBody>
      </p:sp>
      <p:sp>
        <p:nvSpPr>
          <p:cNvPr id="4" name="Shape 2"/>
          <p:cNvSpPr/>
          <p:nvPr/>
        </p:nvSpPr>
        <p:spPr>
          <a:xfrm>
            <a:off x="812800" y="1879600"/>
            <a:ext cx="2413000" cy="3810000"/>
          </a:xfrm>
          <a:prstGeom prst="roundRect">
            <a:avLst>
              <a:gd name="adj" fmla="val 12632"/>
            </a:avLst>
          </a:prstGeom>
          <a:solidFill>
            <a:srgbClr val="0E2A33"/>
          </a:solidFill>
          <a:ln/>
        </p:spPr>
        <p:txBody>
          <a:bodyPr/>
          <a:lstStyle/>
          <a:p>
            <a:endParaRPr lang="en-US"/>
          </a:p>
        </p:txBody>
      </p:sp>
      <p:sp>
        <p:nvSpPr>
          <p:cNvPr id="5" name="Shape 3"/>
          <p:cNvSpPr/>
          <p:nvPr/>
        </p:nvSpPr>
        <p:spPr>
          <a:xfrm>
            <a:off x="914400" y="1981200"/>
            <a:ext cx="2209800" cy="3606800"/>
          </a:xfrm>
          <a:prstGeom prst="roundRect">
            <a:avLst>
              <a:gd name="adj" fmla="val 10345"/>
            </a:avLst>
          </a:prstGeom>
          <a:solidFill>
            <a:srgbClr val="F5F7F4"/>
          </a:solidFill>
          <a:ln/>
        </p:spPr>
        <p:txBody>
          <a:bodyPr/>
          <a:lstStyle/>
          <a:p>
            <a:endParaRPr lang="en-US"/>
          </a:p>
        </p:txBody>
      </p:sp>
      <p:sp>
        <p:nvSpPr>
          <p:cNvPr id="6" name="Text 4"/>
          <p:cNvSpPr/>
          <p:nvPr/>
        </p:nvSpPr>
        <p:spPr>
          <a:xfrm>
            <a:off x="1041400" y="2138679"/>
            <a:ext cx="488918"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E2A33"/>
                </a:solidFill>
                <a:latin typeface="IBM Plex Sans" pitchFamily="34" charset="0"/>
                <a:ea typeface="IBM Plex Sans" pitchFamily="34" charset="-122"/>
                <a:cs typeface="IBM Plex Sans" pitchFamily="34" charset="-120"/>
              </a:rPr>
              <a:t>Bed 3</a:t>
            </a:r>
            <a:endParaRPr lang="en-US" sz="1200" dirty="0"/>
          </a:p>
        </p:txBody>
      </p:sp>
      <p:sp>
        <p:nvSpPr>
          <p:cNvPr id="7" name="Text 5"/>
          <p:cNvSpPr/>
          <p:nvPr/>
        </p:nvSpPr>
        <p:spPr>
          <a:xfrm>
            <a:off x="2506583" y="2133600"/>
            <a:ext cx="490617" cy="223520"/>
          </a:xfrm>
          <a:custGeom>
            <a:avLst/>
            <a:gdLst/>
            <a:ahLst/>
            <a:cxnLst/>
            <a:rect l="l" t="t" r="r" b="b"/>
            <a:pathLst>
              <a:path w="490617" h="223520">
                <a:moveTo>
                  <a:pt x="111760" y="0"/>
                </a:moveTo>
                <a:lnTo>
                  <a:pt x="378857" y="0"/>
                </a:lnTo>
                <a:arcTo wR="111760" hR="111760" stAng="16200000" swAng="5400000"/>
                <a:lnTo>
                  <a:pt x="490617" y="111760"/>
                </a:lnTo>
                <a:arcTo wR="111760" hR="111760" stAng="0" swAng="5400000"/>
                <a:lnTo>
                  <a:pt x="111760" y="223520"/>
                </a:lnTo>
                <a:arcTo wR="111760" hR="111760" stAng="5400000" swAng="5400000"/>
                <a:lnTo>
                  <a:pt x="0" y="111760"/>
                </a:lnTo>
                <a:arcTo wR="111760" hR="111760" stAng="10800000" swAng="5400000"/>
                <a:close/>
              </a:path>
            </a:pathLst>
          </a:custGeom>
          <a:solidFill>
            <a:srgbClr val="A84E12"/>
          </a:solidFill>
          <a:ln/>
        </p:spPr>
        <p:txBody>
          <a:bodyPr wrap="none" lIns="0" tIns="0" rIns="0" bIns="0" rtlCol="0" anchor="ctr">
            <a:normAutofit/>
          </a:bodyPr>
          <a:lstStyle/>
          <a:p>
            <a:pPr marL="0" indent="0" algn="ctr">
              <a:lnSpc>
                <a:spcPts val="1560"/>
              </a:lnSpc>
              <a:buNone/>
            </a:pPr>
            <a:r>
              <a:rPr lang="en-US" sz="1200" b="1" dirty="0">
                <a:solidFill>
                  <a:srgbClr val="FCFDFB"/>
                </a:solidFill>
                <a:latin typeface="IBM Plex Sans" pitchFamily="34" charset="0"/>
                <a:ea typeface="IBM Plex Sans" pitchFamily="34" charset="-122"/>
                <a:cs typeface="IBM Plex Sans" pitchFamily="34" charset="-120"/>
              </a:rPr>
              <a:t>LIVE</a:t>
            </a:r>
            <a:endParaRPr lang="en-US" sz="1200" dirty="0"/>
          </a:p>
        </p:txBody>
      </p:sp>
      <p:sp>
        <p:nvSpPr>
          <p:cNvPr id="8" name="Shape 6"/>
          <p:cNvSpPr/>
          <p:nvPr/>
        </p:nvSpPr>
        <p:spPr>
          <a:xfrm>
            <a:off x="1041400" y="2446021"/>
            <a:ext cx="1955800" cy="1206500"/>
          </a:xfrm>
          <a:prstGeom prst="roundRect">
            <a:avLst>
              <a:gd name="adj" fmla="val 10526"/>
            </a:avLst>
          </a:prstGeom>
          <a:solidFill>
            <a:srgbClr val="163A45"/>
          </a:solidFill>
          <a:ln/>
        </p:spPr>
        <p:txBody>
          <a:bodyPr/>
          <a:lstStyle/>
          <a:p>
            <a:endParaRPr lang="en-US"/>
          </a:p>
        </p:txBody>
      </p:sp>
      <p:pic>
        <p:nvPicPr>
          <p:cNvPr id="9" name="Image 0" descr="Users"/>
          <p:cNvPicPr>
            <a:picLocks noChangeAspect="1"/>
          </p:cNvPicPr>
          <p:nvPr/>
        </p:nvPicPr>
        <p:blipFill>
          <a:blip r:embed="rId3"/>
          <a:srcRect/>
          <a:stretch/>
        </p:blipFill>
        <p:spPr>
          <a:xfrm>
            <a:off x="1816100" y="2721614"/>
            <a:ext cx="406400" cy="406400"/>
          </a:xfrm>
          <a:prstGeom prst="rect">
            <a:avLst/>
          </a:prstGeom>
        </p:spPr>
      </p:pic>
      <p:sp>
        <p:nvSpPr>
          <p:cNvPr id="10" name="Text 7"/>
          <p:cNvSpPr/>
          <p:nvPr/>
        </p:nvSpPr>
        <p:spPr>
          <a:xfrm>
            <a:off x="1446093" y="3178814"/>
            <a:ext cx="1146334" cy="223520"/>
          </a:xfrm>
          <a:prstGeom prst="rect">
            <a:avLst/>
          </a:prstGeom>
          <a:noFill/>
          <a:ln/>
        </p:spPr>
        <p:txBody>
          <a:bodyPr wrap="square" lIns="0" tIns="0" rIns="0" bIns="0" rtlCol="0" anchor="t">
            <a:normAutofit/>
          </a:bodyPr>
          <a:lstStyle/>
          <a:p>
            <a:pPr marL="0" indent="0" algn="ctr">
              <a:lnSpc>
                <a:spcPts val="1560"/>
              </a:lnSpc>
              <a:buNone/>
            </a:pPr>
            <a:r>
              <a:rPr lang="en-US" sz="1200" dirty="0">
                <a:solidFill>
                  <a:srgbClr val="BFD6D2"/>
                </a:solidFill>
                <a:latin typeface="IBM Plex Sans" pitchFamily="34" charset="0"/>
                <a:ea typeface="IBM Plex Sans" pitchFamily="34" charset="-122"/>
                <a:cs typeface="IBM Plex Sans" pitchFamily="34" charset="-120"/>
              </a:rPr>
              <a:t>Robot camera</a:t>
            </a:r>
            <a:endParaRPr lang="en-US" sz="1200" dirty="0"/>
          </a:p>
        </p:txBody>
      </p:sp>
      <p:sp>
        <p:nvSpPr>
          <p:cNvPr id="11" name="Shape 8"/>
          <p:cNvSpPr/>
          <p:nvPr/>
        </p:nvSpPr>
        <p:spPr>
          <a:xfrm>
            <a:off x="1044575" y="3744596"/>
            <a:ext cx="611664" cy="557530"/>
          </a:xfrm>
          <a:prstGeom prst="roundRect">
            <a:avLst>
              <a:gd name="adj" fmla="val 15376"/>
            </a:avLst>
          </a:prstGeom>
          <a:solidFill>
            <a:srgbClr val="FCFDFB"/>
          </a:solidFill>
          <a:ln w="6350">
            <a:solidFill>
              <a:srgbClr val="D3DDDA"/>
            </a:solidFill>
            <a:prstDash val="solid"/>
          </a:ln>
        </p:spPr>
        <p:txBody>
          <a:bodyPr/>
          <a:lstStyle/>
          <a:p>
            <a:endParaRPr lang="en-US"/>
          </a:p>
        </p:txBody>
      </p:sp>
      <p:sp>
        <p:nvSpPr>
          <p:cNvPr id="12" name="Text 9"/>
          <p:cNvSpPr/>
          <p:nvPr/>
        </p:nvSpPr>
        <p:spPr>
          <a:xfrm>
            <a:off x="1222296" y="3810000"/>
            <a:ext cx="256143" cy="223520"/>
          </a:xfrm>
          <a:prstGeom prst="rect">
            <a:avLst/>
          </a:prstGeom>
          <a:noFill/>
          <a:ln/>
        </p:spPr>
        <p:txBody>
          <a:bodyPr wrap="square" lIns="0" tIns="0" rIns="0" bIns="0" rtlCol="0" anchor="t">
            <a:normAutofit/>
          </a:bodyPr>
          <a:lstStyle/>
          <a:p>
            <a:pPr marL="0" indent="0" algn="ctr">
              <a:lnSpc>
                <a:spcPts val="1560"/>
              </a:lnSpc>
              <a:buNone/>
            </a:pPr>
            <a:r>
              <a:rPr lang="en-US" sz="1200" dirty="0">
                <a:solidFill>
                  <a:srgbClr val="55676C"/>
                </a:solidFill>
                <a:latin typeface="IBM Plex Sans" pitchFamily="34" charset="0"/>
                <a:ea typeface="IBM Plex Sans" pitchFamily="34" charset="-122"/>
                <a:cs typeface="IBM Plex Sans" pitchFamily="34" charset="-120"/>
              </a:rPr>
              <a:t>HR</a:t>
            </a:r>
            <a:endParaRPr lang="en-US" sz="1200" dirty="0"/>
          </a:p>
        </p:txBody>
      </p:sp>
      <p:sp>
        <p:nvSpPr>
          <p:cNvPr id="13" name="Text 10"/>
          <p:cNvSpPr/>
          <p:nvPr/>
        </p:nvSpPr>
        <p:spPr>
          <a:xfrm>
            <a:off x="1211263" y="4008121"/>
            <a:ext cx="278289" cy="254000"/>
          </a:xfrm>
          <a:prstGeom prst="rect">
            <a:avLst/>
          </a:prstGeom>
          <a:noFill/>
          <a:ln/>
        </p:spPr>
        <p:txBody>
          <a:bodyPr wrap="square" lIns="0" tIns="0" rIns="0" bIns="0" rtlCol="0" anchor="t">
            <a:normAutofit/>
          </a:bodyPr>
          <a:lstStyle/>
          <a:p>
            <a:pPr marL="0" indent="0" algn="ctr">
              <a:lnSpc>
                <a:spcPts val="1800"/>
              </a:lnSpc>
              <a:buNone/>
            </a:pPr>
            <a:r>
              <a:rPr lang="en-US" sz="1500" b="1" dirty="0">
                <a:solidFill>
                  <a:srgbClr val="0E2A33"/>
                </a:solidFill>
                <a:latin typeface="Space Grotesk" pitchFamily="34" charset="0"/>
                <a:ea typeface="Space Grotesk" pitchFamily="34" charset="-122"/>
                <a:cs typeface="Space Grotesk" pitchFamily="34" charset="-120"/>
              </a:rPr>
              <a:t>82</a:t>
            </a:r>
            <a:endParaRPr lang="en-US" sz="1500" dirty="0"/>
          </a:p>
        </p:txBody>
      </p:sp>
      <p:sp>
        <p:nvSpPr>
          <p:cNvPr id="14" name="Shape 11"/>
          <p:cNvSpPr/>
          <p:nvPr/>
        </p:nvSpPr>
        <p:spPr>
          <a:xfrm>
            <a:off x="1713389" y="3744596"/>
            <a:ext cx="611743" cy="557530"/>
          </a:xfrm>
          <a:prstGeom prst="roundRect">
            <a:avLst>
              <a:gd name="adj" fmla="val 15376"/>
            </a:avLst>
          </a:prstGeom>
          <a:solidFill>
            <a:srgbClr val="FCFDFB"/>
          </a:solidFill>
          <a:ln w="6350">
            <a:solidFill>
              <a:srgbClr val="D3DDDA"/>
            </a:solidFill>
            <a:prstDash val="solid"/>
          </a:ln>
        </p:spPr>
        <p:txBody>
          <a:bodyPr/>
          <a:lstStyle/>
          <a:p>
            <a:endParaRPr lang="en-US"/>
          </a:p>
        </p:txBody>
      </p:sp>
      <p:sp>
        <p:nvSpPr>
          <p:cNvPr id="15" name="Text 12"/>
          <p:cNvSpPr/>
          <p:nvPr/>
        </p:nvSpPr>
        <p:spPr>
          <a:xfrm>
            <a:off x="1793470" y="3810000"/>
            <a:ext cx="451580" cy="223520"/>
          </a:xfrm>
          <a:prstGeom prst="rect">
            <a:avLst/>
          </a:prstGeom>
          <a:noFill/>
          <a:ln/>
        </p:spPr>
        <p:txBody>
          <a:bodyPr wrap="square" lIns="0" tIns="0" rIns="0" bIns="0" rtlCol="0" anchor="t">
            <a:normAutofit/>
          </a:bodyPr>
          <a:lstStyle/>
          <a:p>
            <a:pPr marL="0" indent="0" algn="ctr">
              <a:lnSpc>
                <a:spcPts val="1560"/>
              </a:lnSpc>
              <a:buNone/>
            </a:pPr>
            <a:r>
              <a:rPr lang="en-US" sz="1200" dirty="0">
                <a:solidFill>
                  <a:srgbClr val="55676C"/>
                </a:solidFill>
                <a:latin typeface="IBM Plex Sans" pitchFamily="34" charset="0"/>
                <a:ea typeface="IBM Plex Sans" pitchFamily="34" charset="-122"/>
                <a:cs typeface="IBM Plex Sans" pitchFamily="34" charset="-120"/>
              </a:rPr>
              <a:t>SpO2</a:t>
            </a:r>
            <a:endParaRPr lang="en-US" sz="1200" dirty="0"/>
          </a:p>
        </p:txBody>
      </p:sp>
      <p:sp>
        <p:nvSpPr>
          <p:cNvPr id="16" name="Text 13"/>
          <p:cNvSpPr/>
          <p:nvPr/>
        </p:nvSpPr>
        <p:spPr>
          <a:xfrm>
            <a:off x="1791287" y="4008121"/>
            <a:ext cx="455867" cy="254000"/>
          </a:xfrm>
          <a:prstGeom prst="rect">
            <a:avLst/>
          </a:prstGeom>
          <a:noFill/>
          <a:ln/>
        </p:spPr>
        <p:txBody>
          <a:bodyPr wrap="square" lIns="0" tIns="0" rIns="0" bIns="0" rtlCol="0" anchor="t">
            <a:normAutofit/>
          </a:bodyPr>
          <a:lstStyle/>
          <a:p>
            <a:pPr marL="0" indent="0" algn="ctr">
              <a:lnSpc>
                <a:spcPts val="1800"/>
              </a:lnSpc>
              <a:buNone/>
            </a:pPr>
            <a:r>
              <a:rPr lang="en-US" sz="1500" b="1" dirty="0">
                <a:solidFill>
                  <a:srgbClr val="0E2A33"/>
                </a:solidFill>
                <a:latin typeface="Space Grotesk" pitchFamily="34" charset="0"/>
                <a:ea typeface="Space Grotesk" pitchFamily="34" charset="-122"/>
                <a:cs typeface="Space Grotesk" pitchFamily="34" charset="-120"/>
              </a:rPr>
              <a:t>96%</a:t>
            </a:r>
            <a:endParaRPr lang="en-US" sz="1500" dirty="0"/>
          </a:p>
        </p:txBody>
      </p:sp>
      <p:sp>
        <p:nvSpPr>
          <p:cNvPr id="17" name="Shape 14"/>
          <p:cNvSpPr/>
          <p:nvPr/>
        </p:nvSpPr>
        <p:spPr>
          <a:xfrm>
            <a:off x="2382282" y="3744596"/>
            <a:ext cx="611743" cy="557530"/>
          </a:xfrm>
          <a:prstGeom prst="roundRect">
            <a:avLst>
              <a:gd name="adj" fmla="val 15376"/>
            </a:avLst>
          </a:prstGeom>
          <a:solidFill>
            <a:srgbClr val="FBE3CF"/>
          </a:solidFill>
          <a:ln w="6350">
            <a:solidFill>
              <a:srgbClr val="F0A35E"/>
            </a:solidFill>
            <a:prstDash val="solid"/>
          </a:ln>
        </p:spPr>
        <p:txBody>
          <a:bodyPr/>
          <a:lstStyle/>
          <a:p>
            <a:endParaRPr lang="en-US"/>
          </a:p>
        </p:txBody>
      </p:sp>
      <p:sp>
        <p:nvSpPr>
          <p:cNvPr id="18" name="Text 15"/>
          <p:cNvSpPr/>
          <p:nvPr/>
        </p:nvSpPr>
        <p:spPr>
          <a:xfrm>
            <a:off x="2458656" y="3810000"/>
            <a:ext cx="458915" cy="223520"/>
          </a:xfrm>
          <a:prstGeom prst="rect">
            <a:avLst/>
          </a:prstGeom>
          <a:noFill/>
          <a:ln/>
        </p:spPr>
        <p:txBody>
          <a:bodyPr wrap="square" lIns="0" tIns="0" rIns="0" bIns="0" rtlCol="0" anchor="t">
            <a:normAutofit/>
          </a:bodyPr>
          <a:lstStyle/>
          <a:p>
            <a:pPr marL="0" indent="0" algn="ctr">
              <a:lnSpc>
                <a:spcPts val="1560"/>
              </a:lnSpc>
              <a:buNone/>
            </a:pPr>
            <a:r>
              <a:rPr lang="en-US" sz="1200" dirty="0">
                <a:solidFill>
                  <a:srgbClr val="55676C"/>
                </a:solidFill>
                <a:latin typeface="IBM Plex Sans" pitchFamily="34" charset="0"/>
                <a:ea typeface="IBM Plex Sans" pitchFamily="34" charset="-122"/>
                <a:cs typeface="IBM Plex Sans" pitchFamily="34" charset="-120"/>
              </a:rPr>
              <a:t>Temp</a:t>
            </a:r>
            <a:endParaRPr lang="en-US" sz="1200" dirty="0"/>
          </a:p>
        </p:txBody>
      </p:sp>
      <p:sp>
        <p:nvSpPr>
          <p:cNvPr id="19" name="Text 16"/>
          <p:cNvSpPr/>
          <p:nvPr/>
        </p:nvSpPr>
        <p:spPr>
          <a:xfrm>
            <a:off x="2446465" y="4008121"/>
            <a:ext cx="483298" cy="254000"/>
          </a:xfrm>
          <a:prstGeom prst="rect">
            <a:avLst/>
          </a:prstGeom>
          <a:noFill/>
          <a:ln/>
        </p:spPr>
        <p:txBody>
          <a:bodyPr wrap="square" lIns="0" tIns="0" rIns="0" bIns="0" rtlCol="0" anchor="t">
            <a:normAutofit/>
          </a:bodyPr>
          <a:lstStyle/>
          <a:p>
            <a:pPr marL="0" indent="0" algn="ctr">
              <a:lnSpc>
                <a:spcPts val="1800"/>
              </a:lnSpc>
              <a:buNone/>
            </a:pPr>
            <a:r>
              <a:rPr lang="en-US" sz="1500" b="1" dirty="0">
                <a:solidFill>
                  <a:srgbClr val="A84E12"/>
                </a:solidFill>
                <a:latin typeface="Space Grotesk" pitchFamily="34" charset="0"/>
                <a:ea typeface="Space Grotesk" pitchFamily="34" charset="-122"/>
                <a:cs typeface="Space Grotesk" pitchFamily="34" charset="-120"/>
              </a:rPr>
              <a:t>38.6</a:t>
            </a:r>
            <a:endParaRPr lang="en-US" sz="1500" dirty="0"/>
          </a:p>
        </p:txBody>
      </p:sp>
      <p:sp>
        <p:nvSpPr>
          <p:cNvPr id="20" name="Shape 17"/>
          <p:cNvSpPr/>
          <p:nvPr/>
        </p:nvSpPr>
        <p:spPr>
          <a:xfrm>
            <a:off x="1047750" y="4400550"/>
            <a:ext cx="1943100" cy="1028700"/>
          </a:xfrm>
          <a:prstGeom prst="roundRect">
            <a:avLst>
              <a:gd name="adj" fmla="val 9259"/>
            </a:avLst>
          </a:prstGeom>
          <a:solidFill>
            <a:srgbClr val="FCFDFB"/>
          </a:solidFill>
          <a:ln w="12700">
            <a:solidFill>
              <a:srgbClr val="F0A35E"/>
            </a:solidFill>
            <a:prstDash val="solid"/>
          </a:ln>
        </p:spPr>
        <p:txBody>
          <a:bodyPr/>
          <a:lstStyle/>
          <a:p>
            <a:endParaRPr lang="en-US"/>
          </a:p>
        </p:txBody>
      </p:sp>
      <p:sp>
        <p:nvSpPr>
          <p:cNvPr id="21" name="Text 18"/>
          <p:cNvSpPr/>
          <p:nvPr/>
        </p:nvSpPr>
        <p:spPr>
          <a:xfrm>
            <a:off x="1153160" y="4505964"/>
            <a:ext cx="1784249"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2A33"/>
                </a:solidFill>
                <a:latin typeface="IBM Plex Sans" pitchFamily="34" charset="0"/>
                <a:ea typeface="IBM Plex Sans" pitchFamily="34" charset="-122"/>
                <a:cs typeface="IBM Plex Sans" pitchFamily="34" charset="-120"/>
              </a:rPr>
              <a:t>Fever rule met. Give paracetamol?</a:t>
            </a:r>
            <a:endParaRPr lang="en-US" sz="1200" dirty="0"/>
          </a:p>
        </p:txBody>
      </p:sp>
      <p:sp>
        <p:nvSpPr>
          <p:cNvPr id="22" name="Text 19"/>
          <p:cNvSpPr/>
          <p:nvPr/>
        </p:nvSpPr>
        <p:spPr>
          <a:xfrm>
            <a:off x="1153160" y="5008879"/>
            <a:ext cx="840740" cy="314960"/>
          </a:xfrm>
          <a:custGeom>
            <a:avLst/>
            <a:gdLst/>
            <a:ahLst/>
            <a:cxnLst/>
            <a:rect l="l" t="t" r="r" b="b"/>
            <a:pathLst>
              <a:path w="840740" h="314960">
                <a:moveTo>
                  <a:pt x="76200" y="0"/>
                </a:moveTo>
                <a:lnTo>
                  <a:pt x="764540" y="0"/>
                </a:lnTo>
                <a:arcTo wR="76200" hR="76200" stAng="16200000" swAng="5400000"/>
                <a:lnTo>
                  <a:pt x="840740" y="238760"/>
                </a:lnTo>
                <a:arcTo wR="76200" hR="76200" stAng="0" swAng="5400000"/>
                <a:lnTo>
                  <a:pt x="76200" y="314960"/>
                </a:lnTo>
                <a:arcTo wR="76200" hR="76200" stAng="5400000" swAng="5400000"/>
                <a:lnTo>
                  <a:pt x="0" y="76200"/>
                </a:lnTo>
                <a:arcTo wR="76200" hR="76200" stAng="10800000" swAng="5400000"/>
                <a:close/>
              </a:path>
            </a:pathLst>
          </a:custGeom>
          <a:solidFill>
            <a:srgbClr val="0C6D67"/>
          </a:solidFill>
          <a:ln/>
        </p:spPr>
        <p:txBody>
          <a:bodyPr wrap="square" lIns="25400" tIns="50800" rIns="25400" bIns="25400" rtlCol="0" anchor="t">
            <a:normAutofit/>
          </a:bodyPr>
          <a:lstStyle/>
          <a:p>
            <a:pPr marL="0" indent="0" algn="ctr">
              <a:lnSpc>
                <a:spcPts val="1680"/>
              </a:lnSpc>
              <a:buNone/>
            </a:pPr>
            <a:r>
              <a:rPr lang="en-US" sz="1200" b="1" dirty="0">
                <a:solidFill>
                  <a:srgbClr val="F5F7F4"/>
                </a:solidFill>
                <a:latin typeface="IBM Plex Sans" pitchFamily="34" charset="0"/>
                <a:ea typeface="IBM Plex Sans" pitchFamily="34" charset="-122"/>
                <a:cs typeface="IBM Plex Sans" pitchFamily="34" charset="-120"/>
              </a:rPr>
              <a:t>Approve</a:t>
            </a:r>
            <a:endParaRPr lang="en-US" sz="1200" dirty="0"/>
          </a:p>
        </p:txBody>
      </p:sp>
      <p:sp>
        <p:nvSpPr>
          <p:cNvPr id="23" name="Text 20"/>
          <p:cNvSpPr/>
          <p:nvPr/>
        </p:nvSpPr>
        <p:spPr>
          <a:xfrm>
            <a:off x="2044700" y="5008879"/>
            <a:ext cx="840740" cy="314960"/>
          </a:xfrm>
          <a:custGeom>
            <a:avLst/>
            <a:gdLst/>
            <a:ahLst/>
            <a:cxnLst/>
            <a:rect l="l" t="t" r="r" b="b"/>
            <a:pathLst>
              <a:path w="840740" h="314960">
                <a:moveTo>
                  <a:pt x="76200" y="0"/>
                </a:moveTo>
                <a:lnTo>
                  <a:pt x="764540" y="0"/>
                </a:lnTo>
                <a:arcTo wR="76200" hR="76200" stAng="16200000" swAng="5400000"/>
                <a:lnTo>
                  <a:pt x="840740" y="238760"/>
                </a:lnTo>
                <a:arcTo wR="76200" hR="76200" stAng="0" swAng="5400000"/>
                <a:lnTo>
                  <a:pt x="76200" y="314960"/>
                </a:lnTo>
                <a:arcTo wR="76200" hR="76200" stAng="5400000" swAng="5400000"/>
                <a:lnTo>
                  <a:pt x="0" y="76200"/>
                </a:lnTo>
                <a:arcTo wR="76200" hR="76200" stAng="10800000" swAng="5400000"/>
                <a:close/>
              </a:path>
            </a:pathLst>
          </a:custGeom>
          <a:solidFill>
            <a:srgbClr val="E7EEEB"/>
          </a:solidFill>
          <a:ln/>
        </p:spPr>
        <p:txBody>
          <a:bodyPr wrap="square" lIns="25400" tIns="50800" rIns="25400" bIns="25400" rtlCol="0" anchor="t">
            <a:normAutofit/>
          </a:bodyPr>
          <a:lstStyle/>
          <a:p>
            <a:pPr marL="0" indent="0" algn="ctr">
              <a:lnSpc>
                <a:spcPts val="1680"/>
              </a:lnSpc>
              <a:buNone/>
            </a:pPr>
            <a:r>
              <a:rPr lang="en-US" sz="1200" b="1" dirty="0">
                <a:solidFill>
                  <a:srgbClr val="0E2A33"/>
                </a:solidFill>
                <a:latin typeface="IBM Plex Sans" pitchFamily="34" charset="0"/>
                <a:ea typeface="IBM Plex Sans" pitchFamily="34" charset="-122"/>
                <a:cs typeface="IBM Plex Sans" pitchFamily="34" charset="-120"/>
              </a:rPr>
              <a:t>Hold</a:t>
            </a:r>
            <a:endParaRPr lang="en-US" sz="1200" dirty="0"/>
          </a:p>
        </p:txBody>
      </p:sp>
      <p:sp>
        <p:nvSpPr>
          <p:cNvPr id="24" name="Text 21"/>
          <p:cNvSpPr/>
          <p:nvPr/>
        </p:nvSpPr>
        <p:spPr>
          <a:xfrm>
            <a:off x="3733800" y="1879600"/>
            <a:ext cx="279400"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0C6D67"/>
                </a:solidFill>
                <a:latin typeface="JetBrains Mono" pitchFamily="49" charset="0"/>
                <a:ea typeface="JetBrains Mono" pitchFamily="49" charset="-122"/>
                <a:cs typeface="JetBrains Mono" pitchFamily="49" charset="-120"/>
              </a:rPr>
              <a:t>01</a:t>
            </a:r>
            <a:endParaRPr lang="en-US" sz="1500" dirty="0"/>
          </a:p>
        </p:txBody>
      </p:sp>
      <p:sp>
        <p:nvSpPr>
          <p:cNvPr id="25" name="Text 22"/>
          <p:cNvSpPr/>
          <p:nvPr/>
        </p:nvSpPr>
        <p:spPr>
          <a:xfrm>
            <a:off x="4114800" y="1879600"/>
            <a:ext cx="7482332"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0E2A33"/>
                </a:solidFill>
                <a:latin typeface="Space Grotesk" pitchFamily="34" charset="0"/>
                <a:ea typeface="Space Grotesk" pitchFamily="34" charset="-122"/>
                <a:cs typeface="Space Grotesk" pitchFamily="34" charset="-120"/>
              </a:rPr>
              <a:t>Send the robot to a patient</a:t>
            </a:r>
            <a:endParaRPr lang="en-US" sz="1500" dirty="0"/>
          </a:p>
        </p:txBody>
      </p:sp>
      <p:sp>
        <p:nvSpPr>
          <p:cNvPr id="26" name="Text 23"/>
          <p:cNvSpPr/>
          <p:nvPr/>
        </p:nvSpPr>
        <p:spPr>
          <a:xfrm>
            <a:off x="4114800" y="2152650"/>
            <a:ext cx="748233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158"/>
                </a:solidFill>
                <a:latin typeface="IBM Plex Sans" pitchFamily="34" charset="0"/>
                <a:ea typeface="IBM Plex Sans" pitchFamily="34" charset="-122"/>
                <a:cs typeface="IBM Plex Sans" pitchFamily="34" charset="-120"/>
              </a:rPr>
              <a:t>Pick a bed; the robot drives there and starts a check.</a:t>
            </a:r>
            <a:endParaRPr lang="en-US" sz="1200" dirty="0"/>
          </a:p>
        </p:txBody>
      </p:sp>
      <p:sp>
        <p:nvSpPr>
          <p:cNvPr id="27" name="Text 24"/>
          <p:cNvSpPr/>
          <p:nvPr/>
        </p:nvSpPr>
        <p:spPr>
          <a:xfrm>
            <a:off x="3733800" y="2543814"/>
            <a:ext cx="279400"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0C6D67"/>
                </a:solidFill>
                <a:latin typeface="JetBrains Mono" pitchFamily="49" charset="0"/>
                <a:ea typeface="JetBrains Mono" pitchFamily="49" charset="-122"/>
                <a:cs typeface="JetBrains Mono" pitchFamily="49" charset="-120"/>
              </a:rPr>
              <a:t>02</a:t>
            </a:r>
            <a:endParaRPr lang="en-US" sz="1500" dirty="0"/>
          </a:p>
        </p:txBody>
      </p:sp>
      <p:sp>
        <p:nvSpPr>
          <p:cNvPr id="28" name="Text 25"/>
          <p:cNvSpPr/>
          <p:nvPr/>
        </p:nvSpPr>
        <p:spPr>
          <a:xfrm>
            <a:off x="4114800" y="2543814"/>
            <a:ext cx="7482332"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0E2A33"/>
                </a:solidFill>
                <a:latin typeface="Space Grotesk" pitchFamily="34" charset="0"/>
                <a:ea typeface="Space Grotesk" pitchFamily="34" charset="-122"/>
                <a:cs typeface="Space Grotesk" pitchFamily="34" charset="-120"/>
              </a:rPr>
              <a:t>See and talk to the patient</a:t>
            </a:r>
            <a:endParaRPr lang="en-US" sz="1500" dirty="0"/>
          </a:p>
        </p:txBody>
      </p:sp>
      <p:sp>
        <p:nvSpPr>
          <p:cNvPr id="29" name="Text 26"/>
          <p:cNvSpPr/>
          <p:nvPr/>
        </p:nvSpPr>
        <p:spPr>
          <a:xfrm>
            <a:off x="4114800" y="2816864"/>
            <a:ext cx="748233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158"/>
                </a:solidFill>
                <a:latin typeface="IBM Plex Sans" pitchFamily="34" charset="0"/>
                <a:ea typeface="IBM Plex Sans" pitchFamily="34" charset="-122"/>
                <a:cs typeface="IBM Plex Sans" pitchFamily="34" charset="-120"/>
              </a:rPr>
              <a:t>Live two-way video through the robot’s camera, screen, mic and speaker.</a:t>
            </a:r>
            <a:endParaRPr lang="en-US" sz="1200" dirty="0"/>
          </a:p>
        </p:txBody>
      </p:sp>
      <p:sp>
        <p:nvSpPr>
          <p:cNvPr id="30" name="Text 27"/>
          <p:cNvSpPr/>
          <p:nvPr/>
        </p:nvSpPr>
        <p:spPr>
          <a:xfrm>
            <a:off x="3733800" y="3208021"/>
            <a:ext cx="279400"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0C6D67"/>
                </a:solidFill>
                <a:latin typeface="JetBrains Mono" pitchFamily="49" charset="0"/>
                <a:ea typeface="JetBrains Mono" pitchFamily="49" charset="-122"/>
                <a:cs typeface="JetBrains Mono" pitchFamily="49" charset="-120"/>
              </a:rPr>
              <a:t>03</a:t>
            </a:r>
            <a:endParaRPr lang="en-US" sz="1500" dirty="0"/>
          </a:p>
        </p:txBody>
      </p:sp>
      <p:sp>
        <p:nvSpPr>
          <p:cNvPr id="31" name="Text 28"/>
          <p:cNvSpPr/>
          <p:nvPr/>
        </p:nvSpPr>
        <p:spPr>
          <a:xfrm>
            <a:off x="4114800" y="3208021"/>
            <a:ext cx="7482332"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0E2A33"/>
                </a:solidFill>
                <a:latin typeface="Space Grotesk" pitchFamily="34" charset="0"/>
                <a:ea typeface="Space Grotesk" pitchFamily="34" charset="-122"/>
                <a:cs typeface="Space Grotesk" pitchFamily="34" charset="-120"/>
              </a:rPr>
              <a:t>Watch the vitals</a:t>
            </a:r>
            <a:endParaRPr lang="en-US" sz="1500" dirty="0"/>
          </a:p>
        </p:txBody>
      </p:sp>
      <p:sp>
        <p:nvSpPr>
          <p:cNvPr id="32" name="Text 29"/>
          <p:cNvSpPr/>
          <p:nvPr/>
        </p:nvSpPr>
        <p:spPr>
          <a:xfrm>
            <a:off x="4114800" y="3481071"/>
            <a:ext cx="748233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158"/>
                </a:solidFill>
                <a:latin typeface="IBM Plex Sans" pitchFamily="34" charset="0"/>
                <a:ea typeface="IBM Plex Sans" pitchFamily="34" charset="-122"/>
                <a:cs typeface="IBM Plex Sans" pitchFamily="34" charset="-120"/>
              </a:rPr>
              <a:t>Latest readings, trends over time, and an alert whenever a dose is held.</a:t>
            </a:r>
            <a:endParaRPr lang="en-US" sz="1200" dirty="0"/>
          </a:p>
        </p:txBody>
      </p:sp>
      <p:sp>
        <p:nvSpPr>
          <p:cNvPr id="33" name="Text 30"/>
          <p:cNvSpPr/>
          <p:nvPr/>
        </p:nvSpPr>
        <p:spPr>
          <a:xfrm>
            <a:off x="3733800" y="3872229"/>
            <a:ext cx="279400"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0C6D67"/>
                </a:solidFill>
                <a:latin typeface="JetBrains Mono" pitchFamily="49" charset="0"/>
                <a:ea typeface="JetBrains Mono" pitchFamily="49" charset="-122"/>
                <a:cs typeface="JetBrains Mono" pitchFamily="49" charset="-120"/>
              </a:rPr>
              <a:t>04</a:t>
            </a:r>
            <a:endParaRPr lang="en-US" sz="1500" dirty="0"/>
          </a:p>
        </p:txBody>
      </p:sp>
      <p:sp>
        <p:nvSpPr>
          <p:cNvPr id="34" name="Text 31"/>
          <p:cNvSpPr/>
          <p:nvPr/>
        </p:nvSpPr>
        <p:spPr>
          <a:xfrm>
            <a:off x="4114800" y="3872229"/>
            <a:ext cx="7482332"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0E2A33"/>
                </a:solidFill>
                <a:latin typeface="Space Grotesk" pitchFamily="34" charset="0"/>
                <a:ea typeface="Space Grotesk" pitchFamily="34" charset="-122"/>
                <a:cs typeface="Space Grotesk" pitchFamily="34" charset="-120"/>
              </a:rPr>
              <a:t>Approve doses</a:t>
            </a:r>
            <a:endParaRPr lang="en-US" sz="1500" dirty="0"/>
          </a:p>
        </p:txBody>
      </p:sp>
      <p:sp>
        <p:nvSpPr>
          <p:cNvPr id="35" name="Text 32"/>
          <p:cNvSpPr/>
          <p:nvPr/>
        </p:nvSpPr>
        <p:spPr>
          <a:xfrm>
            <a:off x="4114800" y="4145279"/>
            <a:ext cx="748233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158"/>
                </a:solidFill>
                <a:latin typeface="IBM Plex Sans" pitchFamily="34" charset="0"/>
                <a:ea typeface="IBM Plex Sans" pitchFamily="34" charset="-122"/>
                <a:cs typeface="IBM Plex Sans" pitchFamily="34" charset="-120"/>
              </a:rPr>
              <a:t>When a doctor’s rule is met, the doctor taps Approve or Hold.</a:t>
            </a:r>
            <a:endParaRPr lang="en-US" sz="1200" dirty="0"/>
          </a:p>
        </p:txBody>
      </p:sp>
      <p:sp>
        <p:nvSpPr>
          <p:cNvPr id="36" name="Shape 33"/>
          <p:cNvSpPr/>
          <p:nvPr/>
        </p:nvSpPr>
        <p:spPr>
          <a:xfrm>
            <a:off x="3736975" y="4539617"/>
            <a:ext cx="7639050" cy="801370"/>
          </a:xfrm>
          <a:prstGeom prst="roundRect">
            <a:avLst>
              <a:gd name="adj" fmla="val 15452"/>
            </a:avLst>
          </a:prstGeom>
          <a:solidFill>
            <a:srgbClr val="FCFDFB"/>
          </a:solidFill>
          <a:ln w="6350">
            <a:solidFill>
              <a:srgbClr val="D3DDDA"/>
            </a:solidFill>
            <a:prstDash val="solid"/>
          </a:ln>
        </p:spPr>
        <p:txBody>
          <a:bodyPr/>
          <a:lstStyle/>
          <a:p>
            <a:endParaRPr lang="en-US"/>
          </a:p>
        </p:txBody>
      </p:sp>
      <p:pic>
        <p:nvPicPr>
          <p:cNvPr id="37" name="Image 1" descr="Lock"/>
          <p:cNvPicPr>
            <a:picLocks noChangeAspect="1"/>
          </p:cNvPicPr>
          <p:nvPr/>
        </p:nvPicPr>
        <p:blipFill>
          <a:blip r:embed="rId4"/>
          <a:srcRect/>
          <a:stretch/>
        </p:blipFill>
        <p:spPr>
          <a:xfrm>
            <a:off x="3942080" y="4719321"/>
            <a:ext cx="254000" cy="254000"/>
          </a:xfrm>
          <a:prstGeom prst="rect">
            <a:avLst/>
          </a:prstGeom>
        </p:spPr>
      </p:pic>
      <p:sp>
        <p:nvSpPr>
          <p:cNvPr id="38" name="Text 34"/>
          <p:cNvSpPr/>
          <p:nvPr/>
        </p:nvSpPr>
        <p:spPr>
          <a:xfrm>
            <a:off x="4323080" y="4719321"/>
            <a:ext cx="7053275" cy="467360"/>
          </a:xfrm>
          <a:prstGeom prst="rect">
            <a:avLst/>
          </a:prstGeom>
          <a:noFill/>
          <a:ln/>
        </p:spPr>
        <p:txBody>
          <a:bodyPr wrap="square" lIns="0" tIns="0" rIns="0" bIns="0" rtlCol="0" anchor="t">
            <a:normAutofit/>
          </a:bodyPr>
          <a:lstStyle/>
          <a:p>
            <a:pPr marL="0" indent="0" algn="l">
              <a:lnSpc>
                <a:spcPts val="1740"/>
              </a:lnSpc>
              <a:buNone/>
            </a:pPr>
            <a:r>
              <a:rPr lang="en-US" sz="1200" b="1" dirty="0">
                <a:solidFill>
                  <a:srgbClr val="0E2A33"/>
                </a:solidFill>
                <a:latin typeface="IBM Plex Sans" pitchFamily="34" charset="0"/>
                <a:ea typeface="IBM Plex Sans" pitchFamily="34" charset="-122"/>
                <a:cs typeface="IBM Plex Sans" pitchFamily="34" charset="-120"/>
              </a:rPr>
              <a:t>Privacy:</a:t>
            </a:r>
            <a:r>
              <a:rPr lang="en-US" sz="1200" dirty="0">
                <a:solidFill>
                  <a:srgbClr val="0E2A33"/>
                </a:solidFill>
                <a:latin typeface="IBM Plex Sans" pitchFamily="34" charset="0"/>
                <a:ea typeface="IBM Plex Sans" pitchFamily="34" charset="-122"/>
                <a:cs typeface="IBM Plex Sans" pitchFamily="34" charset="-120"/>
              </a:rPr>
              <a:t> the robot says who is joining and lights an LED while the camera is live. Only logged-in doctors can connect, and calls aren’t recorded by default.</a:t>
            </a:r>
            <a:endParaRPr lang="en-US" sz="1200" dirty="0"/>
          </a:p>
        </p:txBody>
      </p:sp>
      <p:sp>
        <p:nvSpPr>
          <p:cNvPr id="39" name="Text 35"/>
          <p:cNvSpPr/>
          <p:nvPr/>
        </p:nvSpPr>
        <p:spPr>
          <a:xfrm>
            <a:off x="812800" y="6238242"/>
            <a:ext cx="435406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76C"/>
                </a:solidFill>
                <a:latin typeface="IBM Plex Sans" pitchFamily="34" charset="0"/>
                <a:ea typeface="IBM Plex Sans" pitchFamily="34" charset="-122"/>
                <a:cs typeface="IBM Plex Sans" pitchFamily="34" charset="-120"/>
              </a:rPr>
              <a:t>App mockup; the readings shown are example values</a:t>
            </a:r>
            <a:endParaRPr lang="en-US" sz="1200" dirty="0"/>
          </a:p>
        </p:txBody>
      </p:sp>
      <p:sp>
        <p:nvSpPr>
          <p:cNvPr id="40" name="Text 36"/>
          <p:cNvSpPr/>
          <p:nvPr/>
        </p:nvSpPr>
        <p:spPr>
          <a:xfrm>
            <a:off x="11196320" y="6238242"/>
            <a:ext cx="233680" cy="23876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55676C"/>
                </a:solidFill>
                <a:latin typeface="IBM Plex Sans" pitchFamily="34" charset="0"/>
                <a:ea typeface="IBM Plex Sans" pitchFamily="34" charset="-122"/>
                <a:cs typeface="IBM Plex Sans"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C6D67"/>
                </a:solidFill>
                <a:latin typeface="JetBrains Mono" pitchFamily="49" charset="0"/>
                <a:ea typeface="JetBrains Mono" pitchFamily="49" charset="-122"/>
                <a:cs typeface="JetBrains Mono" pitchFamily="49" charset="-120"/>
              </a:rPr>
              <a:t>PART 4 · SOFTWARE · YOUSSEF ESLAM</a:t>
            </a:r>
            <a:endParaRPr lang="en-US" sz="1200" dirty="0"/>
          </a:p>
        </p:txBody>
      </p:sp>
      <p:sp>
        <p:nvSpPr>
          <p:cNvPr id="3" name="Text 1"/>
          <p:cNvSpPr>
            <a:spLocks noGrp="1"/>
          </p:cNvSpPr>
          <p:nvPr>
            <p:ph type="title"/>
          </p:nvPr>
        </p:nvSpPr>
        <p:spPr>
          <a:xfrm>
            <a:off x="812800" y="11277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E2A33"/>
                </a:solidFill>
                <a:latin typeface="Space Grotesk" pitchFamily="34" charset="0"/>
                <a:ea typeface="Space Grotesk" pitchFamily="34" charset="-122"/>
                <a:cs typeface="Space Grotesk" pitchFamily="34" charset="-120"/>
              </a:rPr>
              <a:t>From the robot to the doctor’s phone</a:t>
            </a:r>
            <a:endParaRPr lang="en-US" sz="3200" dirty="0"/>
          </a:p>
        </p:txBody>
      </p:sp>
      <p:sp>
        <p:nvSpPr>
          <p:cNvPr id="4" name="Shape 2"/>
          <p:cNvSpPr/>
          <p:nvPr/>
        </p:nvSpPr>
        <p:spPr>
          <a:xfrm>
            <a:off x="812800" y="1879600"/>
            <a:ext cx="2255520" cy="1090930"/>
          </a:xfrm>
          <a:prstGeom prst="roundRect">
            <a:avLst>
              <a:gd name="adj" fmla="val 9313"/>
            </a:avLst>
          </a:prstGeom>
          <a:solidFill>
            <a:srgbClr val="0E2A33"/>
          </a:solidFill>
          <a:ln/>
        </p:spPr>
        <p:txBody>
          <a:bodyPr/>
          <a:lstStyle/>
          <a:p>
            <a:endParaRPr lang="en-US"/>
          </a:p>
        </p:txBody>
      </p:sp>
      <p:sp>
        <p:nvSpPr>
          <p:cNvPr id="5" name="Text 3"/>
          <p:cNvSpPr/>
          <p:nvPr/>
        </p:nvSpPr>
        <p:spPr>
          <a:xfrm>
            <a:off x="990600" y="2057400"/>
            <a:ext cx="1956918"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F5F7F4"/>
                </a:solidFill>
                <a:latin typeface="Space Grotesk" pitchFamily="34" charset="0"/>
                <a:ea typeface="Space Grotesk" pitchFamily="34" charset="-122"/>
                <a:cs typeface="Space Grotesk" pitchFamily="34" charset="-120"/>
              </a:rPr>
              <a:t>ROS 2 topics</a:t>
            </a:r>
            <a:endParaRPr lang="en-US" sz="1500" dirty="0"/>
          </a:p>
        </p:txBody>
      </p:sp>
      <p:sp>
        <p:nvSpPr>
          <p:cNvPr id="6" name="Text 4"/>
          <p:cNvSpPr/>
          <p:nvPr/>
        </p:nvSpPr>
        <p:spPr>
          <a:xfrm>
            <a:off x="990600" y="2355850"/>
            <a:ext cx="1956918"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D6D2"/>
                </a:solidFill>
                <a:latin typeface="IBM Plex Sans" pitchFamily="34" charset="0"/>
                <a:ea typeface="IBM Plex Sans" pitchFamily="34" charset="-122"/>
                <a:cs typeface="IBM Plex Sans" pitchFamily="34" charset="-120"/>
              </a:rPr>
              <a:t>Vitals, decisions and alerts from the robot</a:t>
            </a:r>
            <a:endParaRPr lang="en-US" sz="1200" dirty="0"/>
          </a:p>
        </p:txBody>
      </p:sp>
      <p:pic>
        <p:nvPicPr>
          <p:cNvPr id="7" name="Image 0" descr="arrow-right"/>
          <p:cNvPicPr>
            <a:picLocks noChangeAspect="1"/>
          </p:cNvPicPr>
          <p:nvPr/>
        </p:nvPicPr>
        <p:blipFill>
          <a:blip r:embed="rId3"/>
          <a:srcRect/>
          <a:stretch/>
        </p:blipFill>
        <p:spPr>
          <a:xfrm>
            <a:off x="3169920" y="2336167"/>
            <a:ext cx="304800" cy="177800"/>
          </a:xfrm>
          <a:prstGeom prst="rect">
            <a:avLst/>
          </a:prstGeom>
        </p:spPr>
      </p:pic>
      <p:sp>
        <p:nvSpPr>
          <p:cNvPr id="8" name="Shape 5"/>
          <p:cNvSpPr/>
          <p:nvPr/>
        </p:nvSpPr>
        <p:spPr>
          <a:xfrm>
            <a:off x="3579495" y="1882775"/>
            <a:ext cx="2259330" cy="1084580"/>
          </a:xfrm>
          <a:prstGeom prst="roundRect">
            <a:avLst>
              <a:gd name="adj" fmla="val 9075"/>
            </a:avLst>
          </a:prstGeom>
          <a:solidFill>
            <a:srgbClr val="FCFDFB"/>
          </a:solidFill>
          <a:ln w="6350">
            <a:solidFill>
              <a:srgbClr val="D3DDDA"/>
            </a:solidFill>
            <a:prstDash val="solid"/>
          </a:ln>
        </p:spPr>
        <p:txBody>
          <a:bodyPr/>
          <a:lstStyle/>
          <a:p>
            <a:endParaRPr lang="en-US"/>
          </a:p>
        </p:txBody>
      </p:sp>
      <p:sp>
        <p:nvSpPr>
          <p:cNvPr id="9" name="Text 6"/>
          <p:cNvSpPr/>
          <p:nvPr/>
        </p:nvSpPr>
        <p:spPr>
          <a:xfrm>
            <a:off x="3759200" y="2062479"/>
            <a:ext cx="1956918"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0E2A33"/>
                </a:solidFill>
                <a:latin typeface="Space Grotesk" pitchFamily="34" charset="0"/>
                <a:ea typeface="Space Grotesk" pitchFamily="34" charset="-122"/>
                <a:cs typeface="Space Grotesk" pitchFamily="34" charset="-120"/>
              </a:rPr>
              <a:t>app_bridge</a:t>
            </a:r>
            <a:endParaRPr lang="en-US" sz="1500" dirty="0"/>
          </a:p>
        </p:txBody>
      </p:sp>
      <p:sp>
        <p:nvSpPr>
          <p:cNvPr id="10" name="Text 7"/>
          <p:cNvSpPr/>
          <p:nvPr/>
        </p:nvSpPr>
        <p:spPr>
          <a:xfrm>
            <a:off x="3759200" y="2360929"/>
            <a:ext cx="1956918"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158"/>
                </a:solidFill>
                <a:latin typeface="IBM Plex Sans" pitchFamily="34" charset="0"/>
                <a:ea typeface="IBM Plex Sans" pitchFamily="34" charset="-122"/>
                <a:cs typeface="IBM Plex Sans" pitchFamily="34" charset="-120"/>
              </a:rPr>
              <a:t>Our Python node linking ROS 2 to the cloud</a:t>
            </a:r>
            <a:endParaRPr lang="en-US" sz="1200" dirty="0"/>
          </a:p>
        </p:txBody>
      </p:sp>
      <p:pic>
        <p:nvPicPr>
          <p:cNvPr id="11" name="Image 1" descr="arrow-right"/>
          <p:cNvPicPr>
            <a:picLocks noChangeAspect="1"/>
          </p:cNvPicPr>
          <p:nvPr/>
        </p:nvPicPr>
        <p:blipFill>
          <a:blip r:embed="rId3"/>
          <a:srcRect/>
          <a:stretch/>
        </p:blipFill>
        <p:spPr>
          <a:xfrm>
            <a:off x="5943600" y="2336167"/>
            <a:ext cx="304800" cy="177800"/>
          </a:xfrm>
          <a:prstGeom prst="rect">
            <a:avLst/>
          </a:prstGeom>
        </p:spPr>
      </p:pic>
      <p:sp>
        <p:nvSpPr>
          <p:cNvPr id="12" name="Shape 8"/>
          <p:cNvSpPr/>
          <p:nvPr/>
        </p:nvSpPr>
        <p:spPr>
          <a:xfrm>
            <a:off x="6353175" y="1882775"/>
            <a:ext cx="2259330" cy="1084580"/>
          </a:xfrm>
          <a:prstGeom prst="roundRect">
            <a:avLst>
              <a:gd name="adj" fmla="val 9075"/>
            </a:avLst>
          </a:prstGeom>
          <a:solidFill>
            <a:srgbClr val="FCFDFB"/>
          </a:solidFill>
          <a:ln w="6350">
            <a:solidFill>
              <a:srgbClr val="D3DDDA"/>
            </a:solidFill>
            <a:prstDash val="solid"/>
          </a:ln>
        </p:spPr>
        <p:txBody>
          <a:bodyPr/>
          <a:lstStyle/>
          <a:p>
            <a:endParaRPr lang="en-US"/>
          </a:p>
        </p:txBody>
      </p:sp>
      <p:sp>
        <p:nvSpPr>
          <p:cNvPr id="13" name="Text 9"/>
          <p:cNvSpPr/>
          <p:nvPr/>
        </p:nvSpPr>
        <p:spPr>
          <a:xfrm>
            <a:off x="6532880" y="2062479"/>
            <a:ext cx="1956918"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0E2A33"/>
                </a:solidFill>
                <a:latin typeface="Space Grotesk" pitchFamily="34" charset="0"/>
                <a:ea typeface="Space Grotesk" pitchFamily="34" charset="-122"/>
                <a:cs typeface="Space Grotesk" pitchFamily="34" charset="-120"/>
              </a:rPr>
              <a:t>Firebase</a:t>
            </a:r>
            <a:endParaRPr lang="en-US" sz="1500" dirty="0"/>
          </a:p>
        </p:txBody>
      </p:sp>
      <p:sp>
        <p:nvSpPr>
          <p:cNvPr id="14" name="Text 10"/>
          <p:cNvSpPr/>
          <p:nvPr/>
        </p:nvSpPr>
        <p:spPr>
          <a:xfrm>
            <a:off x="6532880" y="2360929"/>
            <a:ext cx="1956918"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158"/>
                </a:solidFill>
                <a:latin typeface="IBM Plex Sans" pitchFamily="34" charset="0"/>
                <a:ea typeface="IBM Plex Sans" pitchFamily="34" charset="-122"/>
                <a:cs typeface="IBM Plex Sans" pitchFamily="34" charset="-120"/>
              </a:rPr>
              <a:t>Syncs the data and sends push alerts</a:t>
            </a:r>
            <a:endParaRPr lang="en-US" sz="1200" dirty="0"/>
          </a:p>
        </p:txBody>
      </p:sp>
      <p:pic>
        <p:nvPicPr>
          <p:cNvPr id="15" name="Image 2" descr="arrow-right"/>
          <p:cNvPicPr>
            <a:picLocks noChangeAspect="1"/>
          </p:cNvPicPr>
          <p:nvPr/>
        </p:nvPicPr>
        <p:blipFill>
          <a:blip r:embed="rId3"/>
          <a:srcRect/>
          <a:stretch/>
        </p:blipFill>
        <p:spPr>
          <a:xfrm>
            <a:off x="8717280" y="2336167"/>
            <a:ext cx="304800" cy="177800"/>
          </a:xfrm>
          <a:prstGeom prst="rect">
            <a:avLst/>
          </a:prstGeom>
        </p:spPr>
      </p:pic>
      <p:sp>
        <p:nvSpPr>
          <p:cNvPr id="16" name="Shape 11"/>
          <p:cNvSpPr/>
          <p:nvPr/>
        </p:nvSpPr>
        <p:spPr>
          <a:xfrm>
            <a:off x="9123680" y="1879600"/>
            <a:ext cx="2255520" cy="1090930"/>
          </a:xfrm>
          <a:prstGeom prst="roundRect">
            <a:avLst>
              <a:gd name="adj" fmla="val 9313"/>
            </a:avLst>
          </a:prstGeom>
          <a:solidFill>
            <a:srgbClr val="0C6D67"/>
          </a:solidFill>
          <a:ln/>
        </p:spPr>
        <p:txBody>
          <a:bodyPr/>
          <a:lstStyle/>
          <a:p>
            <a:endParaRPr lang="en-US"/>
          </a:p>
        </p:txBody>
      </p:sp>
      <p:sp>
        <p:nvSpPr>
          <p:cNvPr id="17" name="Text 12"/>
          <p:cNvSpPr/>
          <p:nvPr/>
        </p:nvSpPr>
        <p:spPr>
          <a:xfrm>
            <a:off x="9301480" y="2057400"/>
            <a:ext cx="1956918"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F5F7F4"/>
                </a:solidFill>
                <a:latin typeface="Space Grotesk" pitchFamily="34" charset="0"/>
                <a:ea typeface="Space Grotesk" pitchFamily="34" charset="-122"/>
                <a:cs typeface="Space Grotesk" pitchFamily="34" charset="-120"/>
              </a:rPr>
              <a:t>Doctor app</a:t>
            </a:r>
            <a:endParaRPr lang="en-US" sz="1500" dirty="0"/>
          </a:p>
        </p:txBody>
      </p:sp>
      <p:sp>
        <p:nvSpPr>
          <p:cNvPr id="18" name="Text 13"/>
          <p:cNvSpPr/>
          <p:nvPr/>
        </p:nvSpPr>
        <p:spPr>
          <a:xfrm>
            <a:off x="9301480" y="2355850"/>
            <a:ext cx="1956918"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9EFEA"/>
                </a:solidFill>
                <a:latin typeface="IBM Plex Sans" pitchFamily="34" charset="0"/>
                <a:ea typeface="IBM Plex Sans" pitchFamily="34" charset="-122"/>
                <a:cs typeface="IBM Plex Sans" pitchFamily="34" charset="-120"/>
              </a:rPr>
              <a:t>Flutter: one code base for Android and iPhone</a:t>
            </a:r>
            <a:endParaRPr lang="en-US" sz="1200" dirty="0"/>
          </a:p>
        </p:txBody>
      </p:sp>
      <p:sp>
        <p:nvSpPr>
          <p:cNvPr id="19" name="Shape 14"/>
          <p:cNvSpPr/>
          <p:nvPr/>
        </p:nvSpPr>
        <p:spPr>
          <a:xfrm>
            <a:off x="812800" y="3275329"/>
            <a:ext cx="3420507" cy="1376680"/>
          </a:xfrm>
          <a:prstGeom prst="roundRect">
            <a:avLst>
              <a:gd name="adj" fmla="val 9225"/>
            </a:avLst>
          </a:prstGeom>
          <a:solidFill>
            <a:srgbClr val="E7EEEB"/>
          </a:solidFill>
          <a:ln/>
        </p:spPr>
        <p:txBody>
          <a:bodyPr/>
          <a:lstStyle/>
          <a:p>
            <a:endParaRPr lang="en-US"/>
          </a:p>
        </p:txBody>
      </p:sp>
      <p:pic>
        <p:nvPicPr>
          <p:cNvPr id="20" name="Image 3" descr="Settings"/>
          <p:cNvPicPr>
            <a:picLocks noChangeAspect="1"/>
          </p:cNvPicPr>
          <p:nvPr/>
        </p:nvPicPr>
        <p:blipFill>
          <a:blip r:embed="rId4"/>
          <a:srcRect/>
          <a:stretch/>
        </p:blipFill>
        <p:spPr>
          <a:xfrm>
            <a:off x="1016000" y="3478529"/>
            <a:ext cx="254000" cy="254000"/>
          </a:xfrm>
          <a:prstGeom prst="rect">
            <a:avLst/>
          </a:prstGeom>
        </p:spPr>
      </p:pic>
      <p:sp>
        <p:nvSpPr>
          <p:cNvPr id="21" name="Text 15"/>
          <p:cNvSpPr/>
          <p:nvPr/>
        </p:nvSpPr>
        <p:spPr>
          <a:xfrm>
            <a:off x="1371600" y="3481704"/>
            <a:ext cx="2738262"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0E2A33"/>
                </a:solidFill>
                <a:latin typeface="Space Grotesk" pitchFamily="34" charset="0"/>
                <a:ea typeface="Space Grotesk" pitchFamily="34" charset="-122"/>
                <a:cs typeface="Space Grotesk" pitchFamily="34" charset="-120"/>
              </a:rPr>
              <a:t>Nurse touchscreen</a:t>
            </a:r>
            <a:endParaRPr lang="en-US" sz="1500" dirty="0"/>
          </a:p>
        </p:txBody>
      </p:sp>
      <p:sp>
        <p:nvSpPr>
          <p:cNvPr id="22" name="Text 16"/>
          <p:cNvSpPr/>
          <p:nvPr/>
        </p:nvSpPr>
        <p:spPr>
          <a:xfrm>
            <a:off x="1016000" y="3808729"/>
            <a:ext cx="3104530"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158"/>
                </a:solidFill>
                <a:latin typeface="IBM Plex Sans" pitchFamily="34" charset="0"/>
                <a:ea typeface="IBM Plex Sans" pitchFamily="34" charset="-122"/>
                <a:cs typeface="IBM Plex Sans" pitchFamily="34" charset="-120"/>
              </a:rPr>
              <a:t>A web page served by the Pi. The nurse assigns drawers to beds and enters the doctor’s rules.</a:t>
            </a:r>
            <a:endParaRPr lang="en-US" sz="1200" dirty="0"/>
          </a:p>
        </p:txBody>
      </p:sp>
      <p:sp>
        <p:nvSpPr>
          <p:cNvPr id="23" name="Shape 17"/>
          <p:cNvSpPr/>
          <p:nvPr/>
        </p:nvSpPr>
        <p:spPr>
          <a:xfrm>
            <a:off x="4385707" y="3275329"/>
            <a:ext cx="3420586" cy="1376680"/>
          </a:xfrm>
          <a:prstGeom prst="roundRect">
            <a:avLst>
              <a:gd name="adj" fmla="val 9225"/>
            </a:avLst>
          </a:prstGeom>
          <a:solidFill>
            <a:srgbClr val="E7EEEB"/>
          </a:solidFill>
          <a:ln/>
        </p:spPr>
        <p:txBody>
          <a:bodyPr/>
          <a:lstStyle/>
          <a:p>
            <a:endParaRPr lang="en-US"/>
          </a:p>
        </p:txBody>
      </p:sp>
      <p:pic>
        <p:nvPicPr>
          <p:cNvPr id="24" name="Image 4" descr="Chat"/>
          <p:cNvPicPr>
            <a:picLocks noChangeAspect="1"/>
          </p:cNvPicPr>
          <p:nvPr/>
        </p:nvPicPr>
        <p:blipFill>
          <a:blip r:embed="rId5"/>
          <a:srcRect/>
          <a:stretch/>
        </p:blipFill>
        <p:spPr>
          <a:xfrm>
            <a:off x="4588907" y="3478529"/>
            <a:ext cx="254000" cy="254000"/>
          </a:xfrm>
          <a:prstGeom prst="rect">
            <a:avLst/>
          </a:prstGeom>
        </p:spPr>
      </p:pic>
      <p:sp>
        <p:nvSpPr>
          <p:cNvPr id="25" name="Text 18"/>
          <p:cNvSpPr/>
          <p:nvPr/>
        </p:nvSpPr>
        <p:spPr>
          <a:xfrm>
            <a:off x="4944507" y="3481704"/>
            <a:ext cx="2738344"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0E2A33"/>
                </a:solidFill>
                <a:latin typeface="Space Grotesk" pitchFamily="34" charset="0"/>
                <a:ea typeface="Space Grotesk" pitchFamily="34" charset="-122"/>
                <a:cs typeface="Space Grotesk" pitchFamily="34" charset="-120"/>
              </a:rPr>
              <a:t>Patient voice and screen</a:t>
            </a:r>
            <a:endParaRPr lang="en-US" sz="1500" dirty="0"/>
          </a:p>
        </p:txBody>
      </p:sp>
      <p:sp>
        <p:nvSpPr>
          <p:cNvPr id="26" name="Text 19"/>
          <p:cNvSpPr/>
          <p:nvPr/>
        </p:nvSpPr>
        <p:spPr>
          <a:xfrm>
            <a:off x="4588907" y="3808729"/>
            <a:ext cx="3104612"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158"/>
                </a:solidFill>
                <a:latin typeface="IBM Plex Sans" pitchFamily="34" charset="0"/>
                <a:ea typeface="IBM Plex Sans" pitchFamily="34" charset="-122"/>
                <a:cs typeface="IBM Plex Sans" pitchFamily="34" charset="-120"/>
              </a:rPr>
              <a:t>Spoken step-by-step guidance in the patient’s language, with readings shown on screen.</a:t>
            </a:r>
            <a:endParaRPr lang="en-US" sz="1200" dirty="0"/>
          </a:p>
        </p:txBody>
      </p:sp>
      <p:sp>
        <p:nvSpPr>
          <p:cNvPr id="27" name="Shape 20"/>
          <p:cNvSpPr/>
          <p:nvPr/>
        </p:nvSpPr>
        <p:spPr>
          <a:xfrm>
            <a:off x="7958693" y="3275329"/>
            <a:ext cx="3420507" cy="1376680"/>
          </a:xfrm>
          <a:prstGeom prst="roundRect">
            <a:avLst>
              <a:gd name="adj" fmla="val 9225"/>
            </a:avLst>
          </a:prstGeom>
          <a:solidFill>
            <a:srgbClr val="E7EEEB"/>
          </a:solidFill>
          <a:ln/>
        </p:spPr>
        <p:txBody>
          <a:bodyPr/>
          <a:lstStyle/>
          <a:p>
            <a:endParaRPr lang="en-US"/>
          </a:p>
        </p:txBody>
      </p:sp>
      <p:pic>
        <p:nvPicPr>
          <p:cNvPr id="28" name="Image 5" descr="Database"/>
          <p:cNvPicPr>
            <a:picLocks noChangeAspect="1"/>
          </p:cNvPicPr>
          <p:nvPr/>
        </p:nvPicPr>
        <p:blipFill>
          <a:blip r:embed="rId6"/>
          <a:srcRect/>
          <a:stretch/>
        </p:blipFill>
        <p:spPr>
          <a:xfrm>
            <a:off x="8161893" y="3478529"/>
            <a:ext cx="254000" cy="254000"/>
          </a:xfrm>
          <a:prstGeom prst="rect">
            <a:avLst/>
          </a:prstGeom>
        </p:spPr>
      </p:pic>
      <p:sp>
        <p:nvSpPr>
          <p:cNvPr id="29" name="Text 21"/>
          <p:cNvSpPr/>
          <p:nvPr/>
        </p:nvSpPr>
        <p:spPr>
          <a:xfrm>
            <a:off x="8517493" y="3481704"/>
            <a:ext cx="2738262"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0E2A33"/>
                </a:solidFill>
                <a:latin typeface="Space Grotesk" pitchFamily="34" charset="0"/>
                <a:ea typeface="Space Grotesk" pitchFamily="34" charset="-122"/>
                <a:cs typeface="Space Grotesk" pitchFamily="34" charset="-120"/>
              </a:rPr>
              <a:t>Data and logs</a:t>
            </a:r>
            <a:endParaRPr lang="en-US" sz="1500" dirty="0"/>
          </a:p>
        </p:txBody>
      </p:sp>
      <p:sp>
        <p:nvSpPr>
          <p:cNvPr id="30" name="Text 22"/>
          <p:cNvSpPr/>
          <p:nvPr/>
        </p:nvSpPr>
        <p:spPr>
          <a:xfrm>
            <a:off x="8161893" y="3808729"/>
            <a:ext cx="3104530"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158"/>
                </a:solidFill>
                <a:latin typeface="IBM Plex Sans" pitchFamily="34" charset="0"/>
                <a:ea typeface="IBM Plex Sans" pitchFamily="34" charset="-122"/>
                <a:cs typeface="IBM Plex Sans" pitchFamily="34" charset="-120"/>
              </a:rPr>
              <a:t>Every visit is saved on the robot in SQLite and synced, with CSV export for doctors and our report.</a:t>
            </a:r>
            <a:endParaRPr lang="en-US" sz="1200" dirty="0"/>
          </a:p>
        </p:txBody>
      </p:sp>
      <p:sp>
        <p:nvSpPr>
          <p:cNvPr id="31" name="Text 23"/>
          <p:cNvSpPr/>
          <p:nvPr/>
        </p:nvSpPr>
        <p:spPr>
          <a:xfrm>
            <a:off x="812800" y="6238242"/>
            <a:ext cx="571957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76C"/>
                </a:solidFill>
                <a:latin typeface="IBM Plex Sans" pitchFamily="34" charset="0"/>
                <a:ea typeface="IBM Plex Sans" pitchFamily="34" charset="-122"/>
                <a:cs typeface="IBM Plex Sans" pitchFamily="34" charset="-120"/>
              </a:rPr>
              <a:t>Live video uses WebRTC, straight from the robot to the doctor’s phone</a:t>
            </a:r>
            <a:endParaRPr lang="en-US" sz="1200" dirty="0"/>
          </a:p>
        </p:txBody>
      </p:sp>
      <p:sp>
        <p:nvSpPr>
          <p:cNvPr id="32" name="Text 24"/>
          <p:cNvSpPr/>
          <p:nvPr/>
        </p:nvSpPr>
        <p:spPr>
          <a:xfrm>
            <a:off x="11196320" y="6238242"/>
            <a:ext cx="233680" cy="23876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55676C"/>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C6D67"/>
                </a:solidFill>
                <a:latin typeface="JetBrains Mono" pitchFamily="49" charset="0"/>
                <a:ea typeface="JetBrains Mono" pitchFamily="49" charset="-122"/>
                <a:cs typeface="JetBrains Mono" pitchFamily="49" charset="-120"/>
              </a:rPr>
              <a:t>WRAP-UP</a:t>
            </a:r>
            <a:endParaRPr lang="en-US" sz="1200" dirty="0"/>
          </a:p>
        </p:txBody>
      </p:sp>
      <p:sp>
        <p:nvSpPr>
          <p:cNvPr id="3" name="Text 1"/>
          <p:cNvSpPr>
            <a:spLocks noGrp="1"/>
          </p:cNvSpPr>
          <p:nvPr>
            <p:ph type="title"/>
          </p:nvPr>
        </p:nvSpPr>
        <p:spPr>
          <a:xfrm>
            <a:off x="812800" y="11277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E2A33"/>
                </a:solidFill>
                <a:latin typeface="Space Grotesk" pitchFamily="34" charset="0"/>
                <a:ea typeface="Space Grotesk" pitchFamily="34" charset="-122"/>
                <a:cs typeface="Space Grotesk" pitchFamily="34" charset="-120"/>
              </a:rPr>
              <a:t>Plan, testing and product</a:t>
            </a:r>
            <a:endParaRPr lang="en-US" sz="3200" dirty="0"/>
          </a:p>
        </p:txBody>
      </p:sp>
      <p:sp>
        <p:nvSpPr>
          <p:cNvPr id="4" name="Shape 2"/>
          <p:cNvSpPr/>
          <p:nvPr/>
        </p:nvSpPr>
        <p:spPr>
          <a:xfrm>
            <a:off x="812800" y="1778000"/>
            <a:ext cx="1276350" cy="902970"/>
          </a:xfrm>
          <a:prstGeom prst="roundRect">
            <a:avLst>
              <a:gd name="adj" fmla="val 9845"/>
            </a:avLst>
          </a:prstGeom>
          <a:solidFill>
            <a:srgbClr val="0E2A33"/>
          </a:solidFill>
          <a:ln/>
        </p:spPr>
        <p:txBody>
          <a:bodyPr/>
          <a:lstStyle/>
          <a:p>
            <a:endParaRPr lang="en-US"/>
          </a:p>
        </p:txBody>
      </p:sp>
      <p:sp>
        <p:nvSpPr>
          <p:cNvPr id="5" name="Text 3"/>
          <p:cNvSpPr/>
          <p:nvPr/>
        </p:nvSpPr>
        <p:spPr>
          <a:xfrm>
            <a:off x="914400" y="1879600"/>
            <a:ext cx="112395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FC1B0"/>
                </a:solidFill>
                <a:latin typeface="JetBrains Mono" pitchFamily="49" charset="0"/>
                <a:ea typeface="JetBrains Mono" pitchFamily="49" charset="-122"/>
                <a:cs typeface="JetBrains Mono" pitchFamily="49" charset="-120"/>
              </a:rPr>
              <a:t>Week 5</a:t>
            </a:r>
            <a:endParaRPr lang="en-US" sz="1200" dirty="0"/>
          </a:p>
        </p:txBody>
      </p:sp>
      <p:sp>
        <p:nvSpPr>
          <p:cNvPr id="6" name="Text 4"/>
          <p:cNvSpPr/>
          <p:nvPr/>
        </p:nvSpPr>
        <p:spPr>
          <a:xfrm>
            <a:off x="914400" y="2105664"/>
            <a:ext cx="1123950"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F5F7F4"/>
                </a:solidFill>
                <a:latin typeface="Space Grotesk" pitchFamily="34" charset="0"/>
                <a:ea typeface="Space Grotesk" pitchFamily="34" charset="-122"/>
                <a:cs typeface="Space Grotesk" pitchFamily="34" charset="-120"/>
              </a:rPr>
              <a:t>Design</a:t>
            </a:r>
            <a:endParaRPr lang="en-US" sz="1500" dirty="0"/>
          </a:p>
        </p:txBody>
      </p:sp>
      <p:sp>
        <p:nvSpPr>
          <p:cNvPr id="7" name="Text 5"/>
          <p:cNvSpPr/>
          <p:nvPr/>
        </p:nvSpPr>
        <p:spPr>
          <a:xfrm>
            <a:off x="914400" y="2366014"/>
            <a:ext cx="11239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D6D2"/>
                </a:solidFill>
                <a:latin typeface="IBM Plex Sans" pitchFamily="34" charset="0"/>
                <a:ea typeface="IBM Plex Sans" pitchFamily="34" charset="-122"/>
                <a:cs typeface="IBM Plex Sans" pitchFamily="34" charset="-120"/>
              </a:rPr>
              <a:t>Oct 19</a:t>
            </a:r>
            <a:endParaRPr lang="en-US" sz="1200" dirty="0"/>
          </a:p>
        </p:txBody>
      </p:sp>
      <p:sp>
        <p:nvSpPr>
          <p:cNvPr id="8" name="Text 6"/>
          <p:cNvSpPr/>
          <p:nvPr/>
        </p:nvSpPr>
        <p:spPr>
          <a:xfrm>
            <a:off x="863600" y="2757171"/>
            <a:ext cx="12255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158"/>
                </a:solidFill>
                <a:latin typeface="IBM Plex Sans" pitchFamily="34" charset="0"/>
                <a:ea typeface="IBM Plex Sans" pitchFamily="34" charset="-122"/>
                <a:cs typeface="IBM Plex Sans" pitchFamily="34" charset="-120"/>
              </a:rPr>
              <a:t>Final design</a:t>
            </a:r>
            <a:endParaRPr lang="en-US" sz="1200" dirty="0"/>
          </a:p>
        </p:txBody>
      </p:sp>
      <p:sp>
        <p:nvSpPr>
          <p:cNvPr id="9" name="Text 7"/>
          <p:cNvSpPr/>
          <p:nvPr/>
        </p:nvSpPr>
        <p:spPr>
          <a:xfrm>
            <a:off x="863600" y="3034029"/>
            <a:ext cx="12255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158"/>
                </a:solidFill>
                <a:latin typeface="IBM Plex Sans" pitchFamily="34" charset="0"/>
                <a:ea typeface="IBM Plex Sans" pitchFamily="34" charset="-122"/>
                <a:cs typeface="IBM Plex Sans" pitchFamily="34" charset="-120"/>
              </a:rPr>
              <a:t>Order parts</a:t>
            </a:r>
            <a:endParaRPr lang="en-US" sz="1200" dirty="0"/>
          </a:p>
        </p:txBody>
      </p:sp>
      <p:sp>
        <p:nvSpPr>
          <p:cNvPr id="10" name="Text 8"/>
          <p:cNvSpPr/>
          <p:nvPr/>
        </p:nvSpPr>
        <p:spPr>
          <a:xfrm>
            <a:off x="863600" y="3310892"/>
            <a:ext cx="122555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158"/>
                </a:solidFill>
                <a:latin typeface="IBM Plex Sans" pitchFamily="34" charset="0"/>
                <a:ea typeface="IBM Plex Sans" pitchFamily="34" charset="-122"/>
                <a:cs typeface="IBM Plex Sans" pitchFamily="34" charset="-120"/>
              </a:rPr>
              <a:t>Agree ROS 2 topics</a:t>
            </a:r>
            <a:endParaRPr lang="en-US" sz="1200" dirty="0"/>
          </a:p>
        </p:txBody>
      </p:sp>
      <p:sp>
        <p:nvSpPr>
          <p:cNvPr id="11" name="Shape 9"/>
          <p:cNvSpPr/>
          <p:nvPr/>
        </p:nvSpPr>
        <p:spPr>
          <a:xfrm>
            <a:off x="2139950" y="1778000"/>
            <a:ext cx="1276350" cy="902970"/>
          </a:xfrm>
          <a:prstGeom prst="roundRect">
            <a:avLst>
              <a:gd name="adj" fmla="val 9845"/>
            </a:avLst>
          </a:prstGeom>
          <a:solidFill>
            <a:srgbClr val="0C6D67"/>
          </a:solidFill>
          <a:ln/>
        </p:spPr>
        <p:txBody>
          <a:bodyPr/>
          <a:lstStyle/>
          <a:p>
            <a:endParaRPr lang="en-US"/>
          </a:p>
        </p:txBody>
      </p:sp>
      <p:sp>
        <p:nvSpPr>
          <p:cNvPr id="12" name="Text 10"/>
          <p:cNvSpPr/>
          <p:nvPr/>
        </p:nvSpPr>
        <p:spPr>
          <a:xfrm>
            <a:off x="2241550" y="1879600"/>
            <a:ext cx="112395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FEDE7"/>
                </a:solidFill>
                <a:latin typeface="JetBrains Mono" pitchFamily="49" charset="0"/>
                <a:ea typeface="JetBrains Mono" pitchFamily="49" charset="-122"/>
                <a:cs typeface="JetBrains Mono" pitchFamily="49" charset="-120"/>
              </a:rPr>
              <a:t>Week 6</a:t>
            </a:r>
            <a:endParaRPr lang="en-US" sz="1200" dirty="0"/>
          </a:p>
        </p:txBody>
      </p:sp>
      <p:sp>
        <p:nvSpPr>
          <p:cNvPr id="13" name="Text 11"/>
          <p:cNvSpPr/>
          <p:nvPr/>
        </p:nvSpPr>
        <p:spPr>
          <a:xfrm>
            <a:off x="2241550" y="2105664"/>
            <a:ext cx="1123950"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F5F7F4"/>
                </a:solidFill>
                <a:latin typeface="Space Grotesk" pitchFamily="34" charset="0"/>
                <a:ea typeface="Space Grotesk" pitchFamily="34" charset="-122"/>
                <a:cs typeface="Space Grotesk" pitchFamily="34" charset="-120"/>
              </a:rPr>
              <a:t>Build</a:t>
            </a:r>
            <a:endParaRPr lang="en-US" sz="1500" dirty="0"/>
          </a:p>
        </p:txBody>
      </p:sp>
      <p:sp>
        <p:nvSpPr>
          <p:cNvPr id="14" name="Text 12"/>
          <p:cNvSpPr/>
          <p:nvPr/>
        </p:nvSpPr>
        <p:spPr>
          <a:xfrm>
            <a:off x="2241550" y="2366014"/>
            <a:ext cx="11239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9EFEA"/>
                </a:solidFill>
                <a:latin typeface="IBM Plex Sans" pitchFamily="34" charset="0"/>
                <a:ea typeface="IBM Plex Sans" pitchFamily="34" charset="-122"/>
                <a:cs typeface="IBM Plex Sans" pitchFamily="34" charset="-120"/>
              </a:rPr>
              <a:t>Oct 26</a:t>
            </a:r>
            <a:endParaRPr lang="en-US" sz="1200" dirty="0"/>
          </a:p>
        </p:txBody>
      </p:sp>
      <p:sp>
        <p:nvSpPr>
          <p:cNvPr id="15" name="Text 13"/>
          <p:cNvSpPr/>
          <p:nvPr/>
        </p:nvSpPr>
        <p:spPr>
          <a:xfrm>
            <a:off x="2190750" y="2757171"/>
            <a:ext cx="122555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158"/>
                </a:solidFill>
                <a:latin typeface="IBM Plex Sans" pitchFamily="34" charset="0"/>
                <a:ea typeface="IBM Plex Sans" pitchFamily="34" charset="-122"/>
                <a:cs typeface="IBM Plex Sans" pitchFamily="34" charset="-120"/>
              </a:rPr>
              <a:t>Chassis and drive motors</a:t>
            </a:r>
            <a:endParaRPr lang="en-US" sz="1200" dirty="0"/>
          </a:p>
        </p:txBody>
      </p:sp>
      <p:sp>
        <p:nvSpPr>
          <p:cNvPr id="16" name="Text 14"/>
          <p:cNvSpPr/>
          <p:nvPr/>
        </p:nvSpPr>
        <p:spPr>
          <a:xfrm>
            <a:off x="2190750" y="3247392"/>
            <a:ext cx="122555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158"/>
                </a:solidFill>
                <a:latin typeface="IBM Plex Sans" pitchFamily="34" charset="0"/>
                <a:ea typeface="IBM Plex Sans" pitchFamily="34" charset="-122"/>
                <a:cs typeface="IBM Plex Sans" pitchFamily="34" charset="-120"/>
              </a:rPr>
              <a:t>Vitals sensors on the ESP32</a:t>
            </a:r>
            <a:endParaRPr lang="en-US" sz="1200" dirty="0"/>
          </a:p>
        </p:txBody>
      </p:sp>
      <p:sp>
        <p:nvSpPr>
          <p:cNvPr id="17" name="Shape 15"/>
          <p:cNvSpPr/>
          <p:nvPr/>
        </p:nvSpPr>
        <p:spPr>
          <a:xfrm>
            <a:off x="3467100" y="1778000"/>
            <a:ext cx="1276350" cy="902970"/>
          </a:xfrm>
          <a:prstGeom prst="roundRect">
            <a:avLst>
              <a:gd name="adj" fmla="val 9845"/>
            </a:avLst>
          </a:prstGeom>
          <a:solidFill>
            <a:srgbClr val="0C6D67"/>
          </a:solidFill>
          <a:ln/>
        </p:spPr>
        <p:txBody>
          <a:bodyPr/>
          <a:lstStyle/>
          <a:p>
            <a:endParaRPr lang="en-US"/>
          </a:p>
        </p:txBody>
      </p:sp>
      <p:sp>
        <p:nvSpPr>
          <p:cNvPr id="18" name="Text 16"/>
          <p:cNvSpPr/>
          <p:nvPr/>
        </p:nvSpPr>
        <p:spPr>
          <a:xfrm>
            <a:off x="3568700" y="1879600"/>
            <a:ext cx="112395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FEDE7"/>
                </a:solidFill>
                <a:latin typeface="JetBrains Mono" pitchFamily="49" charset="0"/>
                <a:ea typeface="JetBrains Mono" pitchFamily="49" charset="-122"/>
                <a:cs typeface="JetBrains Mono" pitchFamily="49" charset="-120"/>
              </a:rPr>
              <a:t>Week 7</a:t>
            </a:r>
            <a:endParaRPr lang="en-US" sz="1200" dirty="0"/>
          </a:p>
        </p:txBody>
      </p:sp>
      <p:sp>
        <p:nvSpPr>
          <p:cNvPr id="19" name="Text 17"/>
          <p:cNvSpPr/>
          <p:nvPr/>
        </p:nvSpPr>
        <p:spPr>
          <a:xfrm>
            <a:off x="3568700" y="2105664"/>
            <a:ext cx="1123950"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F5F7F4"/>
                </a:solidFill>
                <a:latin typeface="Space Grotesk" pitchFamily="34" charset="0"/>
                <a:ea typeface="Space Grotesk" pitchFamily="34" charset="-122"/>
                <a:cs typeface="Space Grotesk" pitchFamily="34" charset="-120"/>
              </a:rPr>
              <a:t>Build</a:t>
            </a:r>
            <a:endParaRPr lang="en-US" sz="1500" dirty="0"/>
          </a:p>
        </p:txBody>
      </p:sp>
      <p:sp>
        <p:nvSpPr>
          <p:cNvPr id="20" name="Text 18"/>
          <p:cNvSpPr/>
          <p:nvPr/>
        </p:nvSpPr>
        <p:spPr>
          <a:xfrm>
            <a:off x="3568700" y="2366014"/>
            <a:ext cx="11239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9EFEA"/>
                </a:solidFill>
                <a:latin typeface="IBM Plex Sans" pitchFamily="34" charset="0"/>
                <a:ea typeface="IBM Plex Sans" pitchFamily="34" charset="-122"/>
                <a:cs typeface="IBM Plex Sans" pitchFamily="34" charset="-120"/>
              </a:rPr>
              <a:t>Nov 2</a:t>
            </a:r>
            <a:endParaRPr lang="en-US" sz="1200" dirty="0"/>
          </a:p>
        </p:txBody>
      </p:sp>
      <p:sp>
        <p:nvSpPr>
          <p:cNvPr id="21" name="Text 19"/>
          <p:cNvSpPr/>
          <p:nvPr/>
        </p:nvSpPr>
        <p:spPr>
          <a:xfrm>
            <a:off x="3517900" y="2757171"/>
            <a:ext cx="122555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158"/>
                </a:solidFill>
                <a:latin typeface="IBM Plex Sans" pitchFamily="34" charset="0"/>
                <a:ea typeface="IBM Plex Sans" pitchFamily="34" charset="-122"/>
                <a:cs typeface="IBM Plex Sans" pitchFamily="34" charset="-120"/>
              </a:rPr>
              <a:t>Obstacle stop working</a:t>
            </a:r>
            <a:endParaRPr lang="en-US" sz="1200" dirty="0"/>
          </a:p>
        </p:txBody>
      </p:sp>
      <p:sp>
        <p:nvSpPr>
          <p:cNvPr id="22" name="Text 20"/>
          <p:cNvSpPr/>
          <p:nvPr/>
        </p:nvSpPr>
        <p:spPr>
          <a:xfrm>
            <a:off x="3517900" y="3247392"/>
            <a:ext cx="122555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158"/>
                </a:solidFill>
                <a:latin typeface="IBM Plex Sans" pitchFamily="34" charset="0"/>
                <a:ea typeface="IBM Plex Sans" pitchFamily="34" charset="-122"/>
                <a:cs typeface="IBM Plex Sans" pitchFamily="34" charset="-120"/>
              </a:rPr>
              <a:t>YOLOv8 and ArUco on the Pi</a:t>
            </a:r>
            <a:endParaRPr lang="en-US" sz="1200" dirty="0"/>
          </a:p>
        </p:txBody>
      </p:sp>
      <p:sp>
        <p:nvSpPr>
          <p:cNvPr id="23" name="Shape 21"/>
          <p:cNvSpPr/>
          <p:nvPr/>
        </p:nvSpPr>
        <p:spPr>
          <a:xfrm>
            <a:off x="4794250" y="1778000"/>
            <a:ext cx="1276350" cy="902970"/>
          </a:xfrm>
          <a:prstGeom prst="roundRect">
            <a:avLst>
              <a:gd name="adj" fmla="val 9845"/>
            </a:avLst>
          </a:prstGeom>
          <a:solidFill>
            <a:srgbClr val="0C6D67"/>
          </a:solidFill>
          <a:ln/>
        </p:spPr>
        <p:txBody>
          <a:bodyPr/>
          <a:lstStyle/>
          <a:p>
            <a:endParaRPr lang="en-US"/>
          </a:p>
        </p:txBody>
      </p:sp>
      <p:sp>
        <p:nvSpPr>
          <p:cNvPr id="24" name="Text 22"/>
          <p:cNvSpPr/>
          <p:nvPr/>
        </p:nvSpPr>
        <p:spPr>
          <a:xfrm>
            <a:off x="4895850" y="1879600"/>
            <a:ext cx="112395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FEDE7"/>
                </a:solidFill>
                <a:latin typeface="JetBrains Mono" pitchFamily="49" charset="0"/>
                <a:ea typeface="JetBrains Mono" pitchFamily="49" charset="-122"/>
                <a:cs typeface="JetBrains Mono" pitchFamily="49" charset="-120"/>
              </a:rPr>
              <a:t>Week 8</a:t>
            </a:r>
            <a:endParaRPr lang="en-US" sz="1200" dirty="0"/>
          </a:p>
        </p:txBody>
      </p:sp>
      <p:sp>
        <p:nvSpPr>
          <p:cNvPr id="25" name="Text 23"/>
          <p:cNvSpPr/>
          <p:nvPr/>
        </p:nvSpPr>
        <p:spPr>
          <a:xfrm>
            <a:off x="4895850" y="2105664"/>
            <a:ext cx="1123950"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F5F7F4"/>
                </a:solidFill>
                <a:latin typeface="Space Grotesk" pitchFamily="34" charset="0"/>
                <a:ea typeface="Space Grotesk" pitchFamily="34" charset="-122"/>
                <a:cs typeface="Space Grotesk" pitchFamily="34" charset="-120"/>
              </a:rPr>
              <a:t>Build</a:t>
            </a:r>
            <a:endParaRPr lang="en-US" sz="1500" dirty="0"/>
          </a:p>
        </p:txBody>
      </p:sp>
      <p:sp>
        <p:nvSpPr>
          <p:cNvPr id="26" name="Text 24"/>
          <p:cNvSpPr/>
          <p:nvPr/>
        </p:nvSpPr>
        <p:spPr>
          <a:xfrm>
            <a:off x="4895850" y="2366014"/>
            <a:ext cx="11239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9EFEA"/>
                </a:solidFill>
                <a:latin typeface="IBM Plex Sans" pitchFamily="34" charset="0"/>
                <a:ea typeface="IBM Plex Sans" pitchFamily="34" charset="-122"/>
                <a:cs typeface="IBM Plex Sans" pitchFamily="34" charset="-120"/>
              </a:rPr>
              <a:t>Nov 9</a:t>
            </a:r>
            <a:endParaRPr lang="en-US" sz="1200" dirty="0"/>
          </a:p>
        </p:txBody>
      </p:sp>
      <p:sp>
        <p:nvSpPr>
          <p:cNvPr id="27" name="Text 25"/>
          <p:cNvSpPr/>
          <p:nvPr/>
        </p:nvSpPr>
        <p:spPr>
          <a:xfrm>
            <a:off x="4845050" y="2757171"/>
            <a:ext cx="122555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158"/>
                </a:solidFill>
                <a:latin typeface="IBM Plex Sans" pitchFamily="34" charset="0"/>
                <a:ea typeface="IBM Plex Sans" pitchFamily="34" charset="-122"/>
                <a:cs typeface="IBM Plex Sans" pitchFamily="34" charset="-120"/>
              </a:rPr>
              <a:t>Drawers and locks</a:t>
            </a:r>
            <a:endParaRPr lang="en-US" sz="1200" dirty="0"/>
          </a:p>
        </p:txBody>
      </p:sp>
      <p:sp>
        <p:nvSpPr>
          <p:cNvPr id="28" name="Text 26"/>
          <p:cNvSpPr/>
          <p:nvPr/>
        </p:nvSpPr>
        <p:spPr>
          <a:xfrm>
            <a:off x="4845050" y="3247392"/>
            <a:ext cx="122555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158"/>
                </a:solidFill>
                <a:latin typeface="IBM Plex Sans" pitchFamily="34" charset="0"/>
                <a:ea typeface="IBM Plex Sans" pitchFamily="34" charset="-122"/>
                <a:cs typeface="IBM Plex Sans" pitchFamily="34" charset="-120"/>
              </a:rPr>
              <a:t>Decision engine and app</a:t>
            </a:r>
            <a:endParaRPr lang="en-US" sz="1200" dirty="0"/>
          </a:p>
        </p:txBody>
      </p:sp>
      <p:sp>
        <p:nvSpPr>
          <p:cNvPr id="29" name="Shape 27"/>
          <p:cNvSpPr/>
          <p:nvPr/>
        </p:nvSpPr>
        <p:spPr>
          <a:xfrm>
            <a:off x="6121400" y="1778000"/>
            <a:ext cx="1276350" cy="902970"/>
          </a:xfrm>
          <a:prstGeom prst="roundRect">
            <a:avLst>
              <a:gd name="adj" fmla="val 9845"/>
            </a:avLst>
          </a:prstGeom>
          <a:solidFill>
            <a:srgbClr val="3FC1B0"/>
          </a:solidFill>
          <a:ln/>
        </p:spPr>
        <p:txBody>
          <a:bodyPr/>
          <a:lstStyle/>
          <a:p>
            <a:endParaRPr lang="en-US"/>
          </a:p>
        </p:txBody>
      </p:sp>
      <p:sp>
        <p:nvSpPr>
          <p:cNvPr id="30" name="Text 28"/>
          <p:cNvSpPr/>
          <p:nvPr/>
        </p:nvSpPr>
        <p:spPr>
          <a:xfrm>
            <a:off x="6223000" y="1879600"/>
            <a:ext cx="112395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E2A33"/>
                </a:solidFill>
                <a:latin typeface="JetBrains Mono" pitchFamily="49" charset="0"/>
                <a:ea typeface="JetBrains Mono" pitchFamily="49" charset="-122"/>
                <a:cs typeface="JetBrains Mono" pitchFamily="49" charset="-120"/>
              </a:rPr>
              <a:t>Week 9</a:t>
            </a:r>
            <a:endParaRPr lang="en-US" sz="1200" dirty="0"/>
          </a:p>
        </p:txBody>
      </p:sp>
      <p:sp>
        <p:nvSpPr>
          <p:cNvPr id="31" name="Text 29"/>
          <p:cNvSpPr/>
          <p:nvPr/>
        </p:nvSpPr>
        <p:spPr>
          <a:xfrm>
            <a:off x="6223000" y="2105664"/>
            <a:ext cx="1123950"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0E2A33"/>
                </a:solidFill>
                <a:latin typeface="Space Grotesk" pitchFamily="34" charset="0"/>
                <a:ea typeface="Space Grotesk" pitchFamily="34" charset="-122"/>
                <a:cs typeface="Space Grotesk" pitchFamily="34" charset="-120"/>
              </a:rPr>
              <a:t>Integrate</a:t>
            </a:r>
            <a:endParaRPr lang="en-US" sz="1500" dirty="0"/>
          </a:p>
        </p:txBody>
      </p:sp>
      <p:sp>
        <p:nvSpPr>
          <p:cNvPr id="32" name="Text 30"/>
          <p:cNvSpPr/>
          <p:nvPr/>
        </p:nvSpPr>
        <p:spPr>
          <a:xfrm>
            <a:off x="6223000" y="2366014"/>
            <a:ext cx="11239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2A33"/>
                </a:solidFill>
                <a:latin typeface="IBM Plex Sans" pitchFamily="34" charset="0"/>
                <a:ea typeface="IBM Plex Sans" pitchFamily="34" charset="-122"/>
                <a:cs typeface="IBM Plex Sans" pitchFamily="34" charset="-120"/>
              </a:rPr>
              <a:t>Nov 16</a:t>
            </a:r>
            <a:endParaRPr lang="en-US" sz="1200" dirty="0"/>
          </a:p>
        </p:txBody>
      </p:sp>
      <p:sp>
        <p:nvSpPr>
          <p:cNvPr id="33" name="Text 31"/>
          <p:cNvSpPr/>
          <p:nvPr/>
        </p:nvSpPr>
        <p:spPr>
          <a:xfrm>
            <a:off x="6172200" y="2757171"/>
            <a:ext cx="122555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158"/>
                </a:solidFill>
                <a:latin typeface="IBM Plex Sans" pitchFamily="34" charset="0"/>
                <a:ea typeface="IBM Plex Sans" pitchFamily="34" charset="-122"/>
                <a:cs typeface="IBM Plex Sans" pitchFamily="34" charset="-120"/>
              </a:rPr>
              <a:t>All parts linked over ROS 2</a:t>
            </a:r>
            <a:endParaRPr lang="en-US" sz="1200" dirty="0"/>
          </a:p>
        </p:txBody>
      </p:sp>
      <p:sp>
        <p:nvSpPr>
          <p:cNvPr id="34" name="Text 32"/>
          <p:cNvSpPr/>
          <p:nvPr/>
        </p:nvSpPr>
        <p:spPr>
          <a:xfrm>
            <a:off x="6172200" y="3247392"/>
            <a:ext cx="122555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158"/>
                </a:solidFill>
                <a:latin typeface="IBM Plex Sans" pitchFamily="34" charset="0"/>
                <a:ea typeface="IBM Plex Sans" pitchFamily="34" charset="-122"/>
                <a:cs typeface="IBM Plex Sans" pitchFamily="34" charset="-120"/>
              </a:rPr>
              <a:t>App connected to the robot</a:t>
            </a:r>
            <a:endParaRPr lang="en-US" sz="1200" dirty="0"/>
          </a:p>
        </p:txBody>
      </p:sp>
      <p:sp>
        <p:nvSpPr>
          <p:cNvPr id="35" name="Shape 33"/>
          <p:cNvSpPr/>
          <p:nvPr/>
        </p:nvSpPr>
        <p:spPr>
          <a:xfrm>
            <a:off x="7448550" y="1778000"/>
            <a:ext cx="1276350" cy="902970"/>
          </a:xfrm>
          <a:prstGeom prst="roundRect">
            <a:avLst>
              <a:gd name="adj" fmla="val 9845"/>
            </a:avLst>
          </a:prstGeom>
          <a:solidFill>
            <a:srgbClr val="3FC1B0"/>
          </a:solidFill>
          <a:ln/>
        </p:spPr>
        <p:txBody>
          <a:bodyPr/>
          <a:lstStyle/>
          <a:p>
            <a:endParaRPr lang="en-US"/>
          </a:p>
        </p:txBody>
      </p:sp>
      <p:sp>
        <p:nvSpPr>
          <p:cNvPr id="36" name="Text 34"/>
          <p:cNvSpPr/>
          <p:nvPr/>
        </p:nvSpPr>
        <p:spPr>
          <a:xfrm>
            <a:off x="7550150" y="1879600"/>
            <a:ext cx="112395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E2A33"/>
                </a:solidFill>
                <a:latin typeface="JetBrains Mono" pitchFamily="49" charset="0"/>
                <a:ea typeface="JetBrains Mono" pitchFamily="49" charset="-122"/>
                <a:cs typeface="JetBrains Mono" pitchFamily="49" charset="-120"/>
              </a:rPr>
              <a:t>Week 10</a:t>
            </a:r>
            <a:endParaRPr lang="en-US" sz="1200" dirty="0"/>
          </a:p>
        </p:txBody>
      </p:sp>
      <p:sp>
        <p:nvSpPr>
          <p:cNvPr id="37" name="Text 35"/>
          <p:cNvSpPr/>
          <p:nvPr/>
        </p:nvSpPr>
        <p:spPr>
          <a:xfrm>
            <a:off x="7550150" y="2105664"/>
            <a:ext cx="1123950"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0E2A33"/>
                </a:solidFill>
                <a:latin typeface="Space Grotesk" pitchFamily="34" charset="0"/>
                <a:ea typeface="Space Grotesk" pitchFamily="34" charset="-122"/>
                <a:cs typeface="Space Grotesk" pitchFamily="34" charset="-120"/>
              </a:rPr>
              <a:t>Integrate</a:t>
            </a:r>
            <a:endParaRPr lang="en-US" sz="1500" dirty="0"/>
          </a:p>
        </p:txBody>
      </p:sp>
      <p:sp>
        <p:nvSpPr>
          <p:cNvPr id="38" name="Text 36"/>
          <p:cNvSpPr/>
          <p:nvPr/>
        </p:nvSpPr>
        <p:spPr>
          <a:xfrm>
            <a:off x="7550150" y="2366014"/>
            <a:ext cx="11239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2A33"/>
                </a:solidFill>
                <a:latin typeface="IBM Plex Sans" pitchFamily="34" charset="0"/>
                <a:ea typeface="IBM Plex Sans" pitchFamily="34" charset="-122"/>
                <a:cs typeface="IBM Plex Sans" pitchFamily="34" charset="-120"/>
              </a:rPr>
              <a:t>Nov 23</a:t>
            </a:r>
            <a:endParaRPr lang="en-US" sz="1200" dirty="0"/>
          </a:p>
        </p:txBody>
      </p:sp>
      <p:sp>
        <p:nvSpPr>
          <p:cNvPr id="39" name="Text 37"/>
          <p:cNvSpPr/>
          <p:nvPr/>
        </p:nvSpPr>
        <p:spPr>
          <a:xfrm>
            <a:off x="7499350" y="2757171"/>
            <a:ext cx="1174750" cy="716280"/>
          </a:xfrm>
          <a:custGeom>
            <a:avLst/>
            <a:gdLst/>
            <a:ahLst/>
            <a:cxnLst/>
            <a:rect l="l" t="t" r="r" b="b"/>
            <a:pathLst>
              <a:path w="1174750" h="716280">
                <a:moveTo>
                  <a:pt x="63500" y="0"/>
                </a:moveTo>
                <a:lnTo>
                  <a:pt x="1111250" y="0"/>
                </a:lnTo>
                <a:arcTo wR="63500" hR="63500" stAng="16200000" swAng="5400000"/>
                <a:lnTo>
                  <a:pt x="1174750" y="652780"/>
                </a:lnTo>
                <a:arcTo wR="63500" hR="63500" stAng="0" swAng="5400000"/>
                <a:lnTo>
                  <a:pt x="63500" y="716280"/>
                </a:lnTo>
                <a:arcTo wR="63500" hR="63500" stAng="5400000" swAng="5400000"/>
                <a:lnTo>
                  <a:pt x="0" y="63500"/>
                </a:lnTo>
                <a:arcTo wR="63500" hR="63500" stAng="10800000" swAng="5400000"/>
                <a:close/>
              </a:path>
            </a:pathLst>
          </a:custGeom>
          <a:solidFill>
            <a:srgbClr val="FBE3CF"/>
          </a:solidFill>
          <a:ln/>
        </p:spPr>
        <p:txBody>
          <a:bodyPr wrap="square" lIns="63500" tIns="38100" rIns="12700" bIns="12700" rtlCol="0" anchor="t">
            <a:normAutofit/>
          </a:bodyPr>
          <a:lstStyle/>
          <a:p>
            <a:pPr marL="0" indent="0" algn="l">
              <a:lnSpc>
                <a:spcPts val="1680"/>
              </a:lnSpc>
              <a:buNone/>
            </a:pPr>
            <a:r>
              <a:rPr lang="en-US" sz="1200" b="1" dirty="0">
                <a:solidFill>
                  <a:srgbClr val="0E2A33"/>
                </a:solidFill>
                <a:latin typeface="IBM Plex Sans" pitchFamily="34" charset="0"/>
                <a:ea typeface="IBM Plex Sans" pitchFamily="34" charset="-122"/>
                <a:cs typeface="IBM Plex Sans" pitchFamily="34" charset="-120"/>
              </a:rPr>
              <a:t>Milestone: full bed visit, no help</a:t>
            </a:r>
            <a:endParaRPr lang="en-US" sz="1200" dirty="0"/>
          </a:p>
        </p:txBody>
      </p:sp>
      <p:sp>
        <p:nvSpPr>
          <p:cNvPr id="40" name="Text 38"/>
          <p:cNvSpPr/>
          <p:nvPr/>
        </p:nvSpPr>
        <p:spPr>
          <a:xfrm>
            <a:off x="7499350" y="3536950"/>
            <a:ext cx="122555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158"/>
                </a:solidFill>
                <a:latin typeface="IBM Plex Sans" pitchFamily="34" charset="0"/>
                <a:ea typeface="IBM Plex Sans" pitchFamily="34" charset="-122"/>
                <a:cs typeface="IBM Plex Sans" pitchFamily="34" charset="-120"/>
              </a:rPr>
              <a:t>Rounds across all beds</a:t>
            </a:r>
            <a:endParaRPr lang="en-US" sz="1200" dirty="0"/>
          </a:p>
        </p:txBody>
      </p:sp>
      <p:sp>
        <p:nvSpPr>
          <p:cNvPr id="41" name="Shape 39"/>
          <p:cNvSpPr/>
          <p:nvPr/>
        </p:nvSpPr>
        <p:spPr>
          <a:xfrm>
            <a:off x="8775700" y="1778000"/>
            <a:ext cx="1276350" cy="902970"/>
          </a:xfrm>
          <a:prstGeom prst="roundRect">
            <a:avLst>
              <a:gd name="adj" fmla="val 9845"/>
            </a:avLst>
          </a:prstGeom>
          <a:solidFill>
            <a:srgbClr val="F0A35E"/>
          </a:solidFill>
          <a:ln/>
        </p:spPr>
        <p:txBody>
          <a:bodyPr/>
          <a:lstStyle/>
          <a:p>
            <a:endParaRPr lang="en-US"/>
          </a:p>
        </p:txBody>
      </p:sp>
      <p:sp>
        <p:nvSpPr>
          <p:cNvPr id="42" name="Text 40"/>
          <p:cNvSpPr/>
          <p:nvPr/>
        </p:nvSpPr>
        <p:spPr>
          <a:xfrm>
            <a:off x="8877300" y="1879600"/>
            <a:ext cx="112395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E2A33"/>
                </a:solidFill>
                <a:latin typeface="JetBrains Mono" pitchFamily="49" charset="0"/>
                <a:ea typeface="JetBrains Mono" pitchFamily="49" charset="-122"/>
                <a:cs typeface="JetBrains Mono" pitchFamily="49" charset="-120"/>
              </a:rPr>
              <a:t>Week 11</a:t>
            </a:r>
            <a:endParaRPr lang="en-US" sz="1200" dirty="0"/>
          </a:p>
        </p:txBody>
      </p:sp>
      <p:sp>
        <p:nvSpPr>
          <p:cNvPr id="43" name="Text 41"/>
          <p:cNvSpPr/>
          <p:nvPr/>
        </p:nvSpPr>
        <p:spPr>
          <a:xfrm>
            <a:off x="8877300" y="2105664"/>
            <a:ext cx="1123950"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0E2A33"/>
                </a:solidFill>
                <a:latin typeface="Space Grotesk" pitchFamily="34" charset="0"/>
                <a:ea typeface="Space Grotesk" pitchFamily="34" charset="-122"/>
                <a:cs typeface="Space Grotesk" pitchFamily="34" charset="-120"/>
              </a:rPr>
              <a:t>Test</a:t>
            </a:r>
            <a:endParaRPr lang="en-US" sz="1500" dirty="0"/>
          </a:p>
        </p:txBody>
      </p:sp>
      <p:sp>
        <p:nvSpPr>
          <p:cNvPr id="44" name="Text 42"/>
          <p:cNvSpPr/>
          <p:nvPr/>
        </p:nvSpPr>
        <p:spPr>
          <a:xfrm>
            <a:off x="8877300" y="2366014"/>
            <a:ext cx="11239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2A33"/>
                </a:solidFill>
                <a:latin typeface="IBM Plex Sans" pitchFamily="34" charset="0"/>
                <a:ea typeface="IBM Plex Sans" pitchFamily="34" charset="-122"/>
                <a:cs typeface="IBM Plex Sans" pitchFamily="34" charset="-120"/>
              </a:rPr>
              <a:t>Nov 30</a:t>
            </a:r>
            <a:endParaRPr lang="en-US" sz="1200" dirty="0"/>
          </a:p>
        </p:txBody>
      </p:sp>
      <p:sp>
        <p:nvSpPr>
          <p:cNvPr id="45" name="Text 43"/>
          <p:cNvSpPr/>
          <p:nvPr/>
        </p:nvSpPr>
        <p:spPr>
          <a:xfrm>
            <a:off x="8826500" y="2757171"/>
            <a:ext cx="122555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158"/>
                </a:solidFill>
                <a:latin typeface="IBM Plex Sans" pitchFamily="34" charset="0"/>
                <a:ea typeface="IBM Plex Sans" pitchFamily="34" charset="-122"/>
                <a:cs typeface="IBM Plex Sans" pitchFamily="34" charset="-120"/>
              </a:rPr>
              <a:t>Vitals accuracy tests</a:t>
            </a:r>
            <a:endParaRPr lang="en-US" sz="1200" dirty="0"/>
          </a:p>
        </p:txBody>
      </p:sp>
      <p:sp>
        <p:nvSpPr>
          <p:cNvPr id="46" name="Text 44"/>
          <p:cNvSpPr/>
          <p:nvPr/>
        </p:nvSpPr>
        <p:spPr>
          <a:xfrm>
            <a:off x="8826500" y="3247392"/>
            <a:ext cx="122555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158"/>
                </a:solidFill>
                <a:latin typeface="IBM Plex Sans" pitchFamily="34" charset="0"/>
                <a:ea typeface="IBM Plex Sans" pitchFamily="34" charset="-122"/>
                <a:cs typeface="IBM Plex Sans" pitchFamily="34" charset="-120"/>
              </a:rPr>
              <a:t>Navigation and safety tests</a:t>
            </a:r>
            <a:endParaRPr lang="en-US" sz="1200" dirty="0"/>
          </a:p>
        </p:txBody>
      </p:sp>
      <p:sp>
        <p:nvSpPr>
          <p:cNvPr id="47" name="Shape 45"/>
          <p:cNvSpPr/>
          <p:nvPr/>
        </p:nvSpPr>
        <p:spPr>
          <a:xfrm>
            <a:off x="10102850" y="1778000"/>
            <a:ext cx="1276350" cy="902970"/>
          </a:xfrm>
          <a:prstGeom prst="roundRect">
            <a:avLst>
              <a:gd name="adj" fmla="val 9845"/>
            </a:avLst>
          </a:prstGeom>
          <a:solidFill>
            <a:srgbClr val="F0A35E"/>
          </a:solidFill>
          <a:ln/>
        </p:spPr>
        <p:txBody>
          <a:bodyPr/>
          <a:lstStyle/>
          <a:p>
            <a:endParaRPr lang="en-US"/>
          </a:p>
        </p:txBody>
      </p:sp>
      <p:sp>
        <p:nvSpPr>
          <p:cNvPr id="48" name="Text 46"/>
          <p:cNvSpPr/>
          <p:nvPr/>
        </p:nvSpPr>
        <p:spPr>
          <a:xfrm>
            <a:off x="10204450" y="1879600"/>
            <a:ext cx="112395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E2A33"/>
                </a:solidFill>
                <a:latin typeface="JetBrains Mono" pitchFamily="49" charset="0"/>
                <a:ea typeface="JetBrains Mono" pitchFamily="49" charset="-122"/>
                <a:cs typeface="JetBrains Mono" pitchFamily="49" charset="-120"/>
              </a:rPr>
              <a:t>Week 12</a:t>
            </a:r>
            <a:endParaRPr lang="en-US" sz="1200" dirty="0"/>
          </a:p>
        </p:txBody>
      </p:sp>
      <p:sp>
        <p:nvSpPr>
          <p:cNvPr id="49" name="Text 47"/>
          <p:cNvSpPr/>
          <p:nvPr/>
        </p:nvSpPr>
        <p:spPr>
          <a:xfrm>
            <a:off x="10204450" y="2105664"/>
            <a:ext cx="1123950"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0E2A33"/>
                </a:solidFill>
                <a:latin typeface="Space Grotesk" pitchFamily="34" charset="0"/>
                <a:ea typeface="Space Grotesk" pitchFamily="34" charset="-122"/>
                <a:cs typeface="Space Grotesk" pitchFamily="34" charset="-120"/>
              </a:rPr>
              <a:t>Demo</a:t>
            </a:r>
            <a:endParaRPr lang="en-US" sz="1500" dirty="0"/>
          </a:p>
        </p:txBody>
      </p:sp>
      <p:sp>
        <p:nvSpPr>
          <p:cNvPr id="50" name="Text 48"/>
          <p:cNvSpPr/>
          <p:nvPr/>
        </p:nvSpPr>
        <p:spPr>
          <a:xfrm>
            <a:off x="10204450" y="2366014"/>
            <a:ext cx="11239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2A33"/>
                </a:solidFill>
                <a:latin typeface="IBM Plex Sans" pitchFamily="34" charset="0"/>
                <a:ea typeface="IBM Plex Sans" pitchFamily="34" charset="-122"/>
                <a:cs typeface="IBM Plex Sans" pitchFamily="34" charset="-120"/>
              </a:rPr>
              <a:t>Dec 7</a:t>
            </a:r>
            <a:endParaRPr lang="en-US" sz="1200" dirty="0"/>
          </a:p>
        </p:txBody>
      </p:sp>
      <p:sp>
        <p:nvSpPr>
          <p:cNvPr id="51" name="Text 49"/>
          <p:cNvSpPr/>
          <p:nvPr/>
        </p:nvSpPr>
        <p:spPr>
          <a:xfrm>
            <a:off x="10153650" y="2757171"/>
            <a:ext cx="12255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158"/>
                </a:solidFill>
                <a:latin typeface="IBM Plex Sans" pitchFamily="34" charset="0"/>
                <a:ea typeface="IBM Plex Sans" pitchFamily="34" charset="-122"/>
                <a:cs typeface="IBM Plex Sans" pitchFamily="34" charset="-120"/>
              </a:rPr>
              <a:t>Final demo</a:t>
            </a:r>
            <a:endParaRPr lang="en-US" sz="1200" dirty="0"/>
          </a:p>
        </p:txBody>
      </p:sp>
      <p:sp>
        <p:nvSpPr>
          <p:cNvPr id="52" name="Text 50"/>
          <p:cNvSpPr/>
          <p:nvPr/>
        </p:nvSpPr>
        <p:spPr>
          <a:xfrm>
            <a:off x="10153650" y="3034029"/>
            <a:ext cx="12255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158"/>
                </a:solidFill>
                <a:latin typeface="IBM Plex Sans" pitchFamily="34" charset="0"/>
                <a:ea typeface="IBM Plex Sans" pitchFamily="34" charset="-122"/>
                <a:cs typeface="IBM Plex Sans" pitchFamily="34" charset="-120"/>
              </a:rPr>
              <a:t>Report</a:t>
            </a:r>
            <a:endParaRPr lang="en-US" sz="1200" dirty="0"/>
          </a:p>
        </p:txBody>
      </p:sp>
      <p:sp>
        <p:nvSpPr>
          <p:cNvPr id="53" name="Shape 51"/>
          <p:cNvSpPr/>
          <p:nvPr/>
        </p:nvSpPr>
        <p:spPr>
          <a:xfrm>
            <a:off x="815975" y="4170046"/>
            <a:ext cx="5205730" cy="1375410"/>
          </a:xfrm>
          <a:prstGeom prst="roundRect">
            <a:avLst>
              <a:gd name="adj" fmla="val 9003"/>
            </a:avLst>
          </a:prstGeom>
          <a:solidFill>
            <a:srgbClr val="FCFDFB"/>
          </a:solidFill>
          <a:ln w="6350">
            <a:solidFill>
              <a:srgbClr val="D3DDDA"/>
            </a:solidFill>
            <a:prstDash val="solid"/>
          </a:ln>
        </p:spPr>
        <p:txBody>
          <a:bodyPr/>
          <a:lstStyle/>
          <a:p>
            <a:endParaRPr lang="en-US"/>
          </a:p>
        </p:txBody>
      </p:sp>
      <p:pic>
        <p:nvPicPr>
          <p:cNvPr id="54" name="Image 0" descr="CheckCircle"/>
          <p:cNvPicPr>
            <a:picLocks noChangeAspect="1"/>
          </p:cNvPicPr>
          <p:nvPr/>
        </p:nvPicPr>
        <p:blipFill>
          <a:blip r:embed="rId3"/>
          <a:srcRect/>
          <a:stretch/>
        </p:blipFill>
        <p:spPr>
          <a:xfrm>
            <a:off x="1021080" y="4349750"/>
            <a:ext cx="254000" cy="254000"/>
          </a:xfrm>
          <a:prstGeom prst="rect">
            <a:avLst/>
          </a:prstGeom>
        </p:spPr>
      </p:pic>
      <p:sp>
        <p:nvSpPr>
          <p:cNvPr id="55" name="Text 52"/>
          <p:cNvSpPr/>
          <p:nvPr/>
        </p:nvSpPr>
        <p:spPr>
          <a:xfrm>
            <a:off x="1376680" y="4352925"/>
            <a:ext cx="4573118"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0E2A33"/>
                </a:solidFill>
                <a:latin typeface="Space Grotesk" pitchFamily="34" charset="0"/>
                <a:ea typeface="Space Grotesk" pitchFamily="34" charset="-122"/>
                <a:cs typeface="Space Grotesk" pitchFamily="34" charset="-120"/>
              </a:rPr>
              <a:t>Testing</a:t>
            </a:r>
            <a:endParaRPr lang="en-US" sz="1500" dirty="0"/>
          </a:p>
        </p:txBody>
      </p:sp>
      <p:sp>
        <p:nvSpPr>
          <p:cNvPr id="56" name="Text 53"/>
          <p:cNvSpPr/>
          <p:nvPr/>
        </p:nvSpPr>
        <p:spPr>
          <a:xfrm>
            <a:off x="1069086" y="4679950"/>
            <a:ext cx="4885284" cy="711200"/>
          </a:xfrm>
          <a:prstGeom prst="rect">
            <a:avLst/>
          </a:prstGeom>
          <a:noFill/>
          <a:ln/>
        </p:spPr>
        <p:txBody>
          <a:bodyPr wrap="square" lIns="0" tIns="0" rIns="0" bIns="0" rtlCol="0" anchor="t">
            <a:normAutofit/>
          </a:bodyPr>
          <a:lstStyle/>
          <a:p>
            <a:pPr marL="155194" indent="-155194" algn="l">
              <a:lnSpc>
                <a:spcPts val="1800"/>
              </a:lnSpc>
              <a:buSzPct val="100000"/>
              <a:buChar char="•"/>
            </a:pPr>
            <a:r>
              <a:rPr lang="en-US" sz="1200" dirty="0">
                <a:solidFill>
                  <a:srgbClr val="3E5158"/>
                </a:solidFill>
                <a:latin typeface="IBM Plex Sans" pitchFamily="34" charset="0"/>
                <a:ea typeface="IBM Plex Sans" pitchFamily="34" charset="-122"/>
                <a:cs typeface="IBM Plex Sans" pitchFamily="34" charset="-120"/>
              </a:rPr>
              <a:t>Vitals vs. commercial devices: ±5 bpm, ±2%, ±0.5 °C</a:t>
            </a:r>
            <a:endParaRPr lang="en-US" sz="1200" dirty="0"/>
          </a:p>
          <a:p>
            <a:pPr marL="155194" indent="-155194" algn="l">
              <a:lnSpc>
                <a:spcPts val="1800"/>
              </a:lnSpc>
              <a:buSzPct val="100000"/>
              <a:buChar char="•"/>
            </a:pPr>
            <a:r>
              <a:rPr lang="en-US" sz="1200" dirty="0">
                <a:solidFill>
                  <a:srgbClr val="3E5158"/>
                </a:solidFill>
                <a:latin typeface="IBM Plex Sans" pitchFamily="34" charset="0"/>
                <a:ea typeface="IBM Plex Sans" pitchFamily="34" charset="-122"/>
                <a:cs typeface="IBM Plex Sans" pitchFamily="34" charset="-120"/>
              </a:rPr>
              <a:t>Reaches the right bed in 19 of 20 runs</a:t>
            </a:r>
            <a:endParaRPr lang="en-US" sz="1200" dirty="0"/>
          </a:p>
          <a:p>
            <a:pPr marL="155194" indent="-155194" algn="l">
              <a:lnSpc>
                <a:spcPts val="1800"/>
              </a:lnSpc>
              <a:buSzPct val="100000"/>
              <a:buChar char="•"/>
            </a:pPr>
            <a:r>
              <a:rPr lang="en-US" sz="1200" dirty="0">
                <a:solidFill>
                  <a:srgbClr val="3E5158"/>
                </a:solidFill>
                <a:latin typeface="IBM Plex Sans" pitchFamily="34" charset="0"/>
                <a:ea typeface="IBM Plex Sans" pitchFamily="34" charset="-122"/>
                <a:cs typeface="IBM Plex Sans" pitchFamily="34" charset="-120"/>
              </a:rPr>
              <a:t>Safety tests must pass every time</a:t>
            </a:r>
            <a:endParaRPr lang="en-US" sz="1200" dirty="0"/>
          </a:p>
        </p:txBody>
      </p:sp>
      <p:sp>
        <p:nvSpPr>
          <p:cNvPr id="57" name="Shape 54"/>
          <p:cNvSpPr/>
          <p:nvPr/>
        </p:nvSpPr>
        <p:spPr>
          <a:xfrm>
            <a:off x="6177280" y="4166871"/>
            <a:ext cx="5201920" cy="1381760"/>
          </a:xfrm>
          <a:prstGeom prst="roundRect">
            <a:avLst>
              <a:gd name="adj" fmla="val 9191"/>
            </a:avLst>
          </a:prstGeom>
          <a:solidFill>
            <a:srgbClr val="0E2A33"/>
          </a:solidFill>
          <a:ln/>
        </p:spPr>
        <p:txBody>
          <a:bodyPr/>
          <a:lstStyle/>
          <a:p>
            <a:endParaRPr lang="en-US"/>
          </a:p>
        </p:txBody>
      </p:sp>
      <p:pic>
        <p:nvPicPr>
          <p:cNvPr id="58" name="Image 1" descr="Star"/>
          <p:cNvPicPr>
            <a:picLocks noChangeAspect="1"/>
          </p:cNvPicPr>
          <p:nvPr/>
        </p:nvPicPr>
        <p:blipFill>
          <a:blip r:embed="rId4"/>
          <a:srcRect/>
          <a:stretch/>
        </p:blipFill>
        <p:spPr>
          <a:xfrm>
            <a:off x="6380480" y="4344671"/>
            <a:ext cx="254000" cy="254000"/>
          </a:xfrm>
          <a:prstGeom prst="rect">
            <a:avLst/>
          </a:prstGeom>
        </p:spPr>
      </p:pic>
      <p:sp>
        <p:nvSpPr>
          <p:cNvPr id="59" name="Text 55"/>
          <p:cNvSpPr/>
          <p:nvPr/>
        </p:nvSpPr>
        <p:spPr>
          <a:xfrm>
            <a:off x="6736080" y="4347846"/>
            <a:ext cx="4573118"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F5F7F4"/>
                </a:solidFill>
                <a:latin typeface="Space Grotesk" pitchFamily="34" charset="0"/>
                <a:ea typeface="Space Grotesk" pitchFamily="34" charset="-122"/>
                <a:cs typeface="Space Grotesk" pitchFamily="34" charset="-120"/>
              </a:rPr>
              <a:t>Product</a:t>
            </a:r>
            <a:endParaRPr lang="en-US" sz="1500" dirty="0"/>
          </a:p>
        </p:txBody>
      </p:sp>
      <p:sp>
        <p:nvSpPr>
          <p:cNvPr id="60" name="Text 56"/>
          <p:cNvSpPr/>
          <p:nvPr/>
        </p:nvSpPr>
        <p:spPr>
          <a:xfrm>
            <a:off x="6428486" y="4674871"/>
            <a:ext cx="4885284" cy="711200"/>
          </a:xfrm>
          <a:prstGeom prst="rect">
            <a:avLst/>
          </a:prstGeom>
          <a:noFill/>
          <a:ln/>
        </p:spPr>
        <p:txBody>
          <a:bodyPr wrap="square" lIns="0" tIns="0" rIns="0" bIns="0" rtlCol="0" anchor="t">
            <a:normAutofit/>
          </a:bodyPr>
          <a:lstStyle/>
          <a:p>
            <a:pPr marL="155194" indent="-155194" algn="l">
              <a:lnSpc>
                <a:spcPts val="1800"/>
              </a:lnSpc>
              <a:buSzPct val="100000"/>
              <a:buChar char="•"/>
            </a:pPr>
            <a:r>
              <a:rPr lang="en-US" sz="1200" dirty="0">
                <a:solidFill>
                  <a:srgbClr val="BFD6D2"/>
                </a:solidFill>
                <a:latin typeface="IBM Plex Sans" pitchFamily="34" charset="0"/>
                <a:ea typeface="IBM Plex Sans" pitchFamily="34" charset="-122"/>
                <a:cs typeface="IBM Plex Sans" pitchFamily="34" charset="-120"/>
              </a:rPr>
              <a:t>For isolation wards, quarantine sites and care homes</a:t>
            </a:r>
            <a:endParaRPr lang="en-US" sz="1200" dirty="0"/>
          </a:p>
          <a:p>
            <a:pPr marL="155194" indent="-155194" algn="l">
              <a:lnSpc>
                <a:spcPts val="1800"/>
              </a:lnSpc>
              <a:buSzPct val="100000"/>
              <a:buChar char="•"/>
            </a:pPr>
            <a:r>
              <a:rPr lang="en-US" sz="1200" dirty="0">
                <a:solidFill>
                  <a:srgbClr val="BFD6D2"/>
                </a:solidFill>
                <a:latin typeface="IBM Plex Sans" pitchFamily="34" charset="0"/>
                <a:ea typeface="IBM Plex Sans" pitchFamily="34" charset="-122"/>
                <a:cs typeface="IBM Plex Sans" pitchFamily="34" charset="-120"/>
              </a:rPr>
              <a:t>COVID-era robots like Nepal’s SISTER were driven remotely</a:t>
            </a:r>
            <a:endParaRPr lang="en-US" sz="1200" dirty="0"/>
          </a:p>
          <a:p>
            <a:pPr marL="155194" indent="-155194" algn="l">
              <a:lnSpc>
                <a:spcPts val="1800"/>
              </a:lnSpc>
              <a:buSzPct val="100000"/>
              <a:buChar char="•"/>
            </a:pPr>
            <a:r>
              <a:rPr lang="en-US" sz="1200" dirty="0">
                <a:solidFill>
                  <a:srgbClr val="BFD6D2"/>
                </a:solidFill>
                <a:latin typeface="IBM Plex Sans" pitchFamily="34" charset="0"/>
                <a:ea typeface="IBM Plex Sans" pitchFamily="34" charset="-122"/>
                <a:cs typeface="IBM Plex Sans" pitchFamily="34" charset="-120"/>
              </a:rPr>
              <a:t>IsoCare drives itself, measures and decides safely</a:t>
            </a:r>
            <a:endParaRPr lang="en-US" sz="1200" dirty="0"/>
          </a:p>
        </p:txBody>
      </p:sp>
      <p:sp>
        <p:nvSpPr>
          <p:cNvPr id="61" name="Text 57"/>
          <p:cNvSpPr/>
          <p:nvPr/>
        </p:nvSpPr>
        <p:spPr>
          <a:xfrm>
            <a:off x="812800" y="6238242"/>
            <a:ext cx="681523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76C"/>
                </a:solidFill>
                <a:latin typeface="IBM Plex Sans" pitchFamily="34" charset="0"/>
                <a:ea typeface="IBM Plex Sans" pitchFamily="34" charset="-122"/>
                <a:cs typeface="IBM Plex Sans" pitchFamily="34" charset="-120"/>
              </a:rPr>
              <a:t>Dates are each week’s Monday · SISTER: UNDP Nepal, “Robots for Recovery,” 2020</a:t>
            </a:r>
            <a:endParaRPr lang="en-US" sz="1200" dirty="0"/>
          </a:p>
        </p:txBody>
      </p:sp>
      <p:sp>
        <p:nvSpPr>
          <p:cNvPr id="62" name="Text 58"/>
          <p:cNvSpPr/>
          <p:nvPr/>
        </p:nvSpPr>
        <p:spPr>
          <a:xfrm>
            <a:off x="11196320" y="6238242"/>
            <a:ext cx="233680" cy="23876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55676C"/>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2A33"/>
        </a:solidFill>
        <a:effectLst/>
      </p:bgPr>
    </p:bg>
    <p:spTree>
      <p:nvGrpSpPr>
        <p:cNvPr id="1" name=""/>
        <p:cNvGrpSpPr/>
        <p:nvPr/>
      </p:nvGrpSpPr>
      <p:grpSpPr>
        <a:xfrm>
          <a:off x="0" y="0"/>
          <a:ext cx="0" cy="0"/>
          <a:chOff x="0" y="0"/>
          <a:chExt cx="0" cy="0"/>
        </a:xfrm>
      </p:grpSpPr>
      <p:sp>
        <p:nvSpPr>
          <p:cNvPr id="2" name="Text 0"/>
          <p:cNvSpPr/>
          <p:nvPr/>
        </p:nvSpPr>
        <p:spPr>
          <a:xfrm>
            <a:off x="812800" y="812800"/>
            <a:ext cx="7063740"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3FC1B0"/>
                </a:solidFill>
                <a:latin typeface="JetBrains Mono" pitchFamily="49" charset="0"/>
                <a:ea typeface="JetBrains Mono" pitchFamily="49" charset="-122"/>
                <a:cs typeface="JetBrains Mono" pitchFamily="49" charset="-120"/>
              </a:rPr>
              <a:t>ISOCARE</a:t>
            </a:r>
            <a:endParaRPr lang="en-US" sz="1200" dirty="0"/>
          </a:p>
        </p:txBody>
      </p:sp>
      <p:sp>
        <p:nvSpPr>
          <p:cNvPr id="3" name="Text 1"/>
          <p:cNvSpPr>
            <a:spLocks noGrp="1"/>
          </p:cNvSpPr>
          <p:nvPr>
            <p:ph type="title"/>
          </p:nvPr>
        </p:nvSpPr>
        <p:spPr>
          <a:xfrm>
            <a:off x="812800" y="2352675"/>
            <a:ext cx="7063740" cy="772160"/>
          </a:xfrm>
          <a:prstGeom prst="rect">
            <a:avLst/>
          </a:prstGeom>
          <a:noFill/>
          <a:ln/>
        </p:spPr>
        <p:txBody>
          <a:bodyPr wrap="square" lIns="0" tIns="0" rIns="0" bIns="0" rtlCol="0" anchor="t">
            <a:normAutofit/>
          </a:bodyPr>
          <a:lstStyle/>
          <a:p>
            <a:pPr marL="0" indent="0" algn="l">
              <a:lnSpc>
                <a:spcPts val="5880"/>
              </a:lnSpc>
              <a:buNone/>
            </a:pPr>
            <a:r>
              <a:rPr lang="en-US" sz="5600" b="1" i="0" dirty="0">
                <a:solidFill>
                  <a:srgbClr val="F5F7F4"/>
                </a:solidFill>
                <a:latin typeface="Space Grotesk" pitchFamily="34" charset="0"/>
                <a:ea typeface="Space Grotesk" pitchFamily="34" charset="-122"/>
                <a:cs typeface="Space Grotesk" pitchFamily="34" charset="-120"/>
              </a:rPr>
              <a:t>Thank you</a:t>
            </a:r>
            <a:endParaRPr lang="en-US" sz="5600" dirty="0"/>
          </a:p>
        </p:txBody>
      </p:sp>
      <p:sp>
        <p:nvSpPr>
          <p:cNvPr id="4" name="Text 2"/>
          <p:cNvSpPr/>
          <p:nvPr/>
        </p:nvSpPr>
        <p:spPr>
          <a:xfrm>
            <a:off x="812800" y="3302639"/>
            <a:ext cx="7063740"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3FC1B0"/>
                </a:solidFill>
                <a:latin typeface="Space Grotesk" pitchFamily="34" charset="0"/>
                <a:ea typeface="Space Grotesk" pitchFamily="34" charset="-122"/>
                <a:cs typeface="Space Grotesk" pitchFamily="34" charset="-120"/>
              </a:rPr>
              <a:t>Questions?</a:t>
            </a:r>
            <a:endParaRPr lang="en-US" sz="3200" dirty="0"/>
          </a:p>
        </p:txBody>
      </p:sp>
      <p:sp>
        <p:nvSpPr>
          <p:cNvPr id="5" name="Text 3"/>
          <p:cNvSpPr/>
          <p:nvPr/>
        </p:nvSpPr>
        <p:spPr>
          <a:xfrm>
            <a:off x="812800" y="3952875"/>
            <a:ext cx="7063740"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BFD6D2"/>
                </a:solidFill>
                <a:latin typeface="IBM Plex Sans" pitchFamily="34" charset="0"/>
                <a:ea typeface="IBM Plex Sans" pitchFamily="34" charset="-122"/>
                <a:cs typeface="IBM Plex Sans" pitchFamily="34" charset="-120"/>
              </a:rPr>
              <a:t>IsoCare does the routine rounds, so nurses enter isolation rooms only when they’re really needed.</a:t>
            </a:r>
            <a:endParaRPr lang="en-US" sz="1500" dirty="0"/>
          </a:p>
        </p:txBody>
      </p:sp>
      <p:sp>
        <p:nvSpPr>
          <p:cNvPr id="6" name="Text 4"/>
          <p:cNvSpPr/>
          <p:nvPr/>
        </p:nvSpPr>
        <p:spPr>
          <a:xfrm>
            <a:off x="812800" y="5831842"/>
            <a:ext cx="70637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8B4"/>
                </a:solidFill>
                <a:latin typeface="IBM Plex Sans" pitchFamily="34" charset="0"/>
                <a:ea typeface="IBM Plex Sans" pitchFamily="34" charset="-122"/>
                <a:cs typeface="IBM Plex Sans" pitchFamily="34" charset="-120"/>
              </a:rPr>
              <a:t>Youssef Eslam · Ibrahim Tamer · Youssef Hesham · Belal Tamer </a:t>
            </a:r>
            <a:endParaRPr lang="en-US" sz="1200" dirty="0"/>
          </a:p>
        </p:txBody>
      </p:sp>
      <p:pic>
        <p:nvPicPr>
          <p:cNvPr id="7" name="Image 0" descr="Concept drawing of the IsoCare robot: a wheeled cabinet with three locked drawers, a sensor deck, a touchscreen and a camera mast"/>
          <p:cNvPicPr>
            <a:picLocks noChangeAspect="1"/>
          </p:cNvPicPr>
          <p:nvPr/>
        </p:nvPicPr>
        <p:blipFill>
          <a:blip r:embed="rId3"/>
          <a:srcRect/>
          <a:stretch/>
        </p:blipFill>
        <p:spPr>
          <a:xfrm>
            <a:off x="8077200" y="1336675"/>
            <a:ext cx="3302000" cy="4184650"/>
          </a:xfrm>
          <a:prstGeom prst="rect">
            <a:avLst/>
          </a:prstGeom>
        </p:spPr>
      </p:pic>
    </p:spTree>
  </p:cSld>
  <p:clrMapOvr>
    <a:masterClrMapping/>
  </p:clrMapOvr>
</p:sld>
</file>

<file path=ppt/theme/theme1.xml><?xml version="1.0" encoding="utf-8"?>
<a:theme xmlns:a="http://schemas.openxmlformats.org/drawingml/2006/main" name="IsoCare Robot">
  <a:themeElements>
    <a:clrScheme name="IsoCare Robot">
      <a:dk1>
        <a:srgbClr val="0E2A33"/>
      </a:dk1>
      <a:lt1>
        <a:srgbClr val="E7EEEB"/>
      </a:lt1>
      <a:dk2>
        <a:srgbClr val="445B61"/>
      </a:dk2>
      <a:lt2>
        <a:srgbClr val="D1DAD9"/>
      </a:lt2>
      <a:accent1>
        <a:srgbClr val="0C6D67"/>
      </a:accent1>
      <a:accent2>
        <a:srgbClr val="3FC1B0"/>
      </a:accent2>
      <a:accent3>
        <a:srgbClr val="A84E12"/>
      </a:accent3>
      <a:accent4>
        <a:srgbClr val="FBE3CF"/>
      </a:accent4>
      <a:accent5>
        <a:srgbClr val="F0A35E"/>
      </a:accent5>
      <a:accent6>
        <a:srgbClr val="3E5158"/>
      </a:accent6>
      <a:hlink>
        <a:srgbClr val="0563C1"/>
      </a:hlink>
      <a:folHlink>
        <a:srgbClr val="954F72"/>
      </a:folHlink>
    </a:clrScheme>
    <a:fontScheme name="IsoCare Robot">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TotalTime>
  <Words>3368</Words>
  <Application>Microsoft Office PowerPoint</Application>
  <PresentationFormat>Widescreen</PresentationFormat>
  <Paragraphs>332</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IBM Plex Sans</vt:lpstr>
      <vt:lpstr>JetBrains Mono</vt:lpstr>
      <vt:lpstr>Space Grotesk</vt:lpstr>
      <vt:lpstr>IsoCare Robot</vt:lpstr>
      <vt:lpstr>IsoCare</vt:lpstr>
      <vt:lpstr>The problem and our solution</vt:lpstr>
      <vt:lpstr>One round, and who presents what</vt:lpstr>
      <vt:lpstr>Sensors and motors</vt:lpstr>
      <vt:lpstr>ROS 2 ties every part together</vt:lpstr>
      <vt:lpstr>Driving to the bed with markers</vt:lpstr>
      <vt:lpstr>What the robot sees and hears</vt:lpstr>
      <vt:lpstr>Is it safe to give this dose now?</vt:lpstr>
      <vt:lpstr>The doctor’s app</vt:lpstr>
      <vt:lpstr>From the robot to the doctor’s phone</vt:lpstr>
      <vt:lpstr>Plan, testing and product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IsoCare Robot</dc:title>
  <dc:subject/>
  <dc:creator/>
  <cp:lastModifiedBy>Ibrahim Yehia</cp:lastModifiedBy>
  <cp:revision>2</cp:revision>
  <dcterms:created xsi:type="dcterms:W3CDTF">2026-10-18T20:12:25Z</dcterms:created>
  <dcterms:modified xsi:type="dcterms:W3CDTF">2026-10-19T05:54:55Z</dcterms:modified>
</cp:coreProperties>
</file>